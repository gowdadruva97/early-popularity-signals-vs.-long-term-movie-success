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80" r:id="rId2"/>
    <p:sldId id="257" r:id="rId3"/>
    <p:sldId id="258" r:id="rId4"/>
    <p:sldId id="259" r:id="rId5"/>
    <p:sldId id="260" r:id="rId6"/>
    <p:sldId id="261" r:id="rId7"/>
    <p:sldId id="262" r:id="rId8"/>
    <p:sldId id="263" r:id="rId9"/>
    <p:sldId id="264" r:id="rId10"/>
    <p:sldId id="273" r:id="rId11"/>
    <p:sldId id="265" r:id="rId12"/>
    <p:sldId id="266" r:id="rId13"/>
    <p:sldId id="268" r:id="rId14"/>
    <p:sldId id="269" r:id="rId15"/>
    <p:sldId id="270" r:id="rId16"/>
    <p:sldId id="275" r:id="rId17"/>
    <p:sldId id="271" r:id="rId18"/>
    <p:sldId id="281" r:id="rId19"/>
    <p:sldId id="277" r:id="rId20"/>
    <p:sldId id="27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7D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4715"/>
  </p:normalViewPr>
  <p:slideViewPr>
    <p:cSldViewPr snapToGrid="0" snapToObjects="1">
      <p:cViewPr>
        <p:scale>
          <a:sx n="66" d="100"/>
          <a:sy n="66" d="100"/>
        </p:scale>
        <p:origin x="12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734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3414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83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6373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6103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9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8907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6725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1751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3880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421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023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751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8845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3582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5153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0317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371286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1.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7.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s://journals.plos.org/plosone/article?id=10.1371/journal.pone.0071226" TargetMode="External"/><Relationship Id="rId3" Type="http://schemas.microsoft.com/office/2007/relationships/hdphoto" Target="../media/hdphoto1.wdp"/><Relationship Id="rId7" Type="http://schemas.openxmlformats.org/officeDocument/2006/relationships/hyperlink" Target="https://www.researchgate.net/publication/309820851_Predicting_Movie_Success_Based_on_IMDB_Data" TargetMode="External"/><Relationship Id="rId12" Type="http://schemas.openxmlformats.org/officeDocument/2006/relationships/hyperlink" Target="https://www.researchgate.net/publication/344298555_Predicting_the_IMDB_rating_by_using_EDA_and_machine_learning_Algorithms"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www.researchgate.net/publication/377133152_Movie_Success_and_Rating_Prediction_Using_Data_Mining" TargetMode="External"/><Relationship Id="rId11" Type="http://schemas.openxmlformats.org/officeDocument/2006/relationships/hyperlink" Target="https://dl.acm.org/doi/10.1145/3723178.3723278" TargetMode="External"/><Relationship Id="rId5" Type="http://schemas.openxmlformats.org/officeDocument/2006/relationships/hyperlink" Target="https://www.researchgate.net/publication/278733924_Early_Predictions_of_Movie_Success_The_Who_What_and_When_of_Profitability" TargetMode="External"/><Relationship Id="rId10" Type="http://schemas.openxmlformats.org/officeDocument/2006/relationships/hyperlink" Target="https://arxiv.org/abs/2112.00395" TargetMode="External"/><Relationship Id="rId4" Type="http://schemas.openxmlformats.org/officeDocument/2006/relationships/hyperlink" Target="https://pure.coventry.ac.uk/ws/files/11062379/author_revision_copy_Predicting_Movie_Success_with_Machine_Learning_Te....pdf" TargetMode="External"/><Relationship Id="rId9" Type="http://schemas.openxmlformats.org/officeDocument/2006/relationships/hyperlink" Target="https://www.semanticscholar.org/paper/Predicting-Item-Popularity%3A-Analysing-Local-of-Liebig-Rao/f7e091a1c17bbe253cc507d7743f5e2415a8572d"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science/article/abs/pii/S0957417405001399" TargetMode="External"/><Relationship Id="rId2" Type="http://schemas.openxmlformats.org/officeDocument/2006/relationships/hyperlink" Target="https://laccei.org/LACCEI2017-BocaRaton/student_Papers/SP499.pdf" TargetMode="External"/><Relationship Id="rId1" Type="http://schemas.openxmlformats.org/officeDocument/2006/relationships/slideLayout" Target="../slideLayouts/slideLayout7.xml"/><Relationship Id="rId4" Type="http://schemas.openxmlformats.org/officeDocument/2006/relationships/hyperlink" Target="https://www.researchgate.net/publication/262249589_Prediction_of_movies_box_office_performance_using_social_med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89CA3-07FB-CE5D-40B7-2998D4D3946E}"/>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A36A7B1-2433-9563-1411-93CB93AE259D}"/>
              </a:ext>
            </a:extLst>
          </p:cNvPr>
          <p:cNvSpPr txBox="1">
            <a:spLocks/>
          </p:cNvSpPr>
          <p:nvPr/>
        </p:nvSpPr>
        <p:spPr>
          <a:xfrm>
            <a:off x="1173777" y="634106"/>
            <a:ext cx="5641585" cy="1817016"/>
          </a:xfrm>
          <a:prstGeom prst="rect">
            <a:avLst/>
          </a:prstGeom>
        </p:spPr>
        <p:txBody>
          <a:bodyPr>
            <a:no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tx1"/>
                </a:solidFill>
                <a:latin typeface="Times New Roman" panose="02020603050405020304" pitchFamily="18" charset="0"/>
                <a:ea typeface="Barlow Medium" panose="00000800000000000000" pitchFamily="34" charset="-122"/>
                <a:cs typeface="Times New Roman" panose="02020603050405020304" pitchFamily="18" charset="0"/>
                <a:sym typeface="+mn-ea"/>
              </a:rPr>
              <a:t>Early Popularity Signals vs. Long Term Success in Movies</a:t>
            </a:r>
            <a:endParaRPr lang="en-IN" sz="4400" b="1" dirty="0">
              <a:solidFill>
                <a:schemeClr val="tx1"/>
              </a:solidFill>
              <a:latin typeface="Times New Roman" panose="02020603050405020304" pitchFamily="18"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B8B8533C-212C-901D-C33B-8FFC77C4E1C8}"/>
              </a:ext>
            </a:extLst>
          </p:cNvPr>
          <p:cNvCxnSpPr>
            <a:cxnSpLocks/>
          </p:cNvCxnSpPr>
          <p:nvPr/>
        </p:nvCxnSpPr>
        <p:spPr>
          <a:xfrm>
            <a:off x="1178445" y="2859329"/>
            <a:ext cx="673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0C97286-0F66-BD3A-4767-964E47EBD58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35213" y="5114453"/>
            <a:ext cx="1148464" cy="1148464"/>
          </a:xfrm>
          <a:prstGeom prst="rect">
            <a:avLst/>
          </a:prstGeom>
        </p:spPr>
      </p:pic>
      <p:sp>
        <p:nvSpPr>
          <p:cNvPr id="32" name="TextBox 31">
            <a:extLst>
              <a:ext uri="{FF2B5EF4-FFF2-40B4-BE49-F238E27FC236}">
                <a16:creationId xmlns:a16="http://schemas.microsoft.com/office/drawing/2014/main" id="{63259D83-8A08-101E-68F1-6B65D6F0B2DC}"/>
              </a:ext>
            </a:extLst>
          </p:cNvPr>
          <p:cNvSpPr txBox="1"/>
          <p:nvPr/>
        </p:nvSpPr>
        <p:spPr>
          <a:xfrm>
            <a:off x="3331095" y="2947046"/>
            <a:ext cx="4578350" cy="524054"/>
          </a:xfrm>
          <a:prstGeom prst="rect">
            <a:avLst/>
          </a:prstGeom>
          <a:noFill/>
        </p:spPr>
        <p:txBody>
          <a:bodyPr wrap="square">
            <a:spAutoFit/>
          </a:bodyPr>
          <a:lstStyle/>
          <a:p>
            <a:pPr lvl="0">
              <a:lnSpc>
                <a:spcPct val="160714"/>
              </a:lnSpc>
              <a:spcBef>
                <a:spcPts val="0"/>
              </a:spcBef>
              <a:buClr>
                <a:srgbClr val="D7E5D8"/>
              </a:buClr>
              <a:buSzPts val="900"/>
            </a:pPr>
            <a:r>
              <a:rPr lang="en-GB" sz="2000" b="1" cap="none" dirty="0">
                <a:latin typeface="Times New Roman" panose="02020603050405020304" pitchFamily="18" charset="0"/>
                <a:ea typeface="Calibri" panose="020F0502020204030204" pitchFamily="34" charset="0"/>
                <a:cs typeface="Times New Roman" panose="02020603050405020304" pitchFamily="18" charset="0"/>
                <a:sym typeface="Syne"/>
              </a:rPr>
              <a:t>Team Members:</a:t>
            </a:r>
          </a:p>
        </p:txBody>
      </p:sp>
      <p:pic>
        <p:nvPicPr>
          <p:cNvPr id="33" name="Graphic 32" descr="Video camera">
            <a:extLst>
              <a:ext uri="{FF2B5EF4-FFF2-40B4-BE49-F238E27FC236}">
                <a16:creationId xmlns:a16="http://schemas.microsoft.com/office/drawing/2014/main" id="{EB2B0FB8-B9D1-1A6A-E6B0-6A2D24B55C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64927" y="1438785"/>
            <a:ext cx="1351771" cy="1351771"/>
          </a:xfrm>
          <a:prstGeom prst="rect">
            <a:avLst/>
          </a:prstGeom>
        </p:spPr>
      </p:pic>
      <p:sp>
        <p:nvSpPr>
          <p:cNvPr id="2" name="TextBox 1">
            <a:extLst>
              <a:ext uri="{FF2B5EF4-FFF2-40B4-BE49-F238E27FC236}">
                <a16:creationId xmlns:a16="http://schemas.microsoft.com/office/drawing/2014/main" id="{D9C24B1F-604C-5918-4E2F-A410EF10BF4D}"/>
              </a:ext>
            </a:extLst>
          </p:cNvPr>
          <p:cNvSpPr txBox="1"/>
          <p:nvPr/>
        </p:nvSpPr>
        <p:spPr>
          <a:xfrm>
            <a:off x="867277" y="3537006"/>
            <a:ext cx="3183757" cy="830997"/>
          </a:xfrm>
          <a:prstGeom prst="rect">
            <a:avLst/>
          </a:prstGeom>
          <a:noFill/>
        </p:spPr>
        <p:txBody>
          <a:bodyPr wrap="none" rtlCol="0">
            <a:spAutoFit/>
          </a:bodyPr>
          <a:lstStyle/>
          <a:p>
            <a:r>
              <a:rPr lang="en-GB" sz="1600" dirty="0">
                <a:latin typeface="Times New Roman" panose="02020603050405020304" pitchFamily="18" charset="0"/>
                <a:cs typeface="Times New Roman" panose="02020603050405020304" pitchFamily="18" charset="0"/>
              </a:rPr>
              <a:t>Prajwal Tejamurthy (A00050899)</a:t>
            </a:r>
          </a:p>
          <a:p>
            <a:r>
              <a:rPr lang="en-GB" sz="1600" dirty="0">
                <a:latin typeface="Times New Roman" panose="02020603050405020304" pitchFamily="18" charset="0"/>
                <a:cs typeface="Times New Roman" panose="02020603050405020304" pitchFamily="18" charset="0"/>
              </a:rPr>
              <a:t>Msc in Computing (Data Analytics) </a:t>
            </a:r>
          </a:p>
          <a:p>
            <a:r>
              <a:rPr lang="en-GB" sz="1600" dirty="0">
                <a:latin typeface="Times New Roman" panose="02020603050405020304" pitchFamily="18" charset="0"/>
                <a:cs typeface="Times New Roman" panose="02020603050405020304" pitchFamily="18" charset="0"/>
              </a:rPr>
              <a:t>prajwal.tejamurthy2@mail.dcu.ie</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355C142-C258-8759-CCEE-267E7594E710}"/>
              </a:ext>
            </a:extLst>
          </p:cNvPr>
          <p:cNvSpPr txBox="1"/>
          <p:nvPr/>
        </p:nvSpPr>
        <p:spPr>
          <a:xfrm>
            <a:off x="4543945" y="3537006"/>
            <a:ext cx="3748142" cy="830997"/>
          </a:xfrm>
          <a:prstGeom prst="rect">
            <a:avLst/>
          </a:prstGeom>
          <a:noFill/>
        </p:spPr>
        <p:txBody>
          <a:bodyPr wrap="none" rtlCol="0">
            <a:spAutoFit/>
          </a:bodyPr>
          <a:lstStyle/>
          <a:p>
            <a:r>
              <a:rPr lang="en-GB" sz="1600" dirty="0">
                <a:latin typeface="Times New Roman" panose="02020603050405020304" pitchFamily="18" charset="0"/>
                <a:cs typeface="Times New Roman" panose="02020603050405020304" pitchFamily="18" charset="0"/>
              </a:rPr>
              <a:t>Aishwarya Shekar (A00050707)</a:t>
            </a:r>
          </a:p>
          <a:p>
            <a:r>
              <a:rPr lang="en-GB" sz="1600" dirty="0">
                <a:latin typeface="Times New Roman" panose="02020603050405020304" pitchFamily="18" charset="0"/>
                <a:cs typeface="Times New Roman" panose="02020603050405020304" pitchFamily="18" charset="0"/>
              </a:rPr>
              <a:t>Msc in Computing (Artificial Intelligence) </a:t>
            </a:r>
          </a:p>
          <a:p>
            <a:r>
              <a:rPr lang="en-GB" sz="1600" dirty="0">
                <a:latin typeface="Times New Roman" panose="02020603050405020304" pitchFamily="18" charset="0"/>
                <a:cs typeface="Times New Roman" panose="02020603050405020304" pitchFamily="18" charset="0"/>
              </a:rPr>
              <a:t>aishwaryashekar.shekar2@mail.dcu.ie</a:t>
            </a: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0675A61-A422-2CC7-F6B7-B0B1E2B11531}"/>
              </a:ext>
            </a:extLst>
          </p:cNvPr>
          <p:cNvSpPr txBox="1"/>
          <p:nvPr/>
        </p:nvSpPr>
        <p:spPr>
          <a:xfrm>
            <a:off x="867277" y="4556984"/>
            <a:ext cx="3132461" cy="830997"/>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Khushi Natraj Bijkal (A00049400)</a:t>
            </a:r>
          </a:p>
          <a:p>
            <a:r>
              <a:rPr lang="en-IN" sz="1600" dirty="0">
                <a:latin typeface="Times New Roman" panose="02020603050405020304" pitchFamily="18" charset="0"/>
                <a:cs typeface="Times New Roman" panose="02020603050405020304" pitchFamily="18" charset="0"/>
              </a:rPr>
              <a:t>Msc in Computing (Data Analytics)</a:t>
            </a:r>
          </a:p>
          <a:p>
            <a:r>
              <a:rPr lang="en-IN" sz="1600" dirty="0">
                <a:latin typeface="Times New Roman" panose="02020603050405020304" pitchFamily="18" charset="0"/>
                <a:cs typeface="Times New Roman" panose="02020603050405020304" pitchFamily="18" charset="0"/>
              </a:rPr>
              <a:t>khushi.natrajbijkal2@mail.dcu.ie</a:t>
            </a:r>
          </a:p>
        </p:txBody>
      </p:sp>
      <p:sp>
        <p:nvSpPr>
          <p:cNvPr id="5" name="TextBox 4">
            <a:extLst>
              <a:ext uri="{FF2B5EF4-FFF2-40B4-BE49-F238E27FC236}">
                <a16:creationId xmlns:a16="http://schemas.microsoft.com/office/drawing/2014/main" id="{452F0DEF-8639-5AED-E58A-C025431DF8A0}"/>
              </a:ext>
            </a:extLst>
          </p:cNvPr>
          <p:cNvSpPr txBox="1"/>
          <p:nvPr/>
        </p:nvSpPr>
        <p:spPr>
          <a:xfrm>
            <a:off x="4545143" y="4556984"/>
            <a:ext cx="3748142" cy="830997"/>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Ashish Nagendrakumar (A00052416)</a:t>
            </a:r>
          </a:p>
          <a:p>
            <a:r>
              <a:rPr lang="en-IN" sz="1600" dirty="0">
                <a:latin typeface="Times New Roman" panose="02020603050405020304" pitchFamily="18" charset="0"/>
                <a:cs typeface="Times New Roman" panose="02020603050405020304" pitchFamily="18" charset="0"/>
              </a:rPr>
              <a:t>Msc in Computing (Artificial Intelligence) </a:t>
            </a:r>
          </a:p>
          <a:p>
            <a:r>
              <a:rPr lang="en-IN" sz="1600" dirty="0">
                <a:latin typeface="Times New Roman" panose="02020603050405020304" pitchFamily="18" charset="0"/>
                <a:cs typeface="Times New Roman" panose="02020603050405020304" pitchFamily="18" charset="0"/>
              </a:rPr>
              <a:t>ashish.nagendrakumar2@mail.dcu.ie</a:t>
            </a:r>
          </a:p>
        </p:txBody>
      </p:sp>
    </p:spTree>
    <p:extLst>
      <p:ext uri="{BB962C8B-B14F-4D97-AF65-F5344CB8AC3E}">
        <p14:creationId xmlns:p14="http://schemas.microsoft.com/office/powerpoint/2010/main" val="4234127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510756" y="3627054"/>
            <a:ext cx="5829300" cy="685800"/>
          </a:xfrm>
          <a:custGeom>
            <a:avLst/>
            <a:gdLst/>
            <a:ahLst/>
            <a:cxnLst/>
            <a:rect l="0" t="0" r="0" b="0"/>
            <a:pathLst>
              <a:path w="5829300" h="685800">
                <a:moveTo>
                  <a:pt x="2914650" y="0"/>
                </a:moveTo>
                <a:lnTo>
                  <a:pt x="2914650" y="457200"/>
                </a:lnTo>
                <a:moveTo>
                  <a:pt x="2914650" y="457200"/>
                </a:moveTo>
                <a:lnTo>
                  <a:pt x="0" y="457200"/>
                </a:lnTo>
                <a:lnTo>
                  <a:pt x="0" y="685800"/>
                </a:lnTo>
                <a:moveTo>
                  <a:pt x="2914650" y="457200"/>
                </a:moveTo>
                <a:lnTo>
                  <a:pt x="5829300" y="457200"/>
                </a:lnTo>
                <a:lnTo>
                  <a:pt x="5829300" y="685800"/>
                </a:lnTo>
                <a:moveTo>
                  <a:pt x="3886200" y="685800"/>
                </a:moveTo>
                <a:lnTo>
                  <a:pt x="3886200" y="457200"/>
                </a:lnTo>
                <a:moveTo>
                  <a:pt x="1943100" y="457200"/>
                </a:moveTo>
                <a:lnTo>
                  <a:pt x="194310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3625306" y="2026854"/>
            <a:ext cx="1600200" cy="1600200"/>
          </a:xfrm>
          <a:custGeom>
            <a:avLst/>
            <a:gdLst/>
            <a:ahLst/>
            <a:cxnLst/>
            <a:rect l="0" t="0" r="0" b="0"/>
            <a:pathLst>
              <a:path w="1600200" h="1600200">
                <a:moveTo>
                  <a:pt x="1600200" y="800100"/>
                </a:moveTo>
                <a:cubicBezTo>
                  <a:pt x="1600200" y="1241982"/>
                  <a:pt x="1241982" y="1600200"/>
                  <a:pt x="800100" y="1600200"/>
                </a:cubicBezTo>
                <a:cubicBezTo>
                  <a:pt x="358217" y="1600200"/>
                  <a:pt x="0" y="1241982"/>
                  <a:pt x="0" y="800100"/>
                </a:cubicBezTo>
                <a:cubicBezTo>
                  <a:pt x="0" y="358217"/>
                  <a:pt x="358217" y="0"/>
                  <a:pt x="800100" y="0"/>
                </a:cubicBezTo>
                <a:cubicBezTo>
                  <a:pt x="1241982" y="0"/>
                  <a:pt x="1600200" y="358217"/>
                  <a:pt x="1600200" y="800100"/>
                </a:cubicBezTo>
                <a:close/>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 name="Group 5"/>
          <p:cNvGrpSpPr/>
          <p:nvPr/>
        </p:nvGrpSpPr>
        <p:grpSpPr>
          <a:xfrm>
            <a:off x="2596606" y="2484054"/>
            <a:ext cx="3657600" cy="685800"/>
            <a:chOff x="2009775" y="1543050"/>
            <a:chExt cx="3657600" cy="685800"/>
          </a:xfrm>
        </p:grpSpPr>
        <p:sp>
          <p:nvSpPr>
            <p:cNvPr id="4" name="Rounded Rectangle 3"/>
            <p:cNvSpPr/>
            <p:nvPr/>
          </p:nvSpPr>
          <p:spPr>
            <a:xfrm>
              <a:off x="49815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20097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7" name="TextBox 6"/>
          <p:cNvSpPr txBox="1"/>
          <p:nvPr/>
        </p:nvSpPr>
        <p:spPr>
          <a:xfrm>
            <a:off x="512880" y="880758"/>
            <a:ext cx="7825052" cy="738664"/>
          </a:xfrm>
          <a:prstGeom prst="rect">
            <a:avLst/>
          </a:prstGeom>
          <a:noFill/>
          <a:ln>
            <a:noFill/>
          </a:ln>
        </p:spPr>
        <p:txBody>
          <a:bodyPr wrap="square" lIns="0" tIns="0" rIns="0" bIns="0" anchor="t">
            <a:spAutoFit/>
          </a:bodyPr>
          <a:lstStyle/>
          <a:p>
            <a:pPr algn="ctr"/>
            <a:r>
              <a:rPr lang="en-GB" sz="2400" b="1" dirty="0">
                <a:latin typeface="Times New Roman" panose="02020603050405020304" pitchFamily="18" charset="0"/>
                <a:cs typeface="Times New Roman" panose="02020603050405020304" pitchFamily="18" charset="0"/>
              </a:rPr>
              <a:t>Predicting Long-Term Movie Success Using Machine Learning</a:t>
            </a:r>
          </a:p>
        </p:txBody>
      </p:sp>
      <p:sp>
        <p:nvSpPr>
          <p:cNvPr id="8" name="TextBox 7"/>
          <p:cNvSpPr txBox="1"/>
          <p:nvPr/>
        </p:nvSpPr>
        <p:spPr>
          <a:xfrm>
            <a:off x="1169126" y="2503104"/>
            <a:ext cx="1179810" cy="461665"/>
          </a:xfrm>
          <a:prstGeom prst="rect">
            <a:avLst/>
          </a:prstGeom>
          <a:noFill/>
          <a:ln>
            <a:noFill/>
          </a:ln>
        </p:spPr>
        <p:txBody>
          <a:bodyPr wrap="none" lIns="0" tIns="0" rIns="0" bIns="0" anchor="t">
            <a:spAutoFit/>
          </a:bodyPr>
          <a:lstStyle/>
          <a:p>
            <a:pPr algn="r"/>
            <a:r>
              <a:rPr sz="1500" b="1" dirty="0">
                <a:latin typeface="Times New Roman" panose="02020603050405020304" pitchFamily="18" charset="0"/>
                <a:cs typeface="Times New Roman" panose="02020603050405020304" pitchFamily="18" charset="0"/>
              </a:rPr>
              <a:t>Unpredictable
Movie Success</a:t>
            </a:r>
          </a:p>
        </p:txBody>
      </p:sp>
      <p:sp>
        <p:nvSpPr>
          <p:cNvPr id="9" name="Rounded Rectangle 8"/>
          <p:cNvSpPr/>
          <p:nvPr/>
        </p:nvSpPr>
        <p:spPr>
          <a:xfrm>
            <a:off x="2725441" y="2607879"/>
            <a:ext cx="428129" cy="438150"/>
          </a:xfrm>
          <a:custGeom>
            <a:avLst/>
            <a:gdLst/>
            <a:ahLst/>
            <a:cxnLst/>
            <a:rect l="0" t="0" r="0" b="0"/>
            <a:pathLst>
              <a:path w="428129" h="438150">
                <a:moveTo>
                  <a:pt x="0" y="38233"/>
                </a:moveTo>
                <a:lnTo>
                  <a:pt x="0" y="438150"/>
                </a:lnTo>
                <a:lnTo>
                  <a:pt x="418718" y="438150"/>
                </a:lnTo>
                <a:moveTo>
                  <a:pt x="409308" y="259365"/>
                </a:moveTo>
                <a:lnTo>
                  <a:pt x="249345" y="381685"/>
                </a:lnTo>
                <a:lnTo>
                  <a:pt x="108203" y="306419"/>
                </a:lnTo>
                <a:lnTo>
                  <a:pt x="0" y="369531"/>
                </a:lnTo>
                <a:moveTo>
                  <a:pt x="397973" y="327450"/>
                </a:moveTo>
                <a:lnTo>
                  <a:pt x="409308" y="259365"/>
                </a:lnTo>
                <a:lnTo>
                  <a:pt x="344366" y="259365"/>
                </a:lnTo>
                <a:moveTo>
                  <a:pt x="142189" y="119729"/>
                </a:moveTo>
                <a:lnTo>
                  <a:pt x="65455" y="188785"/>
                </a:lnTo>
                <a:lnTo>
                  <a:pt x="1181" y="188785"/>
                </a:lnTo>
                <a:moveTo>
                  <a:pt x="219913" y="104108"/>
                </a:moveTo>
                <a:cubicBezTo>
                  <a:pt x="219913" y="161605"/>
                  <a:pt x="266524" y="208216"/>
                  <a:pt x="324021" y="208216"/>
                </a:cubicBezTo>
                <a:cubicBezTo>
                  <a:pt x="381518" y="208216"/>
                  <a:pt x="428129" y="161605"/>
                  <a:pt x="428129" y="104108"/>
                </a:cubicBezTo>
                <a:cubicBezTo>
                  <a:pt x="428129" y="46610"/>
                  <a:pt x="381518" y="0"/>
                  <a:pt x="324021" y="0"/>
                </a:cubicBezTo>
                <a:cubicBezTo>
                  <a:pt x="266524" y="0"/>
                  <a:pt x="219913" y="46610"/>
                  <a:pt x="219913" y="104108"/>
                </a:cubicBezTo>
                <a:moveTo>
                  <a:pt x="324021" y="119748"/>
                </a:moveTo>
                <a:lnTo>
                  <a:pt x="324021" y="109327"/>
                </a:lnTo>
                <a:cubicBezTo>
                  <a:pt x="341280" y="109338"/>
                  <a:pt x="355278" y="95351"/>
                  <a:pt x="355282" y="78092"/>
                </a:cubicBezTo>
                <a:cubicBezTo>
                  <a:pt x="355285" y="60832"/>
                  <a:pt x="341293" y="46840"/>
                  <a:pt x="324034" y="46843"/>
                </a:cubicBezTo>
                <a:cubicBezTo>
                  <a:pt x="306774" y="46847"/>
                  <a:pt x="292787" y="60845"/>
                  <a:pt x="292798" y="78105"/>
                </a:cubicBezTo>
                <a:moveTo>
                  <a:pt x="318820" y="161372"/>
                </a:moveTo>
                <a:cubicBezTo>
                  <a:pt x="318820" y="158500"/>
                  <a:pt x="321149" y="156171"/>
                  <a:pt x="324021" y="156171"/>
                </a:cubicBezTo>
                <a:cubicBezTo>
                  <a:pt x="326893" y="156171"/>
                  <a:pt x="329222" y="158500"/>
                  <a:pt x="329222" y="161372"/>
                </a:cubicBezTo>
                <a:cubicBezTo>
                  <a:pt x="329222" y="164244"/>
                  <a:pt x="326893" y="166573"/>
                  <a:pt x="324021" y="166573"/>
                </a:cubicBezTo>
                <a:cubicBezTo>
                  <a:pt x="321149" y="166573"/>
                  <a:pt x="318820" y="164244"/>
                  <a:pt x="318820" y="161372"/>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673929" y="2607879"/>
            <a:ext cx="456451" cy="459852"/>
          </a:xfrm>
          <a:custGeom>
            <a:avLst/>
            <a:gdLst/>
            <a:ahLst/>
            <a:cxnLst/>
            <a:rect l="0" t="0" r="0" b="0"/>
            <a:pathLst>
              <a:path w="456451" h="459852">
                <a:moveTo>
                  <a:pt x="213944" y="242506"/>
                </a:moveTo>
                <a:cubicBezTo>
                  <a:pt x="197948" y="226523"/>
                  <a:pt x="172894" y="224053"/>
                  <a:pt x="154086" y="236606"/>
                </a:cubicBezTo>
                <a:cubicBezTo>
                  <a:pt x="135277" y="249158"/>
                  <a:pt x="127944" y="273242"/>
                  <a:pt x="136565" y="294146"/>
                </a:cubicBezTo>
                <a:cubicBezTo>
                  <a:pt x="145187" y="315051"/>
                  <a:pt x="167366" y="326963"/>
                  <a:pt x="189555" y="322607"/>
                </a:cubicBezTo>
                <a:cubicBezTo>
                  <a:pt x="211744" y="318250"/>
                  <a:pt x="227773" y="298837"/>
                  <a:pt x="227851" y="276225"/>
                </a:cubicBezTo>
                <a:moveTo>
                  <a:pt x="254330" y="202120"/>
                </a:moveTo>
                <a:cubicBezTo>
                  <a:pt x="218994" y="166767"/>
                  <a:pt x="163606" y="161298"/>
                  <a:pt x="122039" y="189057"/>
                </a:cubicBezTo>
                <a:cubicBezTo>
                  <a:pt x="80471" y="216817"/>
                  <a:pt x="64300" y="270073"/>
                  <a:pt x="83415" y="316258"/>
                </a:cubicBezTo>
                <a:cubicBezTo>
                  <a:pt x="102530" y="362443"/>
                  <a:pt x="151608" y="388694"/>
                  <a:pt x="200635" y="378958"/>
                </a:cubicBezTo>
                <a:cubicBezTo>
                  <a:pt x="249662" y="369221"/>
                  <a:pt x="284984" y="326209"/>
                  <a:pt x="285001" y="276225"/>
                </a:cubicBezTo>
                <a:cubicBezTo>
                  <a:pt x="285025" y="263180"/>
                  <a:pt x="282569" y="250251"/>
                  <a:pt x="277762" y="238125"/>
                </a:cubicBezTo>
                <a:moveTo>
                  <a:pt x="320624" y="195453"/>
                </a:moveTo>
                <a:cubicBezTo>
                  <a:pt x="363863" y="269221"/>
                  <a:pt x="342455" y="363884"/>
                  <a:pt x="271681" y="411868"/>
                </a:cubicBezTo>
                <a:cubicBezTo>
                  <a:pt x="200908" y="459852"/>
                  <a:pt x="105045" y="444698"/>
                  <a:pt x="52522" y="377224"/>
                </a:cubicBezTo>
                <a:cubicBezTo>
                  <a:pt x="0" y="309750"/>
                  <a:pt x="8833" y="213099"/>
                  <a:pt x="72717" y="156264"/>
                </a:cubicBezTo>
                <a:cubicBezTo>
                  <a:pt x="136602" y="99430"/>
                  <a:pt x="233623" y="101905"/>
                  <a:pt x="294526" y="161925"/>
                </a:cubicBezTo>
                <a:moveTo>
                  <a:pt x="180226" y="276225"/>
                </a:moveTo>
                <a:lnTo>
                  <a:pt x="399301" y="57150"/>
                </a:lnTo>
                <a:moveTo>
                  <a:pt x="399301" y="57150"/>
                </a:moveTo>
                <a:lnTo>
                  <a:pt x="456451" y="57150"/>
                </a:lnTo>
                <a:cubicBezTo>
                  <a:pt x="456451" y="57150"/>
                  <a:pt x="408826" y="200025"/>
                  <a:pt x="332626" y="123825"/>
                </a:cubicBezTo>
                <a:cubicBezTo>
                  <a:pt x="256426" y="47625"/>
                  <a:pt x="399301" y="0"/>
                  <a:pt x="399301" y="0"/>
                </a:cubicBezTo>
                <a:close/>
                <a:moveTo>
                  <a:pt x="361201" y="95250"/>
                </a:moveTo>
                <a:lnTo>
                  <a:pt x="361201" y="17335"/>
                </a:lnTo>
                <a:moveTo>
                  <a:pt x="18301" y="438150"/>
                </a:moveTo>
                <a:lnTo>
                  <a:pt x="65735" y="390715"/>
                </a:lnTo>
                <a:moveTo>
                  <a:pt x="294716" y="390715"/>
                </a:moveTo>
                <a:lnTo>
                  <a:pt x="342151" y="438150"/>
                </a:lnTo>
                <a:moveTo>
                  <a:pt x="180226" y="271462"/>
                </a:moveTo>
                <a:cubicBezTo>
                  <a:pt x="177596" y="271462"/>
                  <a:pt x="175463" y="273594"/>
                  <a:pt x="175463" y="276225"/>
                </a:cubicBezTo>
                <a:cubicBezTo>
                  <a:pt x="175463" y="278855"/>
                  <a:pt x="177596" y="280987"/>
                  <a:pt x="180226" y="280987"/>
                </a:cubicBezTo>
                <a:cubicBezTo>
                  <a:pt x="182856" y="280987"/>
                  <a:pt x="184988" y="278855"/>
                  <a:pt x="184988" y="276225"/>
                </a:cubicBezTo>
                <a:cubicBezTo>
                  <a:pt x="184988" y="273594"/>
                  <a:pt x="182856" y="271462"/>
                  <a:pt x="180226" y="271462"/>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3760946" y="2617404"/>
            <a:ext cx="1328890" cy="461665"/>
          </a:xfrm>
          <a:prstGeom prst="rect">
            <a:avLst/>
          </a:prstGeom>
          <a:noFill/>
          <a:ln>
            <a:noFill/>
          </a:ln>
        </p:spPr>
        <p:txBody>
          <a:bodyPr wrap="none" lIns="0" tIns="0" rIns="0" bIns="0" anchor="t">
            <a:spAutoFit/>
          </a:bodyPr>
          <a:lstStyle/>
          <a:p>
            <a:pPr algn="ctr"/>
            <a:r>
              <a:rPr sz="1500" b="1" dirty="0">
                <a:latin typeface="Times New Roman" panose="02020603050405020304" pitchFamily="18" charset="0"/>
                <a:cs typeface="Times New Roman" panose="02020603050405020304" pitchFamily="18" charset="0"/>
              </a:rPr>
              <a:t>Machine
Learning Model</a:t>
            </a:r>
          </a:p>
        </p:txBody>
      </p:sp>
      <p:sp>
        <p:nvSpPr>
          <p:cNvPr id="12" name="TextBox 11"/>
          <p:cNvSpPr txBox="1"/>
          <p:nvPr/>
        </p:nvSpPr>
        <p:spPr>
          <a:xfrm>
            <a:off x="6501856" y="2503104"/>
            <a:ext cx="1493742" cy="461665"/>
          </a:xfrm>
          <a:prstGeom prst="rect">
            <a:avLst/>
          </a:prstGeom>
          <a:noFill/>
          <a:ln>
            <a:noFill/>
          </a:ln>
        </p:spPr>
        <p:txBody>
          <a:bodyPr wrap="none" lIns="0" tIns="0" rIns="0" bIns="0" anchor="t">
            <a:spAutoFit/>
          </a:bodyPr>
          <a:lstStyle/>
          <a:p>
            <a:pPr algn="l"/>
            <a:r>
              <a:rPr sz="1500" b="1" dirty="0">
                <a:latin typeface="Times New Roman" panose="02020603050405020304" pitchFamily="18" charset="0"/>
                <a:cs typeface="Times New Roman" panose="02020603050405020304" pitchFamily="18" charset="0"/>
              </a:rPr>
              <a:t>Predictable Movie
Success</a:t>
            </a:r>
          </a:p>
        </p:txBody>
      </p:sp>
      <p:sp>
        <p:nvSpPr>
          <p:cNvPr id="13" name="TextBox 12"/>
          <p:cNvSpPr txBox="1"/>
          <p:nvPr/>
        </p:nvSpPr>
        <p:spPr>
          <a:xfrm>
            <a:off x="1064911" y="3069841"/>
            <a:ext cx="1284006" cy="430887"/>
          </a:xfrm>
          <a:prstGeom prst="rect">
            <a:avLst/>
          </a:prstGeom>
          <a:noFill/>
          <a:ln>
            <a:noFill/>
          </a:ln>
        </p:spPr>
        <p:txBody>
          <a:bodyPr wrap="none" lIns="0" tIns="0" rIns="0" bIns="0" anchor="t">
            <a:spAutoFit/>
          </a:bodyPr>
          <a:lstStyle/>
          <a:p>
            <a:pPr algn="r"/>
            <a:r>
              <a:rPr sz="1400" b="0" dirty="0">
                <a:latin typeface="Times New Roman" panose="02020603050405020304" pitchFamily="18" charset="0"/>
                <a:cs typeface="Times New Roman" panose="02020603050405020304" pitchFamily="18" charset="0"/>
              </a:rPr>
              <a:t>Success is hard to
predict</a:t>
            </a:r>
          </a:p>
        </p:txBody>
      </p:sp>
      <p:sp>
        <p:nvSpPr>
          <p:cNvPr id="14" name="TextBox 13"/>
          <p:cNvSpPr txBox="1"/>
          <p:nvPr/>
        </p:nvSpPr>
        <p:spPr>
          <a:xfrm>
            <a:off x="6501856" y="3069841"/>
            <a:ext cx="1700787"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Data-driven predictions
of movie success</a:t>
            </a:r>
          </a:p>
        </p:txBody>
      </p:sp>
      <p:sp>
        <p:nvSpPr>
          <p:cNvPr id="15" name="TextBox 14"/>
          <p:cNvSpPr txBox="1"/>
          <p:nvPr/>
        </p:nvSpPr>
        <p:spPr>
          <a:xfrm>
            <a:off x="904046" y="4441441"/>
            <a:ext cx="1213474"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Gather movie
production and
engagement data</a:t>
            </a:r>
          </a:p>
        </p:txBody>
      </p:sp>
      <p:sp>
        <p:nvSpPr>
          <p:cNvPr id="16" name="TextBox 15"/>
          <p:cNvSpPr txBox="1"/>
          <p:nvPr/>
        </p:nvSpPr>
        <p:spPr>
          <a:xfrm>
            <a:off x="2600237" y="4441441"/>
            <a:ext cx="1707199"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Create relevant features
from data</a:t>
            </a:r>
          </a:p>
        </p:txBody>
      </p:sp>
      <p:sp>
        <p:nvSpPr>
          <p:cNvPr id="17" name="TextBox 16"/>
          <p:cNvSpPr txBox="1"/>
          <p:nvPr/>
        </p:nvSpPr>
        <p:spPr>
          <a:xfrm>
            <a:off x="4500025" y="4441441"/>
            <a:ext cx="1793889"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Train a machine learning
model</a:t>
            </a:r>
          </a:p>
        </p:txBody>
      </p:sp>
      <p:sp>
        <p:nvSpPr>
          <p:cNvPr id="18" name="TextBox 17"/>
          <p:cNvSpPr txBox="1"/>
          <p:nvPr/>
        </p:nvSpPr>
        <p:spPr>
          <a:xfrm>
            <a:off x="6734158" y="4441441"/>
            <a:ext cx="1211871"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Assess model
performance and
accuracy</a:t>
            </a:r>
          </a:p>
        </p:txBody>
      </p:sp>
      <p:pic>
        <p:nvPicPr>
          <p:cNvPr id="19" name="Picture 18">
            <a:extLst>
              <a:ext uri="{FF2B5EF4-FFF2-40B4-BE49-F238E27FC236}">
                <a16:creationId xmlns:a16="http://schemas.microsoft.com/office/drawing/2014/main" id="{97E32B44-EC0A-09F8-3DE0-1331F6BD3FE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22481" y="5172022"/>
            <a:ext cx="1148464" cy="1148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83170" y="2906518"/>
            <a:ext cx="3675975" cy="788212"/>
          </a:xfrm>
          <a:custGeom>
            <a:avLst/>
            <a:gdLst/>
            <a:ahLst/>
            <a:cxnLst/>
            <a:rect l="0" t="0" r="0" b="0"/>
            <a:pathLst>
              <a:path w="3794224" h="843160">
                <a:moveTo>
                  <a:pt x="843160" y="843160"/>
                </a:moveTo>
                <a:lnTo>
                  <a:pt x="0" y="843160"/>
                </a:lnTo>
                <a:moveTo>
                  <a:pt x="843160" y="843154"/>
                </a:moveTo>
                <a:lnTo>
                  <a:pt x="3372642" y="843154"/>
                </a:lnTo>
                <a:cubicBezTo>
                  <a:pt x="3602538" y="843154"/>
                  <a:pt x="3789455" y="659138"/>
                  <a:pt x="3794133" y="430363"/>
                </a:cubicBezTo>
                <a:lnTo>
                  <a:pt x="3794133" y="421580"/>
                </a:lnTo>
                <a:moveTo>
                  <a:pt x="68" y="843160"/>
                </a:moveTo>
                <a:lnTo>
                  <a:pt x="69" y="421580"/>
                </a:lnTo>
                <a:moveTo>
                  <a:pt x="3794223" y="421580"/>
                </a:moveTo>
                <a:lnTo>
                  <a:pt x="3794224" y="0"/>
                </a:lnTo>
                <a:moveTo>
                  <a:pt x="105395" y="412797"/>
                </a:moveTo>
                <a:cubicBezTo>
                  <a:pt x="110046" y="242233"/>
                  <a:pt x="249773" y="105395"/>
                  <a:pt x="421460" y="105395"/>
                </a:cubicBezTo>
                <a:cubicBezTo>
                  <a:pt x="593147" y="105395"/>
                  <a:pt x="732874" y="242233"/>
                  <a:pt x="737526" y="412797"/>
                </a:cubicBezTo>
                <a:lnTo>
                  <a:pt x="737526" y="430363"/>
                </a:lnTo>
                <a:cubicBezTo>
                  <a:pt x="732875" y="600926"/>
                  <a:pt x="593147" y="737766"/>
                  <a:pt x="421460" y="737766"/>
                </a:cubicBezTo>
                <a:cubicBezTo>
                  <a:pt x="249773" y="737766"/>
                  <a:pt x="110046" y="600927"/>
                  <a:pt x="105395" y="430364"/>
                </a:cubicBezTo>
                <a:lnTo>
                  <a:pt x="105395" y="412797"/>
                </a:lnTo>
                <a:close/>
                <a:moveTo>
                  <a:pt x="3794044" y="17"/>
                </a:moveTo>
                <a:lnTo>
                  <a:pt x="3794044" y="33"/>
                </a:lnTo>
                <a:lnTo>
                  <a:pt x="421490" y="33"/>
                </a:lnTo>
                <a:cubicBezTo>
                  <a:pt x="191593" y="33"/>
                  <a:pt x="4675" y="184053"/>
                  <a:pt x="0" y="412831"/>
                </a:cubicBezTo>
                <a:lnTo>
                  <a:pt x="0" y="421579"/>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883171" y="3960469"/>
            <a:ext cx="3675974" cy="788212"/>
          </a:xfrm>
          <a:custGeom>
            <a:avLst/>
            <a:gdLst/>
            <a:ahLst/>
            <a:cxnLst/>
            <a:rect l="0" t="0" r="0" b="0"/>
            <a:pathLst>
              <a:path w="3794224" h="843160">
                <a:moveTo>
                  <a:pt x="843160" y="843160"/>
                </a:moveTo>
                <a:lnTo>
                  <a:pt x="0" y="843160"/>
                </a:lnTo>
                <a:moveTo>
                  <a:pt x="843160" y="843154"/>
                </a:moveTo>
                <a:lnTo>
                  <a:pt x="3372642" y="843154"/>
                </a:lnTo>
                <a:cubicBezTo>
                  <a:pt x="3602538" y="843154"/>
                  <a:pt x="3789455" y="659138"/>
                  <a:pt x="3794133" y="430363"/>
                </a:cubicBezTo>
                <a:lnTo>
                  <a:pt x="3794133" y="421580"/>
                </a:lnTo>
                <a:moveTo>
                  <a:pt x="68" y="843160"/>
                </a:moveTo>
                <a:lnTo>
                  <a:pt x="69" y="421580"/>
                </a:lnTo>
                <a:moveTo>
                  <a:pt x="3794223" y="421580"/>
                </a:moveTo>
                <a:lnTo>
                  <a:pt x="3794224" y="0"/>
                </a:lnTo>
                <a:moveTo>
                  <a:pt x="105395" y="412797"/>
                </a:moveTo>
                <a:cubicBezTo>
                  <a:pt x="110046" y="242233"/>
                  <a:pt x="249773" y="105395"/>
                  <a:pt x="421460" y="105395"/>
                </a:cubicBezTo>
                <a:cubicBezTo>
                  <a:pt x="593147" y="105395"/>
                  <a:pt x="732874" y="242233"/>
                  <a:pt x="737526" y="412797"/>
                </a:cubicBezTo>
                <a:lnTo>
                  <a:pt x="737526" y="430363"/>
                </a:lnTo>
                <a:cubicBezTo>
                  <a:pt x="732875" y="600926"/>
                  <a:pt x="593147" y="737766"/>
                  <a:pt x="421460" y="737766"/>
                </a:cubicBezTo>
                <a:cubicBezTo>
                  <a:pt x="249773" y="737766"/>
                  <a:pt x="110046" y="600927"/>
                  <a:pt x="105395" y="430364"/>
                </a:cubicBezTo>
                <a:lnTo>
                  <a:pt x="105395" y="412797"/>
                </a:lnTo>
                <a:close/>
                <a:moveTo>
                  <a:pt x="3794044" y="17"/>
                </a:moveTo>
                <a:lnTo>
                  <a:pt x="3794044" y="33"/>
                </a:lnTo>
                <a:lnTo>
                  <a:pt x="421490" y="33"/>
                </a:lnTo>
                <a:cubicBezTo>
                  <a:pt x="191593" y="33"/>
                  <a:pt x="4675" y="184053"/>
                  <a:pt x="0" y="412831"/>
                </a:cubicBezTo>
                <a:lnTo>
                  <a:pt x="0" y="421579"/>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4731092" y="2896025"/>
            <a:ext cx="3463306" cy="788211"/>
          </a:xfrm>
          <a:custGeom>
            <a:avLst/>
            <a:gdLst/>
            <a:ahLst/>
            <a:cxnLst/>
            <a:rect l="0" t="0" r="0" b="0"/>
            <a:pathLst>
              <a:path w="3794224" h="843160">
                <a:moveTo>
                  <a:pt x="843160" y="843160"/>
                </a:moveTo>
                <a:lnTo>
                  <a:pt x="0" y="843160"/>
                </a:lnTo>
                <a:moveTo>
                  <a:pt x="843160" y="843154"/>
                </a:moveTo>
                <a:lnTo>
                  <a:pt x="3372642" y="843154"/>
                </a:lnTo>
                <a:cubicBezTo>
                  <a:pt x="3602538" y="843154"/>
                  <a:pt x="3789455" y="659138"/>
                  <a:pt x="3794133" y="430363"/>
                </a:cubicBezTo>
                <a:lnTo>
                  <a:pt x="3794133" y="421580"/>
                </a:lnTo>
                <a:moveTo>
                  <a:pt x="68" y="843160"/>
                </a:moveTo>
                <a:lnTo>
                  <a:pt x="69" y="421580"/>
                </a:lnTo>
                <a:moveTo>
                  <a:pt x="3794223" y="421580"/>
                </a:moveTo>
                <a:lnTo>
                  <a:pt x="3794224" y="0"/>
                </a:lnTo>
                <a:moveTo>
                  <a:pt x="105395" y="412797"/>
                </a:moveTo>
                <a:cubicBezTo>
                  <a:pt x="110046" y="242233"/>
                  <a:pt x="249773" y="105395"/>
                  <a:pt x="421460" y="105395"/>
                </a:cubicBezTo>
                <a:cubicBezTo>
                  <a:pt x="593147" y="105395"/>
                  <a:pt x="732874" y="242233"/>
                  <a:pt x="737526" y="412797"/>
                </a:cubicBezTo>
                <a:lnTo>
                  <a:pt x="737526" y="430363"/>
                </a:lnTo>
                <a:cubicBezTo>
                  <a:pt x="732875" y="600926"/>
                  <a:pt x="593147" y="737766"/>
                  <a:pt x="421460" y="737766"/>
                </a:cubicBezTo>
                <a:cubicBezTo>
                  <a:pt x="249773" y="737766"/>
                  <a:pt x="110046" y="600927"/>
                  <a:pt x="105395" y="430364"/>
                </a:cubicBezTo>
                <a:lnTo>
                  <a:pt x="105395" y="412797"/>
                </a:lnTo>
                <a:close/>
                <a:moveTo>
                  <a:pt x="3794044" y="17"/>
                </a:moveTo>
                <a:lnTo>
                  <a:pt x="3794044" y="33"/>
                </a:lnTo>
                <a:lnTo>
                  <a:pt x="421490" y="33"/>
                </a:lnTo>
                <a:cubicBezTo>
                  <a:pt x="191593" y="33"/>
                  <a:pt x="4675" y="184053"/>
                  <a:pt x="0" y="412831"/>
                </a:cubicBezTo>
                <a:lnTo>
                  <a:pt x="0" y="421579"/>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4727009" y="3933294"/>
            <a:ext cx="3463306" cy="788212"/>
          </a:xfrm>
          <a:custGeom>
            <a:avLst/>
            <a:gdLst/>
            <a:ahLst/>
            <a:cxnLst/>
            <a:rect l="0" t="0" r="0" b="0"/>
            <a:pathLst>
              <a:path w="3794224" h="843160">
                <a:moveTo>
                  <a:pt x="843160" y="843160"/>
                </a:moveTo>
                <a:lnTo>
                  <a:pt x="0" y="843160"/>
                </a:lnTo>
                <a:moveTo>
                  <a:pt x="843160" y="843154"/>
                </a:moveTo>
                <a:lnTo>
                  <a:pt x="3372642" y="843154"/>
                </a:lnTo>
                <a:cubicBezTo>
                  <a:pt x="3602538" y="843154"/>
                  <a:pt x="3789455" y="659138"/>
                  <a:pt x="3794133" y="430363"/>
                </a:cubicBezTo>
                <a:lnTo>
                  <a:pt x="3794133" y="421580"/>
                </a:lnTo>
                <a:moveTo>
                  <a:pt x="68" y="843160"/>
                </a:moveTo>
                <a:lnTo>
                  <a:pt x="69" y="421580"/>
                </a:lnTo>
                <a:moveTo>
                  <a:pt x="3794223" y="421580"/>
                </a:moveTo>
                <a:lnTo>
                  <a:pt x="3794224" y="0"/>
                </a:lnTo>
                <a:moveTo>
                  <a:pt x="105395" y="412797"/>
                </a:moveTo>
                <a:cubicBezTo>
                  <a:pt x="110046" y="242233"/>
                  <a:pt x="249773" y="105395"/>
                  <a:pt x="421460" y="105395"/>
                </a:cubicBezTo>
                <a:cubicBezTo>
                  <a:pt x="593147" y="105395"/>
                  <a:pt x="732874" y="242233"/>
                  <a:pt x="737526" y="412797"/>
                </a:cubicBezTo>
                <a:lnTo>
                  <a:pt x="737526" y="430363"/>
                </a:lnTo>
                <a:cubicBezTo>
                  <a:pt x="732875" y="600926"/>
                  <a:pt x="593147" y="737766"/>
                  <a:pt x="421460" y="737766"/>
                </a:cubicBezTo>
                <a:cubicBezTo>
                  <a:pt x="249773" y="737766"/>
                  <a:pt x="110046" y="600927"/>
                  <a:pt x="105395" y="430364"/>
                </a:cubicBezTo>
                <a:lnTo>
                  <a:pt x="105395" y="412797"/>
                </a:lnTo>
                <a:close/>
                <a:moveTo>
                  <a:pt x="3794044" y="17"/>
                </a:moveTo>
                <a:lnTo>
                  <a:pt x="3794044" y="33"/>
                </a:lnTo>
                <a:lnTo>
                  <a:pt x="421490" y="33"/>
                </a:lnTo>
                <a:cubicBezTo>
                  <a:pt x="191593" y="33"/>
                  <a:pt x="4675" y="184053"/>
                  <a:pt x="0" y="412831"/>
                </a:cubicBezTo>
                <a:lnTo>
                  <a:pt x="0" y="421579"/>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239909" y="981675"/>
            <a:ext cx="7799100" cy="1046440"/>
          </a:xfrm>
          <a:prstGeom prst="rect">
            <a:avLst/>
          </a:prstGeom>
          <a:noFill/>
          <a:ln>
            <a:noFill/>
          </a:ln>
        </p:spPr>
        <p:txBody>
          <a:bodyPr wrap="square" lIns="0" tIns="0" rIns="0" bIns="0" anchor="t">
            <a:spAutoFit/>
          </a:bodyPr>
          <a:lstStyle/>
          <a:p>
            <a:pPr algn="ctr"/>
            <a:r>
              <a:rPr lang="en-GB" sz="2400" b="1" dirty="0">
                <a:latin typeface="Times New Roman" panose="02020603050405020304" pitchFamily="18" charset="0"/>
                <a:cs typeface="Times New Roman" panose="02020603050405020304" pitchFamily="18" charset="0"/>
              </a:rPr>
              <a:t>Do early audience signals outperform production metadata?</a:t>
            </a:r>
          </a:p>
          <a:p>
            <a:pPr algn="ctr"/>
            <a:endParaRPr sz="20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931655" y="2293854"/>
            <a:ext cx="1170193"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Early Signals</a:t>
            </a:r>
          </a:p>
        </p:txBody>
      </p:sp>
      <p:sp>
        <p:nvSpPr>
          <p:cNvPr id="8" name="TextBox 7"/>
          <p:cNvSpPr txBox="1"/>
          <p:nvPr/>
        </p:nvSpPr>
        <p:spPr>
          <a:xfrm>
            <a:off x="5796666" y="2293854"/>
            <a:ext cx="1450205"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Production Data</a:t>
            </a:r>
          </a:p>
        </p:txBody>
      </p:sp>
      <p:sp>
        <p:nvSpPr>
          <p:cNvPr id="9" name="Rounded Rectangle 8"/>
          <p:cNvSpPr/>
          <p:nvPr/>
        </p:nvSpPr>
        <p:spPr>
          <a:xfrm>
            <a:off x="1093961" y="3100715"/>
            <a:ext cx="395426" cy="378833"/>
          </a:xfrm>
          <a:custGeom>
            <a:avLst/>
            <a:gdLst/>
            <a:ahLst/>
            <a:cxnLst/>
            <a:rect l="0" t="0" r="0" b="0"/>
            <a:pathLst>
              <a:path w="408283" h="408405">
                <a:moveTo>
                  <a:pt x="408283" y="408405"/>
                </a:moveTo>
                <a:lnTo>
                  <a:pt x="13174" y="408405"/>
                </a:lnTo>
                <a:lnTo>
                  <a:pt x="13174" y="13174"/>
                </a:lnTo>
                <a:moveTo>
                  <a:pt x="0" y="0"/>
                </a:moveTo>
                <a:moveTo>
                  <a:pt x="404014" y="169071"/>
                </a:moveTo>
                <a:lnTo>
                  <a:pt x="285578" y="98807"/>
                </a:lnTo>
                <a:lnTo>
                  <a:pt x="131610" y="188832"/>
                </a:lnTo>
                <a:lnTo>
                  <a:pt x="13174" y="107590"/>
                </a:lnTo>
                <a:moveTo>
                  <a:pt x="13174" y="357356"/>
                </a:moveTo>
                <a:lnTo>
                  <a:pt x="158092" y="269384"/>
                </a:lnTo>
                <a:lnTo>
                  <a:pt x="202007" y="301965"/>
                </a:lnTo>
                <a:lnTo>
                  <a:pt x="351316" y="341063"/>
                </a:lnTo>
                <a:lnTo>
                  <a:pt x="404014" y="256352"/>
                </a:lnTo>
                <a:moveTo>
                  <a:pt x="0" y="0"/>
                </a:moveTo>
                <a:moveTo>
                  <a:pt x="13174" y="204202"/>
                </a:moveTo>
                <a:lnTo>
                  <a:pt x="139977" y="63676"/>
                </a:lnTo>
                <a:lnTo>
                  <a:pt x="257450" y="248117"/>
                </a:lnTo>
                <a:lnTo>
                  <a:pt x="404014" y="63676"/>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1605779" y="2977604"/>
            <a:ext cx="2965042"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Outperform production metadata</a:t>
            </a:r>
          </a:p>
        </p:txBody>
      </p:sp>
      <p:sp>
        <p:nvSpPr>
          <p:cNvPr id="11" name="Rounded Rectangle 10"/>
          <p:cNvSpPr/>
          <p:nvPr/>
        </p:nvSpPr>
        <p:spPr>
          <a:xfrm>
            <a:off x="4953997" y="3067992"/>
            <a:ext cx="316185" cy="404014"/>
          </a:xfrm>
          <a:custGeom>
            <a:avLst/>
            <a:gdLst/>
            <a:ahLst/>
            <a:cxnLst/>
            <a:rect l="0" t="0" r="0" b="0"/>
            <a:pathLst>
              <a:path w="316185" h="404014">
                <a:moveTo>
                  <a:pt x="0" y="87829"/>
                </a:moveTo>
                <a:cubicBezTo>
                  <a:pt x="0" y="136335"/>
                  <a:pt x="39322" y="175658"/>
                  <a:pt x="87829" y="175658"/>
                </a:cubicBezTo>
                <a:cubicBezTo>
                  <a:pt x="136335" y="175658"/>
                  <a:pt x="175658" y="136335"/>
                  <a:pt x="175658" y="87829"/>
                </a:cubicBezTo>
                <a:cubicBezTo>
                  <a:pt x="175658" y="39322"/>
                  <a:pt x="136335" y="0"/>
                  <a:pt x="87829" y="0"/>
                </a:cubicBezTo>
                <a:cubicBezTo>
                  <a:pt x="39322" y="0"/>
                  <a:pt x="0" y="39322"/>
                  <a:pt x="0" y="87829"/>
                </a:cubicBezTo>
                <a:moveTo>
                  <a:pt x="210790" y="122960"/>
                </a:moveTo>
                <a:cubicBezTo>
                  <a:pt x="210790" y="152064"/>
                  <a:pt x="234383" y="175658"/>
                  <a:pt x="263487" y="175658"/>
                </a:cubicBezTo>
                <a:cubicBezTo>
                  <a:pt x="292591" y="175658"/>
                  <a:pt x="316185" y="152064"/>
                  <a:pt x="316185" y="122960"/>
                </a:cubicBezTo>
                <a:cubicBezTo>
                  <a:pt x="316185" y="93856"/>
                  <a:pt x="292591" y="70263"/>
                  <a:pt x="263487" y="70263"/>
                </a:cubicBezTo>
                <a:cubicBezTo>
                  <a:pt x="234383" y="70263"/>
                  <a:pt x="210790" y="93856"/>
                  <a:pt x="210790" y="122960"/>
                </a:cubicBezTo>
                <a:moveTo>
                  <a:pt x="79046" y="210790"/>
                </a:moveTo>
                <a:lnTo>
                  <a:pt x="237138" y="210790"/>
                </a:lnTo>
                <a:cubicBezTo>
                  <a:pt x="237138" y="210790"/>
                  <a:pt x="245921" y="210790"/>
                  <a:pt x="245921" y="219573"/>
                </a:cubicBezTo>
                <a:lnTo>
                  <a:pt x="245921" y="324968"/>
                </a:lnTo>
                <a:cubicBezTo>
                  <a:pt x="245921" y="324968"/>
                  <a:pt x="245921" y="333751"/>
                  <a:pt x="237138" y="333751"/>
                </a:cubicBezTo>
                <a:lnTo>
                  <a:pt x="79046" y="333751"/>
                </a:lnTo>
                <a:cubicBezTo>
                  <a:pt x="79046" y="333751"/>
                  <a:pt x="70263" y="333751"/>
                  <a:pt x="70263" y="324968"/>
                </a:cubicBezTo>
                <a:lnTo>
                  <a:pt x="70263" y="219573"/>
                </a:lnTo>
                <a:cubicBezTo>
                  <a:pt x="70263" y="219573"/>
                  <a:pt x="70263" y="210790"/>
                  <a:pt x="79046" y="210790"/>
                </a:cubicBezTo>
                <a:moveTo>
                  <a:pt x="298619" y="295211"/>
                </a:moveTo>
                <a:cubicBezTo>
                  <a:pt x="298622" y="298036"/>
                  <a:pt x="297267" y="300690"/>
                  <a:pt x="294977" y="302343"/>
                </a:cubicBezTo>
                <a:cubicBezTo>
                  <a:pt x="292686" y="303997"/>
                  <a:pt x="289741" y="304448"/>
                  <a:pt x="287061" y="303555"/>
                </a:cubicBezTo>
                <a:lnTo>
                  <a:pt x="245921" y="289836"/>
                </a:lnTo>
                <a:lnTo>
                  <a:pt x="245921" y="254704"/>
                </a:lnTo>
                <a:lnTo>
                  <a:pt x="287061" y="240985"/>
                </a:lnTo>
                <a:cubicBezTo>
                  <a:pt x="289741" y="240093"/>
                  <a:pt x="292686" y="240544"/>
                  <a:pt x="294977" y="242197"/>
                </a:cubicBezTo>
                <a:cubicBezTo>
                  <a:pt x="297267" y="243850"/>
                  <a:pt x="298622" y="246504"/>
                  <a:pt x="298619" y="249329"/>
                </a:cubicBezTo>
                <a:close/>
                <a:moveTo>
                  <a:pt x="96612" y="404014"/>
                </a:moveTo>
                <a:lnTo>
                  <a:pt x="166875" y="333751"/>
                </a:lnTo>
                <a:lnTo>
                  <a:pt x="237138" y="404014"/>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5538121" y="3027229"/>
            <a:ext cx="1497974"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Traditional focus</a:t>
            </a:r>
          </a:p>
        </p:txBody>
      </p:sp>
      <p:sp>
        <p:nvSpPr>
          <p:cNvPr id="13" name="TextBox 12"/>
          <p:cNvSpPr txBox="1"/>
          <p:nvPr/>
        </p:nvSpPr>
        <p:spPr>
          <a:xfrm>
            <a:off x="1661334" y="3328623"/>
            <a:ext cx="2798843" cy="200055"/>
          </a:xfrm>
          <a:prstGeom prst="rect">
            <a:avLst/>
          </a:prstGeom>
          <a:noFill/>
          <a:ln>
            <a:noFill/>
          </a:ln>
        </p:spPr>
        <p:txBody>
          <a:bodyPr wrap="none" lIns="0" tIns="0" rIns="0" bIns="0" anchor="t">
            <a:spAutoFit/>
          </a:bodyPr>
          <a:lstStyle/>
          <a:p>
            <a:pPr algn="l"/>
            <a:r>
              <a:rPr sz="1300" b="0" dirty="0">
                <a:latin typeface="Times New Roman" panose="02020603050405020304" pitchFamily="18" charset="0"/>
                <a:cs typeface="Times New Roman" panose="02020603050405020304" pitchFamily="18" charset="0"/>
              </a:rPr>
              <a:t>Focuses on audience behavior for insights</a:t>
            </a:r>
          </a:p>
        </p:txBody>
      </p:sp>
      <p:sp>
        <p:nvSpPr>
          <p:cNvPr id="14" name="TextBox 13"/>
          <p:cNvSpPr txBox="1"/>
          <p:nvPr/>
        </p:nvSpPr>
        <p:spPr>
          <a:xfrm>
            <a:off x="5538121" y="3339022"/>
            <a:ext cx="1812997" cy="200055"/>
          </a:xfrm>
          <a:prstGeom prst="rect">
            <a:avLst/>
          </a:prstGeom>
          <a:noFill/>
          <a:ln>
            <a:noFill/>
          </a:ln>
        </p:spPr>
        <p:txBody>
          <a:bodyPr wrap="none" lIns="0" tIns="0" rIns="0" bIns="0" anchor="t">
            <a:spAutoFit/>
          </a:bodyPr>
          <a:lstStyle/>
          <a:p>
            <a:pPr algn="l"/>
            <a:r>
              <a:rPr sz="1300" b="0" dirty="0">
                <a:latin typeface="Times New Roman" panose="02020603050405020304" pitchFamily="18" charset="0"/>
                <a:cs typeface="Times New Roman" panose="02020603050405020304" pitchFamily="18" charset="0"/>
              </a:rPr>
              <a:t>Relies on budget and genre</a:t>
            </a:r>
          </a:p>
        </p:txBody>
      </p:sp>
      <p:sp>
        <p:nvSpPr>
          <p:cNvPr id="15" name="Rounded Rectangle 14"/>
          <p:cNvSpPr/>
          <p:nvPr/>
        </p:nvSpPr>
        <p:spPr>
          <a:xfrm>
            <a:off x="1102939" y="4136251"/>
            <a:ext cx="386448" cy="400501"/>
          </a:xfrm>
          <a:custGeom>
            <a:avLst/>
            <a:gdLst/>
            <a:ahLst/>
            <a:cxnLst/>
            <a:rect l="0" t="0" r="0" b="0"/>
            <a:pathLst>
              <a:path w="386448" h="400501">
                <a:moveTo>
                  <a:pt x="351316" y="193224"/>
                </a:moveTo>
                <a:cubicBezTo>
                  <a:pt x="351316" y="212627"/>
                  <a:pt x="335587" y="228356"/>
                  <a:pt x="316185" y="228356"/>
                </a:cubicBezTo>
                <a:lnTo>
                  <a:pt x="87829" y="228356"/>
                </a:lnTo>
                <a:cubicBezTo>
                  <a:pt x="68426" y="228356"/>
                  <a:pt x="52697" y="212627"/>
                  <a:pt x="52697" y="193224"/>
                </a:cubicBezTo>
                <a:lnTo>
                  <a:pt x="52697" y="35131"/>
                </a:lnTo>
                <a:cubicBezTo>
                  <a:pt x="52697" y="15728"/>
                  <a:pt x="68426" y="0"/>
                  <a:pt x="87829" y="0"/>
                </a:cubicBezTo>
                <a:lnTo>
                  <a:pt x="316185" y="0"/>
                </a:lnTo>
                <a:cubicBezTo>
                  <a:pt x="335587" y="0"/>
                  <a:pt x="351316" y="15728"/>
                  <a:pt x="351316" y="35131"/>
                </a:cubicBezTo>
                <a:close/>
                <a:moveTo>
                  <a:pt x="52767" y="87829"/>
                </a:moveTo>
                <a:lnTo>
                  <a:pt x="351387" y="87829"/>
                </a:lnTo>
                <a:moveTo>
                  <a:pt x="118639" y="35131"/>
                </a:moveTo>
                <a:cubicBezTo>
                  <a:pt x="116214" y="35131"/>
                  <a:pt x="114248" y="37097"/>
                  <a:pt x="114248" y="39523"/>
                </a:cubicBezTo>
                <a:cubicBezTo>
                  <a:pt x="114248" y="41948"/>
                  <a:pt x="116214" y="43914"/>
                  <a:pt x="118639" y="43914"/>
                </a:cubicBezTo>
                <a:cubicBezTo>
                  <a:pt x="121065" y="43914"/>
                  <a:pt x="123031" y="41948"/>
                  <a:pt x="123031" y="39523"/>
                </a:cubicBezTo>
                <a:cubicBezTo>
                  <a:pt x="123031" y="37097"/>
                  <a:pt x="121065" y="35131"/>
                  <a:pt x="118639" y="35131"/>
                </a:cubicBezTo>
                <a:moveTo>
                  <a:pt x="171337" y="35131"/>
                </a:moveTo>
                <a:cubicBezTo>
                  <a:pt x="168911" y="35131"/>
                  <a:pt x="166945" y="37097"/>
                  <a:pt x="166945" y="39523"/>
                </a:cubicBezTo>
                <a:cubicBezTo>
                  <a:pt x="166945" y="41948"/>
                  <a:pt x="168911" y="43914"/>
                  <a:pt x="171337" y="43914"/>
                </a:cubicBezTo>
                <a:cubicBezTo>
                  <a:pt x="173762" y="43914"/>
                  <a:pt x="175728" y="41948"/>
                  <a:pt x="175728" y="39523"/>
                </a:cubicBezTo>
                <a:cubicBezTo>
                  <a:pt x="175728" y="37097"/>
                  <a:pt x="173762" y="35131"/>
                  <a:pt x="171337" y="35131"/>
                </a:cubicBezTo>
                <a:moveTo>
                  <a:pt x="153525" y="310037"/>
                </a:moveTo>
                <a:cubicBezTo>
                  <a:pt x="153525" y="332835"/>
                  <a:pt x="172007" y="351316"/>
                  <a:pt x="194805" y="351316"/>
                </a:cubicBezTo>
                <a:cubicBezTo>
                  <a:pt x="217603" y="351316"/>
                  <a:pt x="236084" y="332835"/>
                  <a:pt x="236084" y="310037"/>
                </a:cubicBezTo>
                <a:cubicBezTo>
                  <a:pt x="236084" y="287239"/>
                  <a:pt x="217603" y="268757"/>
                  <a:pt x="194805" y="268757"/>
                </a:cubicBezTo>
                <a:cubicBezTo>
                  <a:pt x="172007" y="268757"/>
                  <a:pt x="153525" y="287239"/>
                  <a:pt x="153525" y="310037"/>
                </a:cubicBezTo>
                <a:close/>
                <a:moveTo>
                  <a:pt x="23678" y="310037"/>
                </a:moveTo>
                <a:cubicBezTo>
                  <a:pt x="23678" y="332835"/>
                  <a:pt x="42160" y="351316"/>
                  <a:pt x="64958" y="351316"/>
                </a:cubicBezTo>
                <a:cubicBezTo>
                  <a:pt x="87756" y="351316"/>
                  <a:pt x="106238" y="332835"/>
                  <a:pt x="106238" y="310037"/>
                </a:cubicBezTo>
                <a:cubicBezTo>
                  <a:pt x="106238" y="287239"/>
                  <a:pt x="87756" y="268757"/>
                  <a:pt x="64958" y="268757"/>
                </a:cubicBezTo>
                <a:cubicBezTo>
                  <a:pt x="42160" y="268757"/>
                  <a:pt x="23678" y="287239"/>
                  <a:pt x="23678" y="310037"/>
                </a:cubicBezTo>
                <a:close/>
                <a:moveTo>
                  <a:pt x="280491" y="310037"/>
                </a:moveTo>
                <a:cubicBezTo>
                  <a:pt x="280491" y="332835"/>
                  <a:pt x="298973" y="351316"/>
                  <a:pt x="321771" y="351316"/>
                </a:cubicBezTo>
                <a:cubicBezTo>
                  <a:pt x="344569" y="351316"/>
                  <a:pt x="363050" y="332835"/>
                  <a:pt x="363050" y="310037"/>
                </a:cubicBezTo>
                <a:cubicBezTo>
                  <a:pt x="363050" y="287239"/>
                  <a:pt x="344569" y="268757"/>
                  <a:pt x="321771" y="268757"/>
                </a:cubicBezTo>
                <a:cubicBezTo>
                  <a:pt x="298973" y="268757"/>
                  <a:pt x="280491" y="287239"/>
                  <a:pt x="280491" y="310037"/>
                </a:cubicBezTo>
                <a:close/>
                <a:moveTo>
                  <a:pt x="386448" y="400501"/>
                </a:moveTo>
                <a:cubicBezTo>
                  <a:pt x="370832" y="381128"/>
                  <a:pt x="347286" y="369864"/>
                  <a:pt x="322403" y="369864"/>
                </a:cubicBezTo>
                <a:cubicBezTo>
                  <a:pt x="297520" y="369864"/>
                  <a:pt x="273974" y="381128"/>
                  <a:pt x="258358" y="400501"/>
                </a:cubicBezTo>
                <a:cubicBezTo>
                  <a:pt x="242208" y="381216"/>
                  <a:pt x="218377" y="370033"/>
                  <a:pt x="193224" y="369936"/>
                </a:cubicBezTo>
                <a:moveTo>
                  <a:pt x="0" y="400501"/>
                </a:moveTo>
                <a:cubicBezTo>
                  <a:pt x="15615" y="381128"/>
                  <a:pt x="39161" y="369864"/>
                  <a:pt x="64045" y="369864"/>
                </a:cubicBezTo>
                <a:cubicBezTo>
                  <a:pt x="88928" y="369864"/>
                  <a:pt x="112474" y="381128"/>
                  <a:pt x="128090" y="400501"/>
                </a:cubicBezTo>
                <a:cubicBezTo>
                  <a:pt x="144239" y="381216"/>
                  <a:pt x="168070" y="370033"/>
                  <a:pt x="193224" y="369936"/>
                </a:cubicBezTo>
              </a:path>
            </a:pathLst>
          </a:custGeom>
          <a:noFill/>
          <a:ln w="13173">
            <a:solidFill>
              <a:schemeClr val="tx1"/>
            </a:solidFill>
          </a:ln>
        </p:spPr>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1837675" y="4054681"/>
            <a:ext cx="1812997" cy="246221"/>
          </a:xfrm>
          <a:prstGeom prst="rect">
            <a:avLst/>
          </a:prstGeom>
          <a:noFill/>
          <a:ln>
            <a:noFill/>
          </a:ln>
        </p:spPr>
        <p:txBody>
          <a:bodyPr wrap="none" lIns="0" tIns="0" rIns="0" bIns="0" anchor="t">
            <a:spAutoFit/>
          </a:bodyPr>
          <a:lstStyle/>
          <a:p>
            <a:pPr algn="l"/>
            <a:r>
              <a:rPr sz="1400" b="1" dirty="0">
                <a:latin typeface="Times New Roman" panose="02020603050405020304" pitchFamily="18" charset="0"/>
                <a:cs typeface="Times New Roman" panose="02020603050405020304" pitchFamily="18" charset="0"/>
              </a:rPr>
              <a:t>Audience </a:t>
            </a:r>
            <a:r>
              <a:rPr sz="1600" b="1" dirty="0">
                <a:latin typeface="Times New Roman" panose="02020603050405020304" pitchFamily="18" charset="0"/>
                <a:cs typeface="Times New Roman" panose="02020603050405020304" pitchFamily="18" charset="0"/>
              </a:rPr>
              <a:t>engagement</a:t>
            </a:r>
          </a:p>
        </p:txBody>
      </p:sp>
      <p:sp>
        <p:nvSpPr>
          <p:cNvPr id="17" name="Rounded Rectangle 16"/>
          <p:cNvSpPr/>
          <p:nvPr/>
        </p:nvSpPr>
        <p:spPr>
          <a:xfrm>
            <a:off x="4927551" y="4192856"/>
            <a:ext cx="361650" cy="298619"/>
          </a:xfrm>
          <a:custGeom>
            <a:avLst/>
            <a:gdLst/>
            <a:ahLst/>
            <a:cxnLst/>
            <a:rect l="0" t="0" r="0" b="0"/>
            <a:pathLst>
              <a:path w="404014" h="298619">
                <a:moveTo>
                  <a:pt x="17565" y="0"/>
                </a:moveTo>
                <a:lnTo>
                  <a:pt x="386448" y="0"/>
                </a:lnTo>
                <a:cubicBezTo>
                  <a:pt x="386448" y="0"/>
                  <a:pt x="404014" y="0"/>
                  <a:pt x="404014" y="17565"/>
                </a:cubicBezTo>
                <a:lnTo>
                  <a:pt x="404014" y="281053"/>
                </a:lnTo>
                <a:cubicBezTo>
                  <a:pt x="404014" y="281053"/>
                  <a:pt x="404014" y="298619"/>
                  <a:pt x="386448" y="298619"/>
                </a:cubicBezTo>
                <a:lnTo>
                  <a:pt x="17565" y="298619"/>
                </a:lnTo>
                <a:cubicBezTo>
                  <a:pt x="17565" y="298619"/>
                  <a:pt x="0" y="298619"/>
                  <a:pt x="0" y="281053"/>
                </a:cubicBezTo>
                <a:lnTo>
                  <a:pt x="0" y="17565"/>
                </a:lnTo>
                <a:cubicBezTo>
                  <a:pt x="0" y="17565"/>
                  <a:pt x="0" y="0"/>
                  <a:pt x="17565" y="0"/>
                </a:cubicBezTo>
                <a:moveTo>
                  <a:pt x="0" y="105395"/>
                </a:moveTo>
                <a:lnTo>
                  <a:pt x="404014" y="105395"/>
                </a:lnTo>
                <a:moveTo>
                  <a:pt x="0" y="52697"/>
                </a:moveTo>
                <a:lnTo>
                  <a:pt x="404014" y="52697"/>
                </a:lnTo>
                <a:moveTo>
                  <a:pt x="79046" y="105395"/>
                </a:moveTo>
                <a:lnTo>
                  <a:pt x="131743" y="52697"/>
                </a:lnTo>
                <a:lnTo>
                  <a:pt x="79046" y="0"/>
                </a:lnTo>
                <a:moveTo>
                  <a:pt x="184441" y="105395"/>
                </a:moveTo>
                <a:lnTo>
                  <a:pt x="237138" y="52697"/>
                </a:lnTo>
                <a:lnTo>
                  <a:pt x="184441" y="0"/>
                </a:lnTo>
                <a:moveTo>
                  <a:pt x="289836" y="105395"/>
                </a:moveTo>
                <a:lnTo>
                  <a:pt x="342534" y="52697"/>
                </a:lnTo>
                <a:lnTo>
                  <a:pt x="289836" y="0"/>
                </a:lnTo>
                <a:moveTo>
                  <a:pt x="52697" y="245921"/>
                </a:moveTo>
                <a:lnTo>
                  <a:pt x="351316" y="245921"/>
                </a:lnTo>
                <a:moveTo>
                  <a:pt x="210790" y="210790"/>
                </a:moveTo>
                <a:lnTo>
                  <a:pt x="210790" y="175658"/>
                </a:lnTo>
              </a:path>
            </a:pathLst>
          </a:custGeom>
          <a:noFill/>
          <a:ln w="1317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TextBox 17"/>
          <p:cNvSpPr txBox="1"/>
          <p:nvPr/>
        </p:nvSpPr>
        <p:spPr>
          <a:xfrm>
            <a:off x="5538121" y="4081179"/>
            <a:ext cx="1733423"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Production features</a:t>
            </a:r>
          </a:p>
        </p:txBody>
      </p:sp>
      <p:sp>
        <p:nvSpPr>
          <p:cNvPr id="19" name="TextBox 18"/>
          <p:cNvSpPr txBox="1"/>
          <p:nvPr/>
        </p:nvSpPr>
        <p:spPr>
          <a:xfrm>
            <a:off x="1812232" y="4376383"/>
            <a:ext cx="2579232" cy="200055"/>
          </a:xfrm>
          <a:prstGeom prst="rect">
            <a:avLst/>
          </a:prstGeom>
          <a:noFill/>
          <a:ln>
            <a:noFill/>
          </a:ln>
        </p:spPr>
        <p:txBody>
          <a:bodyPr wrap="none" lIns="0" tIns="0" rIns="0" bIns="0" anchor="t">
            <a:spAutoFit/>
          </a:bodyPr>
          <a:lstStyle/>
          <a:p>
            <a:pPr algn="l"/>
            <a:r>
              <a:rPr sz="1300" b="0" dirty="0">
                <a:latin typeface="Times New Roman" panose="02020603050405020304" pitchFamily="18" charset="0"/>
                <a:cs typeface="Times New Roman" panose="02020603050405020304" pitchFamily="18" charset="0"/>
              </a:rPr>
              <a:t>New </a:t>
            </a:r>
            <a:r>
              <a:rPr sz="1300" dirty="0">
                <a:latin typeface="Times New Roman" panose="02020603050405020304" pitchFamily="18" charset="0"/>
                <a:cs typeface="Times New Roman" panose="02020603050405020304" pitchFamily="18" charset="0"/>
              </a:rPr>
              <a:t>perspective</a:t>
            </a:r>
            <a:r>
              <a:rPr sz="1300" b="0" dirty="0">
                <a:latin typeface="Times New Roman" panose="02020603050405020304" pitchFamily="18" charset="0"/>
                <a:cs typeface="Times New Roman" panose="02020603050405020304" pitchFamily="18" charset="0"/>
              </a:rPr>
              <a:t> on predicting success</a:t>
            </a:r>
          </a:p>
        </p:txBody>
      </p:sp>
      <p:sp>
        <p:nvSpPr>
          <p:cNvPr id="20" name="TextBox 19"/>
          <p:cNvSpPr txBox="1"/>
          <p:nvPr/>
        </p:nvSpPr>
        <p:spPr>
          <a:xfrm>
            <a:off x="5538121" y="4392973"/>
            <a:ext cx="2158220" cy="200055"/>
          </a:xfrm>
          <a:prstGeom prst="rect">
            <a:avLst/>
          </a:prstGeom>
          <a:noFill/>
          <a:ln>
            <a:noFill/>
          </a:ln>
        </p:spPr>
        <p:txBody>
          <a:bodyPr wrap="none" lIns="0" tIns="0" rIns="0" bIns="0" anchor="t">
            <a:spAutoFit/>
          </a:bodyPr>
          <a:lstStyle/>
          <a:p>
            <a:pPr algn="l"/>
            <a:r>
              <a:rPr sz="1300" b="0" dirty="0">
                <a:latin typeface="Times New Roman" panose="02020603050405020304" pitchFamily="18" charset="0"/>
                <a:cs typeface="Times New Roman" panose="02020603050405020304" pitchFamily="18" charset="0"/>
              </a:rPr>
              <a:t>Traditional focus for predictions</a:t>
            </a:r>
          </a:p>
        </p:txBody>
      </p:sp>
      <p:pic>
        <p:nvPicPr>
          <p:cNvPr id="22" name="Picture 21">
            <a:extLst>
              <a:ext uri="{FF2B5EF4-FFF2-40B4-BE49-F238E27FC236}">
                <a16:creationId xmlns:a16="http://schemas.microsoft.com/office/drawing/2014/main" id="{8DB269E6-A2DB-147E-965B-902E9AC3430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51118" y="5181185"/>
            <a:ext cx="1148464" cy="1148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28915" y="3296923"/>
            <a:ext cx="3886200" cy="685800"/>
          </a:xfrm>
          <a:custGeom>
            <a:avLst/>
            <a:gdLst/>
            <a:ahLst/>
            <a:cxnLst/>
            <a:rect l="0" t="0" r="0" b="0"/>
            <a:pathLst>
              <a:path w="3886200" h="685800">
                <a:moveTo>
                  <a:pt x="1943100" y="0"/>
                </a:moveTo>
                <a:lnTo>
                  <a:pt x="1943100" y="457200"/>
                </a:lnTo>
                <a:moveTo>
                  <a:pt x="1943100" y="457200"/>
                </a:moveTo>
                <a:lnTo>
                  <a:pt x="3886200" y="457200"/>
                </a:lnTo>
                <a:lnTo>
                  <a:pt x="3886200" y="685800"/>
                </a:lnTo>
                <a:moveTo>
                  <a:pt x="1943100" y="457200"/>
                </a:moveTo>
                <a:lnTo>
                  <a:pt x="1943100" y="685800"/>
                </a:lnTo>
                <a:moveTo>
                  <a:pt x="1943100" y="457200"/>
                </a:moveTo>
                <a:lnTo>
                  <a:pt x="0" y="457200"/>
                </a:ln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3771915" y="1696723"/>
            <a:ext cx="1600200" cy="1600200"/>
          </a:xfrm>
          <a:custGeom>
            <a:avLst/>
            <a:gdLst/>
            <a:ahLst/>
            <a:cxnLst/>
            <a:rect l="0" t="0" r="0" b="0"/>
            <a:pathLst>
              <a:path w="1600200" h="1600200">
                <a:moveTo>
                  <a:pt x="1600200" y="800100"/>
                </a:moveTo>
                <a:cubicBezTo>
                  <a:pt x="1600200" y="1241982"/>
                  <a:pt x="1241982" y="1600200"/>
                  <a:pt x="800100" y="1600200"/>
                </a:cubicBezTo>
                <a:cubicBezTo>
                  <a:pt x="358217" y="1600200"/>
                  <a:pt x="0" y="1241982"/>
                  <a:pt x="0" y="800100"/>
                </a:cubicBezTo>
                <a:cubicBezTo>
                  <a:pt x="0" y="358217"/>
                  <a:pt x="358217" y="0"/>
                  <a:pt x="800100" y="0"/>
                </a:cubicBezTo>
                <a:cubicBezTo>
                  <a:pt x="1241982" y="0"/>
                  <a:pt x="1600200" y="358217"/>
                  <a:pt x="1600200" y="800100"/>
                </a:cubicBezTo>
                <a:close/>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 name="Group 5"/>
          <p:cNvGrpSpPr/>
          <p:nvPr/>
        </p:nvGrpSpPr>
        <p:grpSpPr>
          <a:xfrm>
            <a:off x="2743215" y="2153923"/>
            <a:ext cx="3657600" cy="685800"/>
            <a:chOff x="2009775" y="1543050"/>
            <a:chExt cx="3657600" cy="685800"/>
          </a:xfrm>
        </p:grpSpPr>
        <p:sp>
          <p:nvSpPr>
            <p:cNvPr id="4" name="Rounded Rectangle 3"/>
            <p:cNvSpPr/>
            <p:nvPr/>
          </p:nvSpPr>
          <p:spPr>
            <a:xfrm>
              <a:off x="49815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20097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7" name="TextBox 6"/>
          <p:cNvSpPr txBox="1"/>
          <p:nvPr/>
        </p:nvSpPr>
        <p:spPr>
          <a:xfrm>
            <a:off x="1008878" y="932280"/>
            <a:ext cx="2546403" cy="677108"/>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Project Objective : </a:t>
            </a:r>
          </a:p>
          <a:p>
            <a:pPr algn="ctr"/>
            <a:endParaRPr sz="20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315735" y="2172973"/>
            <a:ext cx="1179810" cy="461665"/>
          </a:xfrm>
          <a:prstGeom prst="rect">
            <a:avLst/>
          </a:prstGeom>
          <a:noFill/>
          <a:ln>
            <a:noFill/>
          </a:ln>
        </p:spPr>
        <p:txBody>
          <a:bodyPr wrap="none" lIns="0" tIns="0" rIns="0" bIns="0" anchor="t">
            <a:spAutoFit/>
          </a:bodyPr>
          <a:lstStyle/>
          <a:p>
            <a:pPr algn="r"/>
            <a:r>
              <a:rPr sz="1500" b="1" dirty="0">
                <a:latin typeface="Times New Roman" panose="02020603050405020304" pitchFamily="18" charset="0"/>
                <a:cs typeface="Times New Roman" panose="02020603050405020304" pitchFamily="18" charset="0"/>
              </a:rPr>
              <a:t>Unpredictable
Movie Success</a:t>
            </a:r>
          </a:p>
        </p:txBody>
      </p:sp>
      <p:sp>
        <p:nvSpPr>
          <p:cNvPr id="9" name="Rounded Rectangle 8"/>
          <p:cNvSpPr/>
          <p:nvPr/>
        </p:nvSpPr>
        <p:spPr>
          <a:xfrm>
            <a:off x="2867040" y="2277170"/>
            <a:ext cx="439724" cy="438727"/>
          </a:xfrm>
          <a:custGeom>
            <a:avLst/>
            <a:gdLst/>
            <a:ahLst/>
            <a:cxnLst/>
            <a:rect l="0" t="0" r="0" b="0"/>
            <a:pathLst>
              <a:path w="439724" h="438727">
                <a:moveTo>
                  <a:pt x="57150" y="133927"/>
                </a:moveTo>
                <a:lnTo>
                  <a:pt x="381000" y="133927"/>
                </a:lnTo>
                <a:cubicBezTo>
                  <a:pt x="381000" y="133927"/>
                  <a:pt x="438150" y="133927"/>
                  <a:pt x="438150" y="191077"/>
                </a:cubicBezTo>
                <a:lnTo>
                  <a:pt x="438150" y="381577"/>
                </a:lnTo>
                <a:cubicBezTo>
                  <a:pt x="438150" y="381577"/>
                  <a:pt x="438150" y="438727"/>
                  <a:pt x="381000" y="438727"/>
                </a:cubicBezTo>
                <a:lnTo>
                  <a:pt x="57150" y="438727"/>
                </a:lnTo>
                <a:cubicBezTo>
                  <a:pt x="57150" y="438727"/>
                  <a:pt x="0" y="438727"/>
                  <a:pt x="0" y="381577"/>
                </a:cubicBezTo>
                <a:lnTo>
                  <a:pt x="0" y="191077"/>
                </a:lnTo>
                <a:cubicBezTo>
                  <a:pt x="0" y="191077"/>
                  <a:pt x="0" y="133927"/>
                  <a:pt x="57150" y="133927"/>
                </a:cubicBezTo>
                <a:moveTo>
                  <a:pt x="152400" y="133927"/>
                </a:moveTo>
                <a:lnTo>
                  <a:pt x="152400" y="95827"/>
                </a:lnTo>
                <a:cubicBezTo>
                  <a:pt x="152400" y="74785"/>
                  <a:pt x="169457" y="57727"/>
                  <a:pt x="190500" y="57727"/>
                </a:cubicBezTo>
                <a:lnTo>
                  <a:pt x="247650" y="57727"/>
                </a:lnTo>
                <a:cubicBezTo>
                  <a:pt x="268692" y="57727"/>
                  <a:pt x="285750" y="74785"/>
                  <a:pt x="285750" y="95827"/>
                </a:cubicBezTo>
                <a:lnTo>
                  <a:pt x="285750" y="133927"/>
                </a:lnTo>
                <a:moveTo>
                  <a:pt x="361950" y="133927"/>
                </a:moveTo>
                <a:lnTo>
                  <a:pt x="361950" y="438727"/>
                </a:lnTo>
                <a:moveTo>
                  <a:pt x="76200" y="133927"/>
                </a:moveTo>
                <a:lnTo>
                  <a:pt x="76200" y="438727"/>
                </a:lnTo>
                <a:moveTo>
                  <a:pt x="123825" y="286327"/>
                </a:moveTo>
                <a:cubicBezTo>
                  <a:pt x="123825" y="338932"/>
                  <a:pt x="166469" y="381577"/>
                  <a:pt x="219075" y="381577"/>
                </a:cubicBezTo>
                <a:cubicBezTo>
                  <a:pt x="271680" y="381577"/>
                  <a:pt x="314325" y="338932"/>
                  <a:pt x="314325" y="286327"/>
                </a:cubicBezTo>
                <a:cubicBezTo>
                  <a:pt x="314325" y="233722"/>
                  <a:pt x="271680" y="191077"/>
                  <a:pt x="219075" y="191077"/>
                </a:cubicBezTo>
                <a:cubicBezTo>
                  <a:pt x="166469" y="191077"/>
                  <a:pt x="123825" y="233722"/>
                  <a:pt x="123825" y="286327"/>
                </a:cubicBezTo>
                <a:moveTo>
                  <a:pt x="219075" y="329189"/>
                </a:moveTo>
                <a:cubicBezTo>
                  <a:pt x="221705" y="329189"/>
                  <a:pt x="223837" y="331322"/>
                  <a:pt x="223837" y="333952"/>
                </a:cubicBezTo>
                <a:cubicBezTo>
                  <a:pt x="223837" y="336582"/>
                  <a:pt x="221705" y="338714"/>
                  <a:pt x="219075" y="338714"/>
                </a:cubicBezTo>
                <a:cubicBezTo>
                  <a:pt x="216444" y="338714"/>
                  <a:pt x="214312" y="336582"/>
                  <a:pt x="214312" y="333952"/>
                </a:cubicBezTo>
                <a:cubicBezTo>
                  <a:pt x="214312" y="331322"/>
                  <a:pt x="216444" y="329189"/>
                  <a:pt x="219075" y="329189"/>
                </a:cubicBezTo>
                <a:moveTo>
                  <a:pt x="219075" y="295852"/>
                </a:moveTo>
                <a:cubicBezTo>
                  <a:pt x="234856" y="295852"/>
                  <a:pt x="247650" y="283058"/>
                  <a:pt x="247650" y="267277"/>
                </a:cubicBezTo>
                <a:cubicBezTo>
                  <a:pt x="247650" y="251495"/>
                  <a:pt x="234856" y="238702"/>
                  <a:pt x="219075" y="238702"/>
                </a:cubicBezTo>
                <a:cubicBezTo>
                  <a:pt x="203293" y="238702"/>
                  <a:pt x="190500" y="251495"/>
                  <a:pt x="190500" y="267277"/>
                </a:cubicBezTo>
                <a:moveTo>
                  <a:pt x="354139" y="31057"/>
                </a:moveTo>
                <a:lnTo>
                  <a:pt x="352425" y="67252"/>
                </a:lnTo>
                <a:lnTo>
                  <a:pt x="384238" y="83063"/>
                </a:lnTo>
                <a:cubicBezTo>
                  <a:pt x="387028" y="84588"/>
                  <a:pt x="390402" y="84588"/>
                  <a:pt x="393191" y="83063"/>
                </a:cubicBezTo>
                <a:lnTo>
                  <a:pt x="427672" y="64013"/>
                </a:lnTo>
                <a:cubicBezTo>
                  <a:pt x="432858" y="61063"/>
                  <a:pt x="436645" y="56156"/>
                  <a:pt x="438184" y="50392"/>
                </a:cubicBezTo>
                <a:cubicBezTo>
                  <a:pt x="439724" y="44627"/>
                  <a:pt x="438888" y="38486"/>
                  <a:pt x="435863" y="33343"/>
                </a:cubicBezTo>
                <a:lnTo>
                  <a:pt x="424814" y="14293"/>
                </a:lnTo>
                <a:cubicBezTo>
                  <a:pt x="422280" y="8509"/>
                  <a:pt x="417430" y="4058"/>
                  <a:pt x="411450" y="2029"/>
                </a:cubicBezTo>
                <a:cubicBezTo>
                  <a:pt x="405471" y="0"/>
                  <a:pt x="398913" y="579"/>
                  <a:pt x="393382" y="3625"/>
                </a:cubicBezTo>
                <a:lnTo>
                  <a:pt x="358902" y="22675"/>
                </a:lnTo>
                <a:cubicBezTo>
                  <a:pt x="355850" y="24337"/>
                  <a:pt x="354005" y="27585"/>
                  <a:pt x="354139" y="31057"/>
                </a:cubicBezTo>
                <a:close/>
                <a:moveTo>
                  <a:pt x="351662" y="66299"/>
                </a:moveTo>
                <a:lnTo>
                  <a:pt x="285750" y="104399"/>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838840" y="2277748"/>
            <a:ext cx="438150" cy="438150"/>
          </a:xfrm>
          <a:custGeom>
            <a:avLst/>
            <a:gdLst/>
            <a:ahLst/>
            <a:cxnLst/>
            <a:rect l="0" t="0" r="0" b="0"/>
            <a:pathLst>
              <a:path w="438150" h="438150">
                <a:moveTo>
                  <a:pt x="381000" y="76200"/>
                </a:moveTo>
                <a:lnTo>
                  <a:pt x="0" y="76200"/>
                </a:lnTo>
                <a:moveTo>
                  <a:pt x="52387" y="33337"/>
                </a:moveTo>
                <a:lnTo>
                  <a:pt x="52387" y="33337"/>
                </a:lnTo>
                <a:cubicBezTo>
                  <a:pt x="55017" y="33337"/>
                  <a:pt x="57150" y="35469"/>
                  <a:pt x="57150" y="38100"/>
                </a:cubicBezTo>
                <a:cubicBezTo>
                  <a:pt x="57150" y="40730"/>
                  <a:pt x="55017" y="42862"/>
                  <a:pt x="52387" y="42862"/>
                </a:cubicBezTo>
                <a:cubicBezTo>
                  <a:pt x="49757" y="42862"/>
                  <a:pt x="47625" y="40730"/>
                  <a:pt x="47625" y="38100"/>
                </a:cubicBezTo>
                <a:cubicBezTo>
                  <a:pt x="47625" y="35469"/>
                  <a:pt x="49757" y="33337"/>
                  <a:pt x="52387" y="33337"/>
                </a:cubicBezTo>
                <a:moveTo>
                  <a:pt x="100012" y="33337"/>
                </a:moveTo>
                <a:lnTo>
                  <a:pt x="100012" y="33337"/>
                </a:lnTo>
                <a:cubicBezTo>
                  <a:pt x="102642" y="33337"/>
                  <a:pt x="104775" y="35469"/>
                  <a:pt x="104775" y="38100"/>
                </a:cubicBezTo>
                <a:cubicBezTo>
                  <a:pt x="104775" y="40730"/>
                  <a:pt x="102642" y="42862"/>
                  <a:pt x="100012" y="42862"/>
                </a:cubicBezTo>
                <a:cubicBezTo>
                  <a:pt x="97382" y="42862"/>
                  <a:pt x="95250" y="40730"/>
                  <a:pt x="95250" y="38100"/>
                </a:cubicBezTo>
                <a:cubicBezTo>
                  <a:pt x="95250" y="35469"/>
                  <a:pt x="97382" y="33337"/>
                  <a:pt x="100012" y="33337"/>
                </a:cubicBezTo>
                <a:moveTo>
                  <a:pt x="147637" y="33337"/>
                </a:moveTo>
                <a:lnTo>
                  <a:pt x="147637" y="33337"/>
                </a:lnTo>
                <a:cubicBezTo>
                  <a:pt x="150267" y="33337"/>
                  <a:pt x="152400" y="35469"/>
                  <a:pt x="152400" y="38100"/>
                </a:cubicBezTo>
                <a:cubicBezTo>
                  <a:pt x="152400" y="40730"/>
                  <a:pt x="150267" y="42862"/>
                  <a:pt x="147637" y="42862"/>
                </a:cubicBezTo>
                <a:cubicBezTo>
                  <a:pt x="145007" y="42862"/>
                  <a:pt x="142875" y="40730"/>
                  <a:pt x="142875" y="38100"/>
                </a:cubicBezTo>
                <a:cubicBezTo>
                  <a:pt x="142875" y="35469"/>
                  <a:pt x="145007" y="33337"/>
                  <a:pt x="147637" y="33337"/>
                </a:cubicBezTo>
                <a:moveTo>
                  <a:pt x="104775" y="285750"/>
                </a:moveTo>
                <a:lnTo>
                  <a:pt x="38100" y="285750"/>
                </a:lnTo>
                <a:cubicBezTo>
                  <a:pt x="17057" y="285750"/>
                  <a:pt x="0" y="268692"/>
                  <a:pt x="0" y="247650"/>
                </a:cubicBezTo>
                <a:lnTo>
                  <a:pt x="0" y="38100"/>
                </a:lnTo>
                <a:cubicBezTo>
                  <a:pt x="0" y="17057"/>
                  <a:pt x="17057" y="0"/>
                  <a:pt x="38100" y="0"/>
                </a:cubicBezTo>
                <a:lnTo>
                  <a:pt x="342900" y="0"/>
                </a:lnTo>
                <a:cubicBezTo>
                  <a:pt x="363942" y="0"/>
                  <a:pt x="381000" y="17057"/>
                  <a:pt x="381000" y="38100"/>
                </a:cubicBezTo>
                <a:lnTo>
                  <a:pt x="381000" y="114300"/>
                </a:lnTo>
                <a:moveTo>
                  <a:pt x="321944" y="438150"/>
                </a:moveTo>
                <a:lnTo>
                  <a:pt x="287655" y="438150"/>
                </a:lnTo>
                <a:moveTo>
                  <a:pt x="342900" y="400050"/>
                </a:moveTo>
                <a:lnTo>
                  <a:pt x="266700" y="400050"/>
                </a:lnTo>
                <a:moveTo>
                  <a:pt x="304800" y="180975"/>
                </a:moveTo>
                <a:lnTo>
                  <a:pt x="304800" y="152400"/>
                </a:lnTo>
                <a:moveTo>
                  <a:pt x="200025" y="285750"/>
                </a:moveTo>
                <a:lnTo>
                  <a:pt x="171450" y="285750"/>
                </a:lnTo>
                <a:moveTo>
                  <a:pt x="438150" y="285750"/>
                </a:moveTo>
                <a:lnTo>
                  <a:pt x="409575" y="285750"/>
                </a:lnTo>
                <a:moveTo>
                  <a:pt x="219075" y="219075"/>
                </a:moveTo>
                <a:lnTo>
                  <a:pt x="194824" y="194824"/>
                </a:lnTo>
                <a:moveTo>
                  <a:pt x="414775" y="194824"/>
                </a:moveTo>
                <a:lnTo>
                  <a:pt x="390525" y="219075"/>
                </a:lnTo>
                <a:moveTo>
                  <a:pt x="371475" y="285750"/>
                </a:moveTo>
                <a:cubicBezTo>
                  <a:pt x="371475" y="248926"/>
                  <a:pt x="341623" y="219075"/>
                  <a:pt x="304800" y="219075"/>
                </a:cubicBezTo>
                <a:cubicBezTo>
                  <a:pt x="267976" y="219075"/>
                  <a:pt x="238125" y="248926"/>
                  <a:pt x="238125" y="285750"/>
                </a:cubicBezTo>
                <a:cubicBezTo>
                  <a:pt x="235948" y="308767"/>
                  <a:pt x="247025" y="331024"/>
                  <a:pt x="266700" y="343166"/>
                </a:cubicBezTo>
                <a:lnTo>
                  <a:pt x="266700" y="352425"/>
                </a:lnTo>
                <a:cubicBezTo>
                  <a:pt x="266700" y="357685"/>
                  <a:pt x="270964" y="361950"/>
                  <a:pt x="276225" y="361950"/>
                </a:cubicBezTo>
                <a:lnTo>
                  <a:pt x="333375" y="361950"/>
                </a:lnTo>
                <a:cubicBezTo>
                  <a:pt x="338635" y="361950"/>
                  <a:pt x="342900" y="357685"/>
                  <a:pt x="342900" y="352425"/>
                </a:cubicBezTo>
                <a:lnTo>
                  <a:pt x="342900" y="342900"/>
                </a:lnTo>
                <a:cubicBezTo>
                  <a:pt x="362551" y="330865"/>
                  <a:pt x="373638" y="308692"/>
                  <a:pt x="371474" y="285750"/>
                </a:cubicBez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4059082" y="2287273"/>
            <a:ext cx="1025922" cy="461665"/>
          </a:xfrm>
          <a:prstGeom prst="rect">
            <a:avLst/>
          </a:prstGeom>
          <a:noFill/>
          <a:ln>
            <a:noFill/>
          </a:ln>
        </p:spPr>
        <p:txBody>
          <a:bodyPr wrap="none" lIns="0" tIns="0" rIns="0" bIns="0" anchor="t">
            <a:spAutoFit/>
          </a:bodyPr>
          <a:lstStyle/>
          <a:p>
            <a:pPr algn="ctr"/>
            <a:r>
              <a:rPr sz="1500" b="1" dirty="0">
                <a:latin typeface="Times New Roman" panose="02020603050405020304" pitchFamily="18" charset="0"/>
                <a:cs typeface="Times New Roman" panose="02020603050405020304" pitchFamily="18" charset="0"/>
              </a:rPr>
              <a:t>Data-Driven
Analysis</a:t>
            </a:r>
          </a:p>
        </p:txBody>
      </p:sp>
      <p:sp>
        <p:nvSpPr>
          <p:cNvPr id="12" name="TextBox 11"/>
          <p:cNvSpPr txBox="1"/>
          <p:nvPr/>
        </p:nvSpPr>
        <p:spPr>
          <a:xfrm>
            <a:off x="6648465" y="2172973"/>
            <a:ext cx="1025922" cy="461665"/>
          </a:xfrm>
          <a:prstGeom prst="rect">
            <a:avLst/>
          </a:prstGeom>
          <a:noFill/>
          <a:ln>
            <a:noFill/>
          </a:ln>
        </p:spPr>
        <p:txBody>
          <a:bodyPr wrap="none" lIns="0" tIns="0" rIns="0" bIns="0" anchor="t">
            <a:spAutoFit/>
          </a:bodyPr>
          <a:lstStyle/>
          <a:p>
            <a:pPr algn="l"/>
            <a:r>
              <a:rPr sz="1500" b="1" dirty="0">
                <a:latin typeface="Times New Roman" panose="02020603050405020304" pitchFamily="18" charset="0"/>
                <a:cs typeface="Times New Roman" panose="02020603050405020304" pitchFamily="18" charset="0"/>
              </a:rPr>
              <a:t>Data-Driven
Decisions</a:t>
            </a:r>
          </a:p>
        </p:txBody>
      </p:sp>
      <p:sp>
        <p:nvSpPr>
          <p:cNvPr id="13" name="TextBox 12"/>
          <p:cNvSpPr txBox="1"/>
          <p:nvPr/>
        </p:nvSpPr>
        <p:spPr>
          <a:xfrm>
            <a:off x="817209" y="2739710"/>
            <a:ext cx="1678345" cy="430887"/>
          </a:xfrm>
          <a:prstGeom prst="rect">
            <a:avLst/>
          </a:prstGeom>
          <a:noFill/>
          <a:ln>
            <a:noFill/>
          </a:ln>
        </p:spPr>
        <p:txBody>
          <a:bodyPr wrap="none" lIns="0" tIns="0" rIns="0" bIns="0" anchor="t">
            <a:spAutoFit/>
          </a:bodyPr>
          <a:lstStyle/>
          <a:p>
            <a:pPr algn="r"/>
            <a:r>
              <a:rPr sz="1400" b="0" dirty="0">
                <a:latin typeface="Times New Roman" panose="02020603050405020304" pitchFamily="18" charset="0"/>
                <a:cs typeface="Times New Roman" panose="02020603050405020304" pitchFamily="18" charset="0"/>
              </a:rPr>
              <a:t>Factors driving success
are unclear</a:t>
            </a:r>
          </a:p>
        </p:txBody>
      </p:sp>
      <p:sp>
        <p:nvSpPr>
          <p:cNvPr id="14" name="TextBox 13"/>
          <p:cNvSpPr txBox="1"/>
          <p:nvPr/>
        </p:nvSpPr>
        <p:spPr>
          <a:xfrm>
            <a:off x="6648465" y="2739710"/>
            <a:ext cx="1623842"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Key drivers of success
identified</a:t>
            </a:r>
          </a:p>
        </p:txBody>
      </p:sp>
      <p:sp>
        <p:nvSpPr>
          <p:cNvPr id="15" name="TextBox 14"/>
          <p:cNvSpPr txBox="1"/>
          <p:nvPr/>
        </p:nvSpPr>
        <p:spPr>
          <a:xfrm>
            <a:off x="1897939" y="4111310"/>
            <a:ext cx="1461939"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Evaluate impact of
production elements</a:t>
            </a:r>
          </a:p>
        </p:txBody>
      </p:sp>
      <p:sp>
        <p:nvSpPr>
          <p:cNvPr id="16" name="TextBox 15"/>
          <p:cNvSpPr txBox="1"/>
          <p:nvPr/>
        </p:nvSpPr>
        <p:spPr>
          <a:xfrm>
            <a:off x="3795345" y="4111310"/>
            <a:ext cx="1553310"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Assess influence of
audience engagement</a:t>
            </a:r>
          </a:p>
        </p:txBody>
      </p:sp>
      <p:sp>
        <p:nvSpPr>
          <p:cNvPr id="17" name="TextBox 16"/>
          <p:cNvSpPr txBox="1"/>
          <p:nvPr/>
        </p:nvSpPr>
        <p:spPr>
          <a:xfrm>
            <a:off x="5974053" y="4111310"/>
            <a:ext cx="1082027"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Integrate both
production and
audience data</a:t>
            </a:r>
          </a:p>
        </p:txBody>
      </p:sp>
      <p:pic>
        <p:nvPicPr>
          <p:cNvPr id="19" name="Picture 18">
            <a:extLst>
              <a:ext uri="{FF2B5EF4-FFF2-40B4-BE49-F238E27FC236}">
                <a16:creationId xmlns:a16="http://schemas.microsoft.com/office/drawing/2014/main" id="{3DB7AC6A-D1A2-5BE8-7F1A-CE370EE5393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50717" y="5186529"/>
            <a:ext cx="1148464" cy="1148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704292" y="2166937"/>
            <a:ext cx="4323302" cy="685800"/>
            <a:chOff x="238125" y="1200150"/>
            <a:chExt cx="4323302" cy="685800"/>
          </a:xfrm>
        </p:grpSpPr>
        <p:sp>
          <p:nvSpPr>
            <p:cNvPr id="2" name="Rounded Rectangle 1"/>
            <p:cNvSpPr/>
            <p:nvPr/>
          </p:nvSpPr>
          <p:spPr>
            <a:xfrm>
              <a:off x="1099700" y="1200150"/>
              <a:ext cx="3461727" cy="685800"/>
            </a:xfrm>
            <a:custGeom>
              <a:avLst/>
              <a:gdLst/>
              <a:ahLst/>
              <a:cxnLst/>
              <a:rect l="0" t="0" r="0" b="0"/>
              <a:pathLst>
                <a:path w="3461727" h="685800">
                  <a:moveTo>
                    <a:pt x="3150235" y="685800"/>
                  </a:moveTo>
                  <a:cubicBezTo>
                    <a:pt x="3178182" y="685800"/>
                    <a:pt x="3203408" y="669050"/>
                    <a:pt x="3214253" y="643292"/>
                  </a:cubicBezTo>
                  <a:lnTo>
                    <a:pt x="3440579" y="105770"/>
                  </a:lnTo>
                  <a:cubicBezTo>
                    <a:pt x="3461727" y="55544"/>
                    <a:pt x="3424847" y="0"/>
                    <a:pt x="3370351" y="0"/>
                  </a:cubicBezTo>
                  <a:lnTo>
                    <a:pt x="3150235" y="0"/>
                  </a:lnTo>
                  <a:moveTo>
                    <a:pt x="319203" y="0"/>
                  </a:moveTo>
                  <a:lnTo>
                    <a:pt x="3150247" y="0"/>
                  </a:lnTo>
                  <a:moveTo>
                    <a:pt x="3150247" y="685800"/>
                  </a:moveTo>
                  <a:lnTo>
                    <a:pt x="319203" y="685800"/>
                  </a:lnTo>
                  <a:lnTo>
                    <a:pt x="315989" y="685800"/>
                  </a:lnTo>
                  <a:moveTo>
                    <a:pt x="319513" y="685800"/>
                  </a:moveTo>
                  <a:lnTo>
                    <a:pt x="315966" y="685800"/>
                  </a:lnTo>
                  <a:cubicBezTo>
                    <a:pt x="285307" y="685800"/>
                    <a:pt x="257634" y="667426"/>
                    <a:pt x="245737" y="639170"/>
                  </a:cubicBezTo>
                  <a:lnTo>
                    <a:pt x="21147" y="105770"/>
                  </a:lnTo>
                  <a:cubicBezTo>
                    <a:pt x="0" y="55544"/>
                    <a:pt x="36879" y="0"/>
                    <a:pt x="91376" y="0"/>
                  </a:cubicBezTo>
                  <a:lnTo>
                    <a:pt x="319513"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238125" y="12001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7" name="Group 6"/>
          <p:cNvGrpSpPr/>
          <p:nvPr/>
        </p:nvGrpSpPr>
        <p:grpSpPr>
          <a:xfrm>
            <a:off x="2094817" y="3081337"/>
            <a:ext cx="3553288" cy="685800"/>
            <a:chOff x="628650" y="2114550"/>
            <a:chExt cx="3553288" cy="685800"/>
          </a:xfrm>
        </p:grpSpPr>
        <p:sp>
          <p:nvSpPr>
            <p:cNvPr id="5" name="Rounded Rectangle 4"/>
            <p:cNvSpPr/>
            <p:nvPr/>
          </p:nvSpPr>
          <p:spPr>
            <a:xfrm>
              <a:off x="1490225" y="2114550"/>
              <a:ext cx="2691713" cy="685800"/>
            </a:xfrm>
            <a:custGeom>
              <a:avLst/>
              <a:gdLst/>
              <a:ahLst/>
              <a:cxnLst/>
              <a:rect l="0" t="0" r="0" b="0"/>
              <a:pathLst>
                <a:path w="2691713" h="685800">
                  <a:moveTo>
                    <a:pt x="309980" y="685800"/>
                  </a:moveTo>
                  <a:cubicBezTo>
                    <a:pt x="279321" y="685800"/>
                    <a:pt x="257635" y="667426"/>
                    <a:pt x="245737" y="639170"/>
                  </a:cubicBezTo>
                  <a:lnTo>
                    <a:pt x="21147" y="105770"/>
                  </a:lnTo>
                  <a:cubicBezTo>
                    <a:pt x="0" y="55544"/>
                    <a:pt x="36879" y="0"/>
                    <a:pt x="91376" y="0"/>
                  </a:cubicBezTo>
                  <a:lnTo>
                    <a:pt x="309980" y="0"/>
                  </a:lnTo>
                  <a:moveTo>
                    <a:pt x="2378710" y="685800"/>
                  </a:moveTo>
                  <a:lnTo>
                    <a:pt x="309999" y="685800"/>
                  </a:lnTo>
                  <a:moveTo>
                    <a:pt x="2378710" y="0"/>
                  </a:moveTo>
                  <a:lnTo>
                    <a:pt x="309999" y="0"/>
                  </a:lnTo>
                  <a:moveTo>
                    <a:pt x="2378710" y="685800"/>
                  </a:moveTo>
                  <a:cubicBezTo>
                    <a:pt x="2409368" y="685800"/>
                    <a:pt x="2434078" y="667426"/>
                    <a:pt x="2445976" y="639170"/>
                  </a:cubicBezTo>
                  <a:lnTo>
                    <a:pt x="2670566" y="105770"/>
                  </a:lnTo>
                  <a:cubicBezTo>
                    <a:pt x="2691713" y="55544"/>
                    <a:pt x="2654834" y="0"/>
                    <a:pt x="2600336" y="0"/>
                  </a:cubicBezTo>
                  <a:lnTo>
                    <a:pt x="237871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p:cNvSpPr/>
            <p:nvPr/>
          </p:nvSpPr>
          <p:spPr>
            <a:xfrm>
              <a:off x="628650" y="21145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10" name="Group 9"/>
          <p:cNvGrpSpPr/>
          <p:nvPr/>
        </p:nvGrpSpPr>
        <p:grpSpPr>
          <a:xfrm>
            <a:off x="2475817" y="3995737"/>
            <a:ext cx="2783260" cy="685800"/>
            <a:chOff x="1009650" y="3028950"/>
            <a:chExt cx="2783260" cy="685800"/>
          </a:xfrm>
        </p:grpSpPr>
        <p:sp>
          <p:nvSpPr>
            <p:cNvPr id="8" name="Rounded Rectangle 7"/>
            <p:cNvSpPr/>
            <p:nvPr/>
          </p:nvSpPr>
          <p:spPr>
            <a:xfrm>
              <a:off x="1871225" y="3028950"/>
              <a:ext cx="1921685" cy="685800"/>
            </a:xfrm>
            <a:custGeom>
              <a:avLst/>
              <a:gdLst/>
              <a:ahLst/>
              <a:cxnLst/>
              <a:rect l="0" t="0" r="0" b="0"/>
              <a:pathLst>
                <a:path w="1921685" h="685800">
                  <a:moveTo>
                    <a:pt x="1616710" y="685800"/>
                  </a:moveTo>
                  <a:cubicBezTo>
                    <a:pt x="1640708" y="685800"/>
                    <a:pt x="1662370" y="671417"/>
                    <a:pt x="1671682" y="649299"/>
                  </a:cubicBezTo>
                  <a:lnTo>
                    <a:pt x="1900536" y="105769"/>
                  </a:lnTo>
                  <a:cubicBezTo>
                    <a:pt x="1921685" y="55544"/>
                    <a:pt x="1884805" y="0"/>
                    <a:pt x="1830308" y="0"/>
                  </a:cubicBezTo>
                  <a:lnTo>
                    <a:pt x="1616710" y="0"/>
                  </a:lnTo>
                  <a:moveTo>
                    <a:pt x="1616710" y="685800"/>
                  </a:moveTo>
                  <a:lnTo>
                    <a:pt x="309999" y="685800"/>
                  </a:lnTo>
                  <a:moveTo>
                    <a:pt x="1616710" y="0"/>
                  </a:moveTo>
                  <a:lnTo>
                    <a:pt x="309999" y="0"/>
                  </a:lnTo>
                  <a:moveTo>
                    <a:pt x="309988" y="685800"/>
                  </a:moveTo>
                  <a:cubicBezTo>
                    <a:pt x="282951" y="685800"/>
                    <a:pt x="258548" y="669597"/>
                    <a:pt x="248056" y="644679"/>
                  </a:cubicBezTo>
                  <a:lnTo>
                    <a:pt x="21147" y="105770"/>
                  </a:lnTo>
                  <a:cubicBezTo>
                    <a:pt x="0" y="55544"/>
                    <a:pt x="36879" y="0"/>
                    <a:pt x="91376" y="0"/>
                  </a:cubicBezTo>
                  <a:lnTo>
                    <a:pt x="309988"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1009650" y="30289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923241" y="1226105"/>
            <a:ext cx="5312223" cy="369332"/>
          </a:xfrm>
          <a:prstGeom prst="rect">
            <a:avLst/>
          </a:prstGeom>
          <a:noFill/>
          <a:ln>
            <a:noFill/>
          </a:ln>
        </p:spPr>
        <p:txBody>
          <a:bodyPr wrap="none" lIns="0" tIns="0" rIns="0" bIns="0" anchor="t">
            <a:spAutoFit/>
          </a:bodyPr>
          <a:lstStyle/>
          <a:p>
            <a:pPr algn="ctr"/>
            <a:r>
              <a:rPr lang="en-GB" sz="2400" b="1" dirty="0">
                <a:latin typeface="Times New Roman" panose="02020603050405020304" pitchFamily="18" charset="0"/>
                <a:cs typeface="Times New Roman" panose="02020603050405020304" pitchFamily="18" charset="0"/>
              </a:rPr>
              <a:t>Data-Driven Approach to Movie Success</a:t>
            </a:r>
            <a:endParaRPr sz="2400" b="1" dirty="0">
              <a:latin typeface="Times New Roman" panose="02020603050405020304" pitchFamily="18" charset="0"/>
              <a:cs typeface="Times New Roman" panose="02020603050405020304" pitchFamily="18" charset="0"/>
            </a:endParaRPr>
          </a:p>
        </p:txBody>
      </p:sp>
      <p:sp>
        <p:nvSpPr>
          <p:cNvPr id="12" name="Rounded Rectangle 11"/>
          <p:cNvSpPr/>
          <p:nvPr/>
        </p:nvSpPr>
        <p:spPr>
          <a:xfrm>
            <a:off x="1861369" y="2290782"/>
            <a:ext cx="378064" cy="438129"/>
          </a:xfrm>
          <a:custGeom>
            <a:avLst/>
            <a:gdLst/>
            <a:ahLst/>
            <a:cxnLst/>
            <a:rect l="0" t="0" r="0" b="0"/>
            <a:pathLst>
              <a:path w="378064" h="438129">
                <a:moveTo>
                  <a:pt x="89505" y="317238"/>
                </a:moveTo>
                <a:cubicBezTo>
                  <a:pt x="27015" y="273747"/>
                  <a:pt x="0" y="194719"/>
                  <a:pt x="22790" y="122076"/>
                </a:cubicBezTo>
                <a:cubicBezTo>
                  <a:pt x="45580" y="49433"/>
                  <a:pt x="112898" y="0"/>
                  <a:pt x="189032" y="0"/>
                </a:cubicBezTo>
                <a:cubicBezTo>
                  <a:pt x="265166" y="0"/>
                  <a:pt x="332484" y="49433"/>
                  <a:pt x="355274" y="122076"/>
                </a:cubicBezTo>
                <a:cubicBezTo>
                  <a:pt x="378064" y="194719"/>
                  <a:pt x="351048" y="273747"/>
                  <a:pt x="288558" y="317238"/>
                </a:cubicBezTo>
                <a:moveTo>
                  <a:pt x="332869" y="377493"/>
                </a:moveTo>
                <a:lnTo>
                  <a:pt x="301532" y="377493"/>
                </a:lnTo>
                <a:cubicBezTo>
                  <a:pt x="317447" y="375610"/>
                  <a:pt x="329128" y="361635"/>
                  <a:pt x="328157" y="345638"/>
                </a:cubicBezTo>
                <a:cubicBezTo>
                  <a:pt x="327186" y="329641"/>
                  <a:pt x="313900" y="317182"/>
                  <a:pt x="297874" y="317238"/>
                </a:cubicBezTo>
                <a:lnTo>
                  <a:pt x="74703" y="317238"/>
                </a:lnTo>
                <a:cubicBezTo>
                  <a:pt x="58677" y="317182"/>
                  <a:pt x="45392" y="329641"/>
                  <a:pt x="44421" y="345638"/>
                </a:cubicBezTo>
                <a:cubicBezTo>
                  <a:pt x="43450" y="361635"/>
                  <a:pt x="55130" y="375610"/>
                  <a:pt x="71046" y="377493"/>
                </a:cubicBezTo>
                <a:lnTo>
                  <a:pt x="38661" y="377493"/>
                </a:lnTo>
                <a:cubicBezTo>
                  <a:pt x="22212" y="377905"/>
                  <a:pt x="9093" y="391358"/>
                  <a:pt x="9093" y="407811"/>
                </a:cubicBezTo>
                <a:cubicBezTo>
                  <a:pt x="9093" y="424264"/>
                  <a:pt x="22212" y="437717"/>
                  <a:pt x="38661" y="438129"/>
                </a:cubicBezTo>
                <a:lnTo>
                  <a:pt x="332869" y="438129"/>
                </a:lnTo>
                <a:cubicBezTo>
                  <a:pt x="349317" y="437717"/>
                  <a:pt x="362436" y="424264"/>
                  <a:pt x="362436" y="407811"/>
                </a:cubicBezTo>
                <a:cubicBezTo>
                  <a:pt x="362436" y="391358"/>
                  <a:pt x="349317" y="377905"/>
                  <a:pt x="332869" y="377493"/>
                </a:cubicBezTo>
                <a:close/>
                <a:moveTo>
                  <a:pt x="308180" y="187926"/>
                </a:moveTo>
                <a:cubicBezTo>
                  <a:pt x="308180" y="187926"/>
                  <a:pt x="254211" y="258507"/>
                  <a:pt x="187727" y="258507"/>
                </a:cubicBezTo>
                <a:cubicBezTo>
                  <a:pt x="121242" y="258507"/>
                  <a:pt x="67178" y="188022"/>
                  <a:pt x="67178" y="188022"/>
                </a:cubicBezTo>
                <a:cubicBezTo>
                  <a:pt x="67178" y="188022"/>
                  <a:pt x="121147" y="117537"/>
                  <a:pt x="187727" y="117537"/>
                </a:cubicBezTo>
                <a:cubicBezTo>
                  <a:pt x="254307" y="117537"/>
                  <a:pt x="308180" y="187926"/>
                  <a:pt x="308180" y="187926"/>
                </a:cubicBezTo>
                <a:close/>
                <a:moveTo>
                  <a:pt x="161552" y="187926"/>
                </a:moveTo>
                <a:cubicBezTo>
                  <a:pt x="161549" y="202332"/>
                  <a:pt x="173226" y="214012"/>
                  <a:pt x="187632" y="214012"/>
                </a:cubicBezTo>
                <a:cubicBezTo>
                  <a:pt x="202037" y="214012"/>
                  <a:pt x="213715" y="202332"/>
                  <a:pt x="213711" y="187926"/>
                </a:cubicBezTo>
                <a:cubicBezTo>
                  <a:pt x="213715" y="173520"/>
                  <a:pt x="202037" y="161840"/>
                  <a:pt x="187632" y="161840"/>
                </a:cubicBezTo>
                <a:cubicBezTo>
                  <a:pt x="173226" y="161840"/>
                  <a:pt x="161549" y="173520"/>
                  <a:pt x="161552" y="187926"/>
                </a:cubicBezTo>
                <a:moveTo>
                  <a:pt x="158028" y="377493"/>
                </a:moveTo>
                <a:lnTo>
                  <a:pt x="71046" y="377493"/>
                </a:lnTo>
                <a:moveTo>
                  <a:pt x="187632" y="76922"/>
                </a:moveTo>
                <a:lnTo>
                  <a:pt x="187632" y="50442"/>
                </a:lnTo>
                <a:moveTo>
                  <a:pt x="288216" y="92105"/>
                </a:moveTo>
                <a:lnTo>
                  <a:pt x="269508" y="110831"/>
                </a:lnTo>
                <a:moveTo>
                  <a:pt x="105774" y="110831"/>
                </a:moveTo>
                <a:lnTo>
                  <a:pt x="87048" y="92105"/>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3542965" y="2414587"/>
            <a:ext cx="1515479" cy="276999"/>
          </a:xfrm>
          <a:prstGeom prst="rect">
            <a:avLst/>
          </a:prstGeom>
          <a:noFill/>
          <a:ln>
            <a:noFill/>
          </a:ln>
        </p:spPr>
        <p:txBody>
          <a:bodyPr wrap="none" lIns="0" tIns="0" rIns="0" bIns="0" anchor="t">
            <a:spAutoFit/>
          </a:bodyPr>
          <a:lstStyle/>
          <a:p>
            <a:pPr algn="ctr"/>
            <a:r>
              <a:rPr b="1" dirty="0">
                <a:latin typeface="Times New Roman" panose="02020603050405020304" pitchFamily="18" charset="0"/>
                <a:cs typeface="Times New Roman" panose="02020603050405020304" pitchFamily="18" charset="0"/>
              </a:rPr>
              <a:t>Predict Success</a:t>
            </a:r>
          </a:p>
        </p:txBody>
      </p:sp>
      <p:sp>
        <p:nvSpPr>
          <p:cNvPr id="14" name="TextBox 13"/>
          <p:cNvSpPr txBox="1"/>
          <p:nvPr/>
        </p:nvSpPr>
        <p:spPr>
          <a:xfrm>
            <a:off x="6192352" y="2238374"/>
            <a:ext cx="1692771"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Use features to forecast
movie performance</a:t>
            </a:r>
          </a:p>
        </p:txBody>
      </p:sp>
      <p:sp>
        <p:nvSpPr>
          <p:cNvPr id="15" name="Rounded Rectangle 14"/>
          <p:cNvSpPr/>
          <p:nvPr/>
        </p:nvSpPr>
        <p:spPr>
          <a:xfrm>
            <a:off x="2227723" y="3230269"/>
            <a:ext cx="419987" cy="387934"/>
          </a:xfrm>
          <a:custGeom>
            <a:avLst/>
            <a:gdLst/>
            <a:ahLst/>
            <a:cxnLst/>
            <a:rect l="0" t="0" r="0" b="0"/>
            <a:pathLst>
              <a:path w="419987" h="387934">
                <a:moveTo>
                  <a:pt x="209993" y="92659"/>
                </a:moveTo>
                <a:lnTo>
                  <a:pt x="209993" y="387934"/>
                </a:lnTo>
                <a:moveTo>
                  <a:pt x="162368" y="387934"/>
                </a:moveTo>
                <a:lnTo>
                  <a:pt x="257618" y="387934"/>
                </a:lnTo>
                <a:moveTo>
                  <a:pt x="443" y="273634"/>
                </a:moveTo>
                <a:lnTo>
                  <a:pt x="67118" y="131445"/>
                </a:lnTo>
                <a:lnTo>
                  <a:pt x="133793" y="273634"/>
                </a:lnTo>
                <a:moveTo>
                  <a:pt x="181418" y="64084"/>
                </a:moveTo>
                <a:cubicBezTo>
                  <a:pt x="181418" y="79865"/>
                  <a:pt x="194212" y="92659"/>
                  <a:pt x="209993" y="92659"/>
                </a:cubicBezTo>
                <a:cubicBezTo>
                  <a:pt x="225775" y="92659"/>
                  <a:pt x="238568" y="79865"/>
                  <a:pt x="238568" y="64084"/>
                </a:cubicBezTo>
                <a:cubicBezTo>
                  <a:pt x="238568" y="48302"/>
                  <a:pt x="225775" y="35509"/>
                  <a:pt x="209993" y="35509"/>
                </a:cubicBezTo>
                <a:cubicBezTo>
                  <a:pt x="194212" y="35509"/>
                  <a:pt x="181418" y="48302"/>
                  <a:pt x="181418" y="64084"/>
                </a:cubicBezTo>
                <a:close/>
                <a:moveTo>
                  <a:pt x="67118" y="340309"/>
                </a:moveTo>
                <a:cubicBezTo>
                  <a:pt x="84934" y="340752"/>
                  <a:pt x="102152" y="333870"/>
                  <a:pt x="114753" y="321269"/>
                </a:cubicBezTo>
                <a:cubicBezTo>
                  <a:pt x="127355" y="308667"/>
                  <a:pt x="134237" y="291449"/>
                  <a:pt x="133793" y="273634"/>
                </a:cubicBezTo>
                <a:lnTo>
                  <a:pt x="443" y="273634"/>
                </a:lnTo>
                <a:cubicBezTo>
                  <a:pt x="0" y="291449"/>
                  <a:pt x="6882" y="308667"/>
                  <a:pt x="19483" y="321269"/>
                </a:cubicBezTo>
                <a:cubicBezTo>
                  <a:pt x="32085" y="333870"/>
                  <a:pt x="49303" y="340752"/>
                  <a:pt x="67118" y="340309"/>
                </a:cubicBezTo>
                <a:close/>
                <a:moveTo>
                  <a:pt x="419543" y="159334"/>
                </a:moveTo>
                <a:lnTo>
                  <a:pt x="352868" y="15830"/>
                </a:lnTo>
                <a:lnTo>
                  <a:pt x="286193" y="159334"/>
                </a:lnTo>
                <a:moveTo>
                  <a:pt x="352868" y="226009"/>
                </a:moveTo>
                <a:cubicBezTo>
                  <a:pt x="335053" y="226452"/>
                  <a:pt x="317834" y="219570"/>
                  <a:pt x="305233" y="206969"/>
                </a:cubicBezTo>
                <a:cubicBezTo>
                  <a:pt x="292632" y="194367"/>
                  <a:pt x="285749" y="177149"/>
                  <a:pt x="286193" y="159334"/>
                </a:cubicBezTo>
                <a:lnTo>
                  <a:pt x="419543" y="159334"/>
                </a:lnTo>
                <a:cubicBezTo>
                  <a:pt x="419987" y="177149"/>
                  <a:pt x="413105" y="194367"/>
                  <a:pt x="400503" y="206969"/>
                </a:cubicBezTo>
                <a:cubicBezTo>
                  <a:pt x="387902" y="219570"/>
                  <a:pt x="370684" y="226452"/>
                  <a:pt x="352868" y="226009"/>
                </a:cubicBezTo>
                <a:close/>
                <a:moveTo>
                  <a:pt x="238454" y="62103"/>
                </a:moveTo>
                <a:lnTo>
                  <a:pt x="392016" y="0"/>
                </a:lnTo>
                <a:moveTo>
                  <a:pt x="27990" y="147237"/>
                </a:moveTo>
                <a:lnTo>
                  <a:pt x="188372" y="82353"/>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3384772" y="3328987"/>
            <a:ext cx="1831912" cy="276999"/>
          </a:xfrm>
          <a:prstGeom prst="rect">
            <a:avLst/>
          </a:prstGeom>
          <a:noFill/>
          <a:ln>
            <a:noFill/>
          </a:ln>
        </p:spPr>
        <p:txBody>
          <a:bodyPr wrap="none" lIns="0" tIns="0" rIns="0" bIns="0" anchor="t">
            <a:spAutoFit/>
          </a:bodyPr>
          <a:lstStyle/>
          <a:p>
            <a:pPr algn="ctr"/>
            <a:r>
              <a:rPr b="1" dirty="0">
                <a:latin typeface="Times New Roman" panose="02020603050405020304" pitchFamily="18" charset="0"/>
                <a:cs typeface="Times New Roman" panose="02020603050405020304" pitchFamily="18" charset="0"/>
              </a:rPr>
              <a:t>Compare Features</a:t>
            </a:r>
          </a:p>
        </p:txBody>
      </p:sp>
      <p:sp>
        <p:nvSpPr>
          <p:cNvPr id="17" name="TextBox 16"/>
          <p:cNvSpPr txBox="1"/>
          <p:nvPr/>
        </p:nvSpPr>
        <p:spPr>
          <a:xfrm>
            <a:off x="5820877" y="3152774"/>
            <a:ext cx="1700787"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Evaluate production vs.
audience features</a:t>
            </a:r>
          </a:p>
        </p:txBody>
      </p:sp>
      <p:sp>
        <p:nvSpPr>
          <p:cNvPr id="18" name="Rounded Rectangle 17"/>
          <p:cNvSpPr/>
          <p:nvPr/>
        </p:nvSpPr>
        <p:spPr>
          <a:xfrm>
            <a:off x="2599642" y="4119562"/>
            <a:ext cx="438150" cy="438150"/>
          </a:xfrm>
          <a:custGeom>
            <a:avLst/>
            <a:gdLst/>
            <a:ahLst/>
            <a:cxnLst/>
            <a:rect l="0" t="0" r="0" b="0"/>
            <a:pathLst>
              <a:path w="438150" h="438150">
                <a:moveTo>
                  <a:pt x="303276" y="357187"/>
                </a:moveTo>
                <a:lnTo>
                  <a:pt x="333375" y="387477"/>
                </a:lnTo>
                <a:cubicBezTo>
                  <a:pt x="340805" y="394863"/>
                  <a:pt x="352805" y="394863"/>
                  <a:pt x="360235" y="387477"/>
                </a:cubicBezTo>
                <a:lnTo>
                  <a:pt x="387286" y="360426"/>
                </a:lnTo>
                <a:cubicBezTo>
                  <a:pt x="394672" y="352995"/>
                  <a:pt x="394672" y="340995"/>
                  <a:pt x="387286" y="333565"/>
                </a:cubicBezTo>
                <a:lnTo>
                  <a:pt x="356996" y="303276"/>
                </a:lnTo>
                <a:cubicBezTo>
                  <a:pt x="365744" y="285643"/>
                  <a:pt x="372149" y="266943"/>
                  <a:pt x="376047" y="247650"/>
                </a:cubicBezTo>
                <a:lnTo>
                  <a:pt x="419100" y="247650"/>
                </a:lnTo>
                <a:cubicBezTo>
                  <a:pt x="429621" y="247650"/>
                  <a:pt x="438150" y="239121"/>
                  <a:pt x="438150" y="228600"/>
                </a:cubicBezTo>
                <a:lnTo>
                  <a:pt x="438150" y="209550"/>
                </a:lnTo>
                <a:cubicBezTo>
                  <a:pt x="438150" y="199028"/>
                  <a:pt x="429621" y="190500"/>
                  <a:pt x="419100" y="190500"/>
                </a:cubicBezTo>
                <a:lnTo>
                  <a:pt x="376237" y="190500"/>
                </a:lnTo>
                <a:cubicBezTo>
                  <a:pt x="372339" y="171206"/>
                  <a:pt x="365935" y="152506"/>
                  <a:pt x="357187" y="134874"/>
                </a:cubicBezTo>
                <a:lnTo>
                  <a:pt x="387477" y="104775"/>
                </a:lnTo>
                <a:cubicBezTo>
                  <a:pt x="394863" y="97344"/>
                  <a:pt x="394863" y="85344"/>
                  <a:pt x="387477" y="77914"/>
                </a:cubicBezTo>
                <a:lnTo>
                  <a:pt x="360426" y="50672"/>
                </a:lnTo>
                <a:cubicBezTo>
                  <a:pt x="352995" y="43286"/>
                  <a:pt x="340995" y="43286"/>
                  <a:pt x="333565" y="50672"/>
                </a:cubicBezTo>
                <a:lnTo>
                  <a:pt x="303276" y="80962"/>
                </a:lnTo>
                <a:cubicBezTo>
                  <a:pt x="285643" y="72214"/>
                  <a:pt x="266943" y="65810"/>
                  <a:pt x="247650" y="61912"/>
                </a:cubicBezTo>
                <a:lnTo>
                  <a:pt x="247650" y="19050"/>
                </a:lnTo>
                <a:cubicBezTo>
                  <a:pt x="247650" y="8528"/>
                  <a:pt x="239121" y="0"/>
                  <a:pt x="228600" y="0"/>
                </a:cubicBezTo>
                <a:lnTo>
                  <a:pt x="209550" y="0"/>
                </a:lnTo>
                <a:cubicBezTo>
                  <a:pt x="199028" y="0"/>
                  <a:pt x="190500" y="8528"/>
                  <a:pt x="190500" y="19050"/>
                </a:cubicBezTo>
                <a:lnTo>
                  <a:pt x="190500" y="61912"/>
                </a:lnTo>
                <a:cubicBezTo>
                  <a:pt x="171206" y="65810"/>
                  <a:pt x="152506" y="72214"/>
                  <a:pt x="134873" y="80962"/>
                </a:cubicBezTo>
                <a:lnTo>
                  <a:pt x="104775" y="50672"/>
                </a:lnTo>
                <a:cubicBezTo>
                  <a:pt x="97344" y="43286"/>
                  <a:pt x="85344" y="43286"/>
                  <a:pt x="77914" y="50672"/>
                </a:cubicBezTo>
                <a:lnTo>
                  <a:pt x="50672" y="77724"/>
                </a:lnTo>
                <a:cubicBezTo>
                  <a:pt x="47066" y="81300"/>
                  <a:pt x="45038" y="86170"/>
                  <a:pt x="45038" y="91249"/>
                </a:cubicBezTo>
                <a:cubicBezTo>
                  <a:pt x="45038" y="96328"/>
                  <a:pt x="47066" y="101198"/>
                  <a:pt x="50672" y="104775"/>
                </a:cubicBezTo>
                <a:lnTo>
                  <a:pt x="80962" y="134874"/>
                </a:lnTo>
                <a:cubicBezTo>
                  <a:pt x="72214" y="152506"/>
                  <a:pt x="65810" y="171206"/>
                  <a:pt x="61912" y="190500"/>
                </a:cubicBezTo>
                <a:lnTo>
                  <a:pt x="19050" y="190500"/>
                </a:lnTo>
                <a:cubicBezTo>
                  <a:pt x="8528" y="190500"/>
                  <a:pt x="0" y="199028"/>
                  <a:pt x="0" y="209550"/>
                </a:cubicBezTo>
                <a:lnTo>
                  <a:pt x="0" y="228600"/>
                </a:lnTo>
                <a:cubicBezTo>
                  <a:pt x="0" y="239121"/>
                  <a:pt x="8528" y="247650"/>
                  <a:pt x="19050" y="247650"/>
                </a:cubicBezTo>
                <a:lnTo>
                  <a:pt x="61912" y="247650"/>
                </a:lnTo>
                <a:cubicBezTo>
                  <a:pt x="65810" y="266943"/>
                  <a:pt x="72214" y="285643"/>
                  <a:pt x="80962" y="303276"/>
                </a:cubicBezTo>
                <a:lnTo>
                  <a:pt x="50672" y="333375"/>
                </a:lnTo>
                <a:cubicBezTo>
                  <a:pt x="43286" y="340805"/>
                  <a:pt x="43286" y="352805"/>
                  <a:pt x="50672" y="360235"/>
                </a:cubicBezTo>
                <a:lnTo>
                  <a:pt x="77533" y="387286"/>
                </a:lnTo>
                <a:cubicBezTo>
                  <a:pt x="81110" y="390892"/>
                  <a:pt x="85979" y="392921"/>
                  <a:pt x="91059" y="392921"/>
                </a:cubicBezTo>
                <a:cubicBezTo>
                  <a:pt x="96138" y="392921"/>
                  <a:pt x="101007" y="390892"/>
                  <a:pt x="104584" y="387286"/>
                </a:cubicBezTo>
                <a:lnTo>
                  <a:pt x="134873" y="356997"/>
                </a:lnTo>
                <a:moveTo>
                  <a:pt x="247650" y="381000"/>
                </a:moveTo>
                <a:lnTo>
                  <a:pt x="190500" y="381000"/>
                </a:lnTo>
                <a:moveTo>
                  <a:pt x="190500" y="419100"/>
                </a:moveTo>
                <a:lnTo>
                  <a:pt x="247650" y="419100"/>
                </a:lnTo>
                <a:moveTo>
                  <a:pt x="219075" y="419100"/>
                </a:moveTo>
                <a:lnTo>
                  <a:pt x="219075" y="438150"/>
                </a:lnTo>
                <a:moveTo>
                  <a:pt x="330898" y="219075"/>
                </a:moveTo>
                <a:cubicBezTo>
                  <a:pt x="329215" y="267979"/>
                  <a:pt x="295192" y="309788"/>
                  <a:pt x="247650" y="321373"/>
                </a:cubicBezTo>
                <a:lnTo>
                  <a:pt x="247650" y="342900"/>
                </a:lnTo>
                <a:lnTo>
                  <a:pt x="190500" y="342900"/>
                </a:lnTo>
                <a:lnTo>
                  <a:pt x="190500" y="320611"/>
                </a:lnTo>
                <a:cubicBezTo>
                  <a:pt x="143221" y="309104"/>
                  <a:pt x="109268" y="267692"/>
                  <a:pt x="107251" y="219075"/>
                </a:cubicBezTo>
                <a:cubicBezTo>
                  <a:pt x="109424" y="159365"/>
                  <a:pt x="159350" y="112586"/>
                  <a:pt x="219075" y="114300"/>
                </a:cubicBezTo>
                <a:cubicBezTo>
                  <a:pt x="278799" y="112586"/>
                  <a:pt x="328725" y="159365"/>
                  <a:pt x="330898" y="219075"/>
                </a:cubicBez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3579353" y="4061638"/>
            <a:ext cx="1360146" cy="553998"/>
          </a:xfrm>
          <a:prstGeom prst="rect">
            <a:avLst/>
          </a:prstGeom>
          <a:noFill/>
          <a:ln>
            <a:noFill/>
          </a:ln>
        </p:spPr>
        <p:txBody>
          <a:bodyPr wrap="square" lIns="0" tIns="0" rIns="0" bIns="0" anchor="t">
            <a:spAutoFit/>
          </a:bodyPr>
          <a:lstStyle/>
          <a:p>
            <a:pPr algn="ctr"/>
            <a:r>
              <a:rPr b="1" dirty="0">
                <a:latin typeface="Times New Roman" panose="02020603050405020304" pitchFamily="18" charset="0"/>
                <a:cs typeface="Times New Roman" panose="02020603050405020304" pitchFamily="18" charset="0"/>
              </a:rPr>
              <a:t>Identify Drivers</a:t>
            </a:r>
          </a:p>
        </p:txBody>
      </p:sp>
      <p:sp>
        <p:nvSpPr>
          <p:cNvPr id="20" name="TextBox 19"/>
          <p:cNvSpPr txBox="1"/>
          <p:nvPr/>
        </p:nvSpPr>
        <p:spPr>
          <a:xfrm>
            <a:off x="5430352" y="4067174"/>
            <a:ext cx="1596591"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Determine key factors
influencing success</a:t>
            </a:r>
          </a:p>
        </p:txBody>
      </p:sp>
      <p:pic>
        <p:nvPicPr>
          <p:cNvPr id="22" name="Picture 21">
            <a:extLst>
              <a:ext uri="{FF2B5EF4-FFF2-40B4-BE49-F238E27FC236}">
                <a16:creationId xmlns:a16="http://schemas.microsoft.com/office/drawing/2014/main" id="{61E5D0F6-4217-65EA-EDA7-F76D1D08ADA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10891" y="5140998"/>
            <a:ext cx="1148464" cy="11484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71642" y="2909747"/>
            <a:ext cx="1600200" cy="114300"/>
          </a:xfrm>
          <a:custGeom>
            <a:avLst/>
            <a:gdLst/>
            <a:ahLst/>
            <a:cxnLst/>
            <a:rect l="0" t="0" r="0" b="0"/>
            <a:pathLst>
              <a:path w="1600200" h="114300">
                <a:moveTo>
                  <a:pt x="0" y="0"/>
                </a:moveTo>
                <a:lnTo>
                  <a:pt x="1600200" y="0"/>
                </a:lnTo>
                <a:lnTo>
                  <a:pt x="1600200" y="114300"/>
                </a:lnTo>
                <a:lnTo>
                  <a:pt x="0" y="114300"/>
                </a:lnTo>
                <a:lnTo>
                  <a:pt x="0" y="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2971842" y="2909747"/>
            <a:ext cx="1600200" cy="114300"/>
          </a:xfrm>
          <a:custGeom>
            <a:avLst/>
            <a:gdLst/>
            <a:ahLst/>
            <a:cxnLst/>
            <a:rect l="0" t="0" r="0" b="0"/>
            <a:pathLst>
              <a:path w="1600200" h="114300">
                <a:moveTo>
                  <a:pt x="0" y="0"/>
                </a:moveTo>
                <a:lnTo>
                  <a:pt x="1600200" y="0"/>
                </a:lnTo>
                <a:lnTo>
                  <a:pt x="1600200" y="114300"/>
                </a:lnTo>
                <a:lnTo>
                  <a:pt x="0" y="11430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4572042" y="2909747"/>
            <a:ext cx="1600200" cy="114300"/>
          </a:xfrm>
          <a:custGeom>
            <a:avLst/>
            <a:gdLst/>
            <a:ahLst/>
            <a:cxnLst/>
            <a:rect l="0" t="0" r="0" b="0"/>
            <a:pathLst>
              <a:path w="1600200" h="114300">
                <a:moveTo>
                  <a:pt x="0" y="0"/>
                </a:moveTo>
                <a:lnTo>
                  <a:pt x="1600200" y="0"/>
                </a:lnTo>
                <a:lnTo>
                  <a:pt x="1600200" y="114300"/>
                </a:lnTo>
                <a:lnTo>
                  <a:pt x="0" y="11430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172242" y="2847834"/>
            <a:ext cx="1600200" cy="238125"/>
          </a:xfrm>
          <a:custGeom>
            <a:avLst/>
            <a:gdLst/>
            <a:ahLst/>
            <a:cxnLst/>
            <a:rect l="0" t="0" r="0" b="0"/>
            <a:pathLst>
              <a:path w="1600200" h="238125">
                <a:moveTo>
                  <a:pt x="0" y="61912"/>
                </a:moveTo>
                <a:lnTo>
                  <a:pt x="1426028" y="61912"/>
                </a:lnTo>
                <a:lnTo>
                  <a:pt x="1426028" y="0"/>
                </a:lnTo>
                <a:lnTo>
                  <a:pt x="1600200" y="119062"/>
                </a:lnTo>
                <a:lnTo>
                  <a:pt x="1426028" y="238125"/>
                </a:lnTo>
                <a:lnTo>
                  <a:pt x="1426028" y="176212"/>
                </a:lnTo>
                <a:lnTo>
                  <a:pt x="0" y="176212"/>
                </a:lnTo>
                <a:lnTo>
                  <a:pt x="0" y="61912"/>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950455" y="1094772"/>
            <a:ext cx="4042773"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Data Collection &amp; Integration:</a:t>
            </a:r>
            <a:endParaRPr sz="2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567423" y="2066784"/>
            <a:ext cx="1208665"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Ratings and vote
counts</a:t>
            </a:r>
          </a:p>
        </p:txBody>
      </p:sp>
      <p:sp>
        <p:nvSpPr>
          <p:cNvPr id="8" name="TextBox 7"/>
          <p:cNvSpPr txBox="1"/>
          <p:nvPr/>
        </p:nvSpPr>
        <p:spPr>
          <a:xfrm>
            <a:off x="3182871" y="2066784"/>
            <a:ext cx="1178208"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User ratings and
activity</a:t>
            </a:r>
          </a:p>
        </p:txBody>
      </p:sp>
      <p:sp>
        <p:nvSpPr>
          <p:cNvPr id="9" name="TextBox 8"/>
          <p:cNvSpPr txBox="1"/>
          <p:nvPr/>
        </p:nvSpPr>
        <p:spPr>
          <a:xfrm>
            <a:off x="4682254" y="2066784"/>
            <a:ext cx="1379737"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Budget, popularity,
release data</a:t>
            </a:r>
          </a:p>
        </p:txBody>
      </p:sp>
      <p:sp>
        <p:nvSpPr>
          <p:cNvPr id="10" name="TextBox 9"/>
          <p:cNvSpPr txBox="1"/>
          <p:nvPr/>
        </p:nvSpPr>
        <p:spPr>
          <a:xfrm>
            <a:off x="6394429" y="2238234"/>
            <a:ext cx="1155766" cy="215444"/>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~36,000 movies</a:t>
            </a:r>
          </a:p>
        </p:txBody>
      </p:sp>
      <p:sp>
        <p:nvSpPr>
          <p:cNvPr id="11" name="TextBox 10"/>
          <p:cNvSpPr txBox="1"/>
          <p:nvPr/>
        </p:nvSpPr>
        <p:spPr>
          <a:xfrm>
            <a:off x="1904069" y="2528747"/>
            <a:ext cx="535404"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IMDb</a:t>
            </a:r>
          </a:p>
        </p:txBody>
      </p:sp>
      <p:sp>
        <p:nvSpPr>
          <p:cNvPr id="12" name="TextBox 11"/>
          <p:cNvSpPr txBox="1"/>
          <p:nvPr/>
        </p:nvSpPr>
        <p:spPr>
          <a:xfrm>
            <a:off x="3287057" y="2528747"/>
            <a:ext cx="969817"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MovieLens</a:t>
            </a:r>
          </a:p>
        </p:txBody>
      </p:sp>
      <p:sp>
        <p:nvSpPr>
          <p:cNvPr id="13" name="TextBox 12"/>
          <p:cNvSpPr txBox="1"/>
          <p:nvPr/>
        </p:nvSpPr>
        <p:spPr>
          <a:xfrm>
            <a:off x="5065186" y="2528747"/>
            <a:ext cx="613951"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TMDB</a:t>
            </a:r>
          </a:p>
        </p:txBody>
      </p:sp>
      <p:sp>
        <p:nvSpPr>
          <p:cNvPr id="14" name="TextBox 13"/>
          <p:cNvSpPr txBox="1"/>
          <p:nvPr/>
        </p:nvSpPr>
        <p:spPr>
          <a:xfrm>
            <a:off x="6404073" y="2528747"/>
            <a:ext cx="1136530"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Final dataset</a:t>
            </a:r>
          </a:p>
        </p:txBody>
      </p:sp>
      <p:sp>
        <p:nvSpPr>
          <p:cNvPr id="16" name="TextBox 15">
            <a:extLst>
              <a:ext uri="{FF2B5EF4-FFF2-40B4-BE49-F238E27FC236}">
                <a16:creationId xmlns:a16="http://schemas.microsoft.com/office/drawing/2014/main" id="{A6200EF8-DD22-56E9-3028-D53B69386223}"/>
              </a:ext>
            </a:extLst>
          </p:cNvPr>
          <p:cNvSpPr txBox="1"/>
          <p:nvPr/>
        </p:nvSpPr>
        <p:spPr>
          <a:xfrm>
            <a:off x="885144" y="3531106"/>
            <a:ext cx="5769698" cy="1138773"/>
          </a:xfrm>
          <a:prstGeom prst="rect">
            <a:avLst/>
          </a:prstGeom>
          <a:noFill/>
        </p:spPr>
        <p:txBody>
          <a:bodyPr wrap="square">
            <a:spAutoFit/>
          </a:bodyPr>
          <a:lstStyle/>
          <a:p>
            <a:pPr marL="28575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Combined multiple datasets for a comprehensive view</a:t>
            </a:r>
          </a:p>
          <a:p>
            <a:pPr marL="28575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Captures both production and audience behaviour</a:t>
            </a:r>
          </a:p>
          <a:p>
            <a:pPr marL="28575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Ensures better prediction accuracy</a:t>
            </a:r>
          </a:p>
          <a:p>
            <a:pPr marL="28575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Final dataset includes ~36,000 movies</a:t>
            </a:r>
          </a:p>
        </p:txBody>
      </p:sp>
      <p:pic>
        <p:nvPicPr>
          <p:cNvPr id="17" name="Picture 16">
            <a:extLst>
              <a:ext uri="{FF2B5EF4-FFF2-40B4-BE49-F238E27FC236}">
                <a16:creationId xmlns:a16="http://schemas.microsoft.com/office/drawing/2014/main" id="{CE33FDD1-1654-CFAE-2080-169E4C3F1EB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85487" y="5132755"/>
            <a:ext cx="1148464" cy="1148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768904" y="3476113"/>
            <a:ext cx="5829300" cy="685800"/>
          </a:xfrm>
          <a:custGeom>
            <a:avLst/>
            <a:gdLst/>
            <a:ahLst/>
            <a:cxnLst/>
            <a:rect l="0" t="0" r="0" b="0"/>
            <a:pathLst>
              <a:path w="5829300" h="685800">
                <a:moveTo>
                  <a:pt x="2914650" y="0"/>
                </a:moveTo>
                <a:lnTo>
                  <a:pt x="2914650" y="457200"/>
                </a:lnTo>
                <a:moveTo>
                  <a:pt x="2914650" y="457200"/>
                </a:moveTo>
                <a:lnTo>
                  <a:pt x="0" y="457200"/>
                </a:lnTo>
                <a:lnTo>
                  <a:pt x="0" y="685800"/>
                </a:lnTo>
                <a:moveTo>
                  <a:pt x="2914650" y="457200"/>
                </a:moveTo>
                <a:lnTo>
                  <a:pt x="5829300" y="457200"/>
                </a:lnTo>
                <a:lnTo>
                  <a:pt x="5829300" y="685800"/>
                </a:lnTo>
                <a:moveTo>
                  <a:pt x="3886200" y="685800"/>
                </a:moveTo>
                <a:lnTo>
                  <a:pt x="3886200" y="457200"/>
                </a:lnTo>
                <a:moveTo>
                  <a:pt x="1943100" y="457200"/>
                </a:moveTo>
                <a:lnTo>
                  <a:pt x="194310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3883454" y="1875913"/>
            <a:ext cx="1600200" cy="1600200"/>
          </a:xfrm>
          <a:custGeom>
            <a:avLst/>
            <a:gdLst/>
            <a:ahLst/>
            <a:cxnLst/>
            <a:rect l="0" t="0" r="0" b="0"/>
            <a:pathLst>
              <a:path w="1600200" h="1600200">
                <a:moveTo>
                  <a:pt x="1600200" y="800100"/>
                </a:moveTo>
                <a:cubicBezTo>
                  <a:pt x="1600200" y="1241982"/>
                  <a:pt x="1241982" y="1600200"/>
                  <a:pt x="800100" y="1600200"/>
                </a:cubicBezTo>
                <a:cubicBezTo>
                  <a:pt x="358217" y="1600200"/>
                  <a:pt x="0" y="1241982"/>
                  <a:pt x="0" y="800100"/>
                </a:cubicBezTo>
                <a:cubicBezTo>
                  <a:pt x="0" y="358217"/>
                  <a:pt x="358217" y="0"/>
                  <a:pt x="800100" y="0"/>
                </a:cubicBezTo>
                <a:cubicBezTo>
                  <a:pt x="1241982" y="0"/>
                  <a:pt x="1600200" y="358217"/>
                  <a:pt x="1600200" y="800100"/>
                </a:cubicBezTo>
                <a:close/>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 name="Group 5"/>
          <p:cNvGrpSpPr/>
          <p:nvPr/>
        </p:nvGrpSpPr>
        <p:grpSpPr>
          <a:xfrm>
            <a:off x="2854754" y="2333113"/>
            <a:ext cx="3657600" cy="685800"/>
            <a:chOff x="2041103" y="1543050"/>
            <a:chExt cx="3657600" cy="685800"/>
          </a:xfrm>
        </p:grpSpPr>
        <p:sp>
          <p:nvSpPr>
            <p:cNvPr id="4" name="Rounded Rectangle 3"/>
            <p:cNvSpPr/>
            <p:nvPr/>
          </p:nvSpPr>
          <p:spPr>
            <a:xfrm>
              <a:off x="5012903"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2041103"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7" name="TextBox 6"/>
          <p:cNvSpPr txBox="1"/>
          <p:nvPr/>
        </p:nvSpPr>
        <p:spPr>
          <a:xfrm>
            <a:off x="973959" y="1005034"/>
            <a:ext cx="4973414" cy="369332"/>
          </a:xfrm>
          <a:prstGeom prst="rect">
            <a:avLst/>
          </a:prstGeom>
          <a:noFill/>
          <a:ln>
            <a:noFill/>
          </a:ln>
        </p:spPr>
        <p:txBody>
          <a:bodyPr wrap="none" lIns="0" tIns="0" rIns="0" bIns="0" anchor="t">
            <a:spAutoFit/>
          </a:bodyPr>
          <a:lstStyle/>
          <a:p>
            <a:pPr algn="ctr"/>
            <a:r>
              <a:rPr sz="2400" b="1" dirty="0">
                <a:latin typeface="Times New Roman" panose="02020603050405020304" pitchFamily="18" charset="0"/>
                <a:cs typeface="Times New Roman" panose="02020603050405020304" pitchFamily="18" charset="0"/>
              </a:rPr>
              <a:t>Data Preprocessing for Movie Success</a:t>
            </a:r>
          </a:p>
        </p:txBody>
      </p:sp>
      <p:sp>
        <p:nvSpPr>
          <p:cNvPr id="8" name="TextBox 7"/>
          <p:cNvSpPr txBox="1"/>
          <p:nvPr/>
        </p:nvSpPr>
        <p:spPr>
          <a:xfrm>
            <a:off x="1137140" y="2352163"/>
            <a:ext cx="1469954" cy="246221"/>
          </a:xfrm>
          <a:prstGeom prst="rect">
            <a:avLst/>
          </a:prstGeom>
          <a:noFill/>
          <a:ln>
            <a:noFill/>
          </a:ln>
        </p:spPr>
        <p:txBody>
          <a:bodyPr wrap="none" lIns="0" tIns="0" rIns="0" bIns="0" anchor="t">
            <a:spAutoFit/>
          </a:bodyPr>
          <a:lstStyle/>
          <a:p>
            <a:pPr algn="r"/>
            <a:r>
              <a:rPr sz="1600" b="1" dirty="0">
                <a:latin typeface="Times New Roman" panose="02020603050405020304" pitchFamily="18" charset="0"/>
                <a:cs typeface="Times New Roman" panose="02020603050405020304" pitchFamily="18" charset="0"/>
              </a:rPr>
              <a:t>Raw Movie Data</a:t>
            </a:r>
          </a:p>
        </p:txBody>
      </p:sp>
      <p:sp>
        <p:nvSpPr>
          <p:cNvPr id="9" name="Rounded Rectangle 8"/>
          <p:cNvSpPr/>
          <p:nvPr/>
        </p:nvSpPr>
        <p:spPr>
          <a:xfrm>
            <a:off x="2981074" y="2456938"/>
            <a:ext cx="433120" cy="438150"/>
          </a:xfrm>
          <a:custGeom>
            <a:avLst/>
            <a:gdLst/>
            <a:ahLst/>
            <a:cxnLst/>
            <a:rect l="0" t="0" r="0" b="0"/>
            <a:pathLst>
              <a:path w="433120" h="438150">
                <a:moveTo>
                  <a:pt x="285750" y="171450"/>
                </a:moveTo>
                <a:lnTo>
                  <a:pt x="285750" y="19050"/>
                </a:lnTo>
                <a:cubicBezTo>
                  <a:pt x="285750" y="8528"/>
                  <a:pt x="277221" y="0"/>
                  <a:pt x="266700" y="0"/>
                </a:cubicBezTo>
                <a:lnTo>
                  <a:pt x="19050" y="0"/>
                </a:lnTo>
                <a:cubicBezTo>
                  <a:pt x="8528" y="0"/>
                  <a:pt x="0" y="8528"/>
                  <a:pt x="0" y="19050"/>
                </a:cubicBezTo>
                <a:lnTo>
                  <a:pt x="0" y="361950"/>
                </a:lnTo>
                <a:cubicBezTo>
                  <a:pt x="0" y="372471"/>
                  <a:pt x="8528" y="381000"/>
                  <a:pt x="19050" y="381000"/>
                </a:cubicBezTo>
                <a:lnTo>
                  <a:pt x="161658" y="381000"/>
                </a:lnTo>
                <a:moveTo>
                  <a:pt x="228600" y="0"/>
                </a:moveTo>
                <a:lnTo>
                  <a:pt x="228600" y="152400"/>
                </a:lnTo>
                <a:lnTo>
                  <a:pt x="57150" y="152400"/>
                </a:lnTo>
                <a:lnTo>
                  <a:pt x="57150" y="0"/>
                </a:lnTo>
                <a:moveTo>
                  <a:pt x="57150" y="76200"/>
                </a:moveTo>
                <a:lnTo>
                  <a:pt x="0" y="76200"/>
                </a:lnTo>
                <a:moveTo>
                  <a:pt x="57150" y="152400"/>
                </a:moveTo>
                <a:lnTo>
                  <a:pt x="0" y="152400"/>
                </a:lnTo>
                <a:moveTo>
                  <a:pt x="285750" y="76200"/>
                </a:moveTo>
                <a:lnTo>
                  <a:pt x="228600" y="76200"/>
                </a:lnTo>
                <a:moveTo>
                  <a:pt x="285750" y="152400"/>
                </a:moveTo>
                <a:lnTo>
                  <a:pt x="228600" y="152400"/>
                </a:lnTo>
                <a:moveTo>
                  <a:pt x="187852" y="228600"/>
                </a:moveTo>
                <a:lnTo>
                  <a:pt x="57150" y="228600"/>
                </a:lnTo>
                <a:lnTo>
                  <a:pt x="57150" y="381000"/>
                </a:lnTo>
                <a:moveTo>
                  <a:pt x="57150" y="228600"/>
                </a:moveTo>
                <a:lnTo>
                  <a:pt x="0" y="228600"/>
                </a:lnTo>
                <a:moveTo>
                  <a:pt x="57150" y="304800"/>
                </a:moveTo>
                <a:lnTo>
                  <a:pt x="0" y="304800"/>
                </a:lnTo>
                <a:moveTo>
                  <a:pt x="375970" y="285750"/>
                </a:moveTo>
                <a:lnTo>
                  <a:pt x="261670" y="285750"/>
                </a:lnTo>
                <a:moveTo>
                  <a:pt x="318820" y="257175"/>
                </a:moveTo>
                <a:lnTo>
                  <a:pt x="318820" y="285750"/>
                </a:lnTo>
                <a:moveTo>
                  <a:pt x="349929" y="285750"/>
                </a:moveTo>
                <a:cubicBezTo>
                  <a:pt x="349929" y="285750"/>
                  <a:pt x="342195" y="371475"/>
                  <a:pt x="264204" y="371475"/>
                </a:cubicBezTo>
                <a:moveTo>
                  <a:pt x="373379" y="371475"/>
                </a:moveTo>
                <a:cubicBezTo>
                  <a:pt x="339599" y="371587"/>
                  <a:pt x="309466" y="350259"/>
                  <a:pt x="298342" y="318363"/>
                </a:cubicBezTo>
                <a:moveTo>
                  <a:pt x="318820" y="438150"/>
                </a:moveTo>
                <a:cubicBezTo>
                  <a:pt x="381946" y="438150"/>
                  <a:pt x="433120" y="386976"/>
                  <a:pt x="433120" y="323850"/>
                </a:cubicBezTo>
                <a:cubicBezTo>
                  <a:pt x="433120" y="260723"/>
                  <a:pt x="381946" y="209550"/>
                  <a:pt x="318820" y="209550"/>
                </a:cubicBezTo>
                <a:cubicBezTo>
                  <a:pt x="255694" y="209550"/>
                  <a:pt x="204520" y="260723"/>
                  <a:pt x="204520" y="323850"/>
                </a:cubicBezTo>
                <a:cubicBezTo>
                  <a:pt x="204520" y="386976"/>
                  <a:pt x="255694" y="438150"/>
                  <a:pt x="318820" y="438150"/>
                </a:cubicBez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961634" y="2461700"/>
            <a:ext cx="415640" cy="428625"/>
          </a:xfrm>
          <a:custGeom>
            <a:avLst/>
            <a:gdLst/>
            <a:ahLst/>
            <a:cxnLst/>
            <a:rect l="0" t="0" r="0" b="0"/>
            <a:pathLst>
              <a:path w="415640" h="428625">
                <a:moveTo>
                  <a:pt x="0" y="334047"/>
                </a:moveTo>
                <a:cubicBezTo>
                  <a:pt x="46287" y="324743"/>
                  <a:pt x="83553" y="287022"/>
                  <a:pt x="92873" y="239538"/>
                </a:cubicBezTo>
                <a:cubicBezTo>
                  <a:pt x="102192" y="287022"/>
                  <a:pt x="139450" y="324743"/>
                  <a:pt x="185737" y="334047"/>
                </a:cubicBezTo>
                <a:moveTo>
                  <a:pt x="185737" y="334102"/>
                </a:moveTo>
                <a:cubicBezTo>
                  <a:pt x="139450" y="343406"/>
                  <a:pt x="102183" y="381127"/>
                  <a:pt x="92864" y="428611"/>
                </a:cubicBezTo>
                <a:cubicBezTo>
                  <a:pt x="83544" y="381127"/>
                  <a:pt x="46287" y="343406"/>
                  <a:pt x="0" y="334102"/>
                </a:cubicBezTo>
                <a:moveTo>
                  <a:pt x="176101" y="428625"/>
                </a:moveTo>
                <a:lnTo>
                  <a:pt x="377540" y="428625"/>
                </a:lnTo>
                <a:cubicBezTo>
                  <a:pt x="398580" y="428625"/>
                  <a:pt x="415640" y="411567"/>
                  <a:pt x="415640" y="390525"/>
                </a:cubicBezTo>
                <a:lnTo>
                  <a:pt x="415640" y="140417"/>
                </a:lnTo>
                <a:cubicBezTo>
                  <a:pt x="415638" y="132844"/>
                  <a:pt x="412630" y="125581"/>
                  <a:pt x="407277" y="120224"/>
                </a:cubicBezTo>
                <a:lnTo>
                  <a:pt x="295415" y="8362"/>
                </a:lnTo>
                <a:cubicBezTo>
                  <a:pt x="290058" y="3009"/>
                  <a:pt x="282794" y="1"/>
                  <a:pt x="275222" y="0"/>
                </a:cubicBezTo>
                <a:lnTo>
                  <a:pt x="72739" y="0"/>
                </a:lnTo>
                <a:cubicBezTo>
                  <a:pt x="57175" y="0"/>
                  <a:pt x="44164" y="13011"/>
                  <a:pt x="44164" y="28575"/>
                </a:cubicBezTo>
                <a:lnTo>
                  <a:pt x="44164" y="188926"/>
                </a:lnTo>
                <a:moveTo>
                  <a:pt x="415640" y="142875"/>
                </a:moveTo>
                <a:lnTo>
                  <a:pt x="301340" y="142875"/>
                </a:lnTo>
                <a:cubicBezTo>
                  <a:pt x="293762" y="142875"/>
                  <a:pt x="286492" y="139864"/>
                  <a:pt x="281133" y="134505"/>
                </a:cubicBezTo>
                <a:cubicBezTo>
                  <a:pt x="275775" y="129146"/>
                  <a:pt x="272765" y="121878"/>
                  <a:pt x="272765" y="114300"/>
                </a:cubicBezTo>
                <a:lnTo>
                  <a:pt x="272765"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6760004" y="2352163"/>
            <a:ext cx="1585370"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Clean Movie Data</a:t>
            </a:r>
          </a:p>
        </p:txBody>
      </p:sp>
      <p:sp>
        <p:nvSpPr>
          <p:cNvPr id="12" name="TextBox 11"/>
          <p:cNvSpPr txBox="1"/>
          <p:nvPr/>
        </p:nvSpPr>
        <p:spPr>
          <a:xfrm>
            <a:off x="4070875" y="2466463"/>
            <a:ext cx="1225272"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Data
Preprocessing</a:t>
            </a:r>
          </a:p>
        </p:txBody>
      </p:sp>
      <p:sp>
        <p:nvSpPr>
          <p:cNvPr id="13" name="TextBox 12"/>
          <p:cNvSpPr txBox="1"/>
          <p:nvPr/>
        </p:nvSpPr>
        <p:spPr>
          <a:xfrm>
            <a:off x="1166013" y="2690300"/>
            <a:ext cx="1441100" cy="430887"/>
          </a:xfrm>
          <a:prstGeom prst="rect">
            <a:avLst/>
          </a:prstGeom>
          <a:noFill/>
          <a:ln>
            <a:noFill/>
          </a:ln>
        </p:spPr>
        <p:txBody>
          <a:bodyPr wrap="none" lIns="0" tIns="0" rIns="0" bIns="0" anchor="t">
            <a:spAutoFit/>
          </a:bodyPr>
          <a:lstStyle/>
          <a:p>
            <a:pPr algn="r"/>
            <a:r>
              <a:rPr sz="1400" b="0" dirty="0">
                <a:latin typeface="Times New Roman" panose="02020603050405020304" pitchFamily="18" charset="0"/>
                <a:cs typeface="Times New Roman" panose="02020603050405020304" pitchFamily="18" charset="0"/>
              </a:rPr>
              <a:t>Inaccurate and
unreliable modeling</a:t>
            </a:r>
          </a:p>
        </p:txBody>
      </p:sp>
      <p:sp>
        <p:nvSpPr>
          <p:cNvPr id="14" name="TextBox 13"/>
          <p:cNvSpPr txBox="1"/>
          <p:nvPr/>
        </p:nvSpPr>
        <p:spPr>
          <a:xfrm>
            <a:off x="6760004" y="2690300"/>
            <a:ext cx="1537280"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Accurate and reliable
modeling</a:t>
            </a:r>
          </a:p>
        </p:txBody>
      </p:sp>
      <p:sp>
        <p:nvSpPr>
          <p:cNvPr id="15" name="TextBox 14"/>
          <p:cNvSpPr txBox="1"/>
          <p:nvPr/>
        </p:nvSpPr>
        <p:spPr>
          <a:xfrm>
            <a:off x="950561" y="4290500"/>
            <a:ext cx="1636666"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Remove invalid movie
entries</a:t>
            </a:r>
          </a:p>
        </p:txBody>
      </p:sp>
      <p:sp>
        <p:nvSpPr>
          <p:cNvPr id="16" name="TextBox 15"/>
          <p:cNvSpPr txBox="1"/>
          <p:nvPr/>
        </p:nvSpPr>
        <p:spPr>
          <a:xfrm>
            <a:off x="3069170" y="4290500"/>
            <a:ext cx="1285608"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Impute or remove
missing data</a:t>
            </a:r>
          </a:p>
        </p:txBody>
      </p:sp>
      <p:sp>
        <p:nvSpPr>
          <p:cNvPr id="17" name="TextBox 16"/>
          <p:cNvSpPr txBox="1"/>
          <p:nvPr/>
        </p:nvSpPr>
        <p:spPr>
          <a:xfrm>
            <a:off x="4815103" y="4290500"/>
            <a:ext cx="1680076"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Transform skewed data
for accuracy</a:t>
            </a:r>
          </a:p>
        </p:txBody>
      </p:sp>
      <p:sp>
        <p:nvSpPr>
          <p:cNvPr id="18" name="TextBox 17"/>
          <p:cNvSpPr txBox="1"/>
          <p:nvPr/>
        </p:nvSpPr>
        <p:spPr>
          <a:xfrm>
            <a:off x="6914475" y="4290500"/>
            <a:ext cx="1367362"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Create new movie-
related features</a:t>
            </a:r>
          </a:p>
        </p:txBody>
      </p:sp>
      <p:pic>
        <p:nvPicPr>
          <p:cNvPr id="20" name="Picture 19">
            <a:extLst>
              <a:ext uri="{FF2B5EF4-FFF2-40B4-BE49-F238E27FC236}">
                <a16:creationId xmlns:a16="http://schemas.microsoft.com/office/drawing/2014/main" id="{C937F4D0-393C-E504-6840-608A19FED1A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62122" y="5187881"/>
            <a:ext cx="1148464" cy="1148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56538" y="1916712"/>
            <a:ext cx="4839273" cy="685800"/>
            <a:chOff x="238125" y="1200150"/>
            <a:chExt cx="4839273" cy="685800"/>
          </a:xfrm>
        </p:grpSpPr>
        <p:sp>
          <p:nvSpPr>
            <p:cNvPr id="2" name="Rounded Rectangle 1"/>
            <p:cNvSpPr/>
            <p:nvPr/>
          </p:nvSpPr>
          <p:spPr>
            <a:xfrm>
              <a:off x="1099711" y="1200150"/>
              <a:ext cx="3977687" cy="685800"/>
            </a:xfrm>
            <a:custGeom>
              <a:avLst/>
              <a:gdLst/>
              <a:ahLst/>
              <a:cxnLst/>
              <a:rect l="0" t="0" r="0" b="0"/>
              <a:pathLst>
                <a:path w="3977687" h="685800">
                  <a:moveTo>
                    <a:pt x="3658174" y="0"/>
                  </a:moveTo>
                  <a:lnTo>
                    <a:pt x="3886311" y="0"/>
                  </a:lnTo>
                  <a:cubicBezTo>
                    <a:pt x="3940807" y="0"/>
                    <a:pt x="3977687" y="55544"/>
                    <a:pt x="3956539" y="105769"/>
                  </a:cubicBezTo>
                  <a:lnTo>
                    <a:pt x="3731950" y="639169"/>
                  </a:lnTo>
                  <a:cubicBezTo>
                    <a:pt x="3720052" y="667426"/>
                    <a:pt x="3692380" y="685800"/>
                    <a:pt x="3661721" y="685800"/>
                  </a:cubicBezTo>
                  <a:lnTo>
                    <a:pt x="3658174" y="685800"/>
                  </a:lnTo>
                  <a:moveTo>
                    <a:pt x="319513" y="685800"/>
                  </a:moveTo>
                  <a:lnTo>
                    <a:pt x="3658174" y="685800"/>
                  </a:lnTo>
                  <a:moveTo>
                    <a:pt x="319513" y="0"/>
                  </a:moveTo>
                  <a:lnTo>
                    <a:pt x="3658174" y="0"/>
                  </a:lnTo>
                  <a:moveTo>
                    <a:pt x="319513" y="685800"/>
                  </a:moveTo>
                  <a:lnTo>
                    <a:pt x="315966" y="685800"/>
                  </a:lnTo>
                  <a:cubicBezTo>
                    <a:pt x="285307" y="685800"/>
                    <a:pt x="257635" y="667426"/>
                    <a:pt x="245737" y="639169"/>
                  </a:cubicBezTo>
                  <a:lnTo>
                    <a:pt x="21147" y="105770"/>
                  </a:lnTo>
                  <a:cubicBezTo>
                    <a:pt x="0" y="55544"/>
                    <a:pt x="36879" y="0"/>
                    <a:pt x="91376" y="0"/>
                  </a:cubicBezTo>
                  <a:lnTo>
                    <a:pt x="319513"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238125" y="12001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7" name="Group 6"/>
          <p:cNvGrpSpPr/>
          <p:nvPr/>
        </p:nvGrpSpPr>
        <p:grpSpPr>
          <a:xfrm>
            <a:off x="1937538" y="2831112"/>
            <a:ext cx="4069252" cy="685800"/>
            <a:chOff x="619125" y="2114550"/>
            <a:chExt cx="4069252" cy="685800"/>
          </a:xfrm>
        </p:grpSpPr>
        <p:sp>
          <p:nvSpPr>
            <p:cNvPr id="5" name="Rounded Rectangle 4"/>
            <p:cNvSpPr/>
            <p:nvPr/>
          </p:nvSpPr>
          <p:spPr>
            <a:xfrm>
              <a:off x="1480700" y="2114550"/>
              <a:ext cx="3207677" cy="685800"/>
            </a:xfrm>
            <a:custGeom>
              <a:avLst/>
              <a:gdLst/>
              <a:ahLst/>
              <a:cxnLst/>
              <a:rect l="0" t="0" r="0" b="0"/>
              <a:pathLst>
                <a:path w="3207677" h="685800">
                  <a:moveTo>
                    <a:pt x="2896185" y="685800"/>
                  </a:moveTo>
                  <a:cubicBezTo>
                    <a:pt x="2924132" y="685800"/>
                    <a:pt x="2949358" y="669050"/>
                    <a:pt x="2960203" y="643292"/>
                  </a:cubicBezTo>
                  <a:lnTo>
                    <a:pt x="3186530" y="105770"/>
                  </a:lnTo>
                  <a:cubicBezTo>
                    <a:pt x="3207677" y="55544"/>
                    <a:pt x="3170797" y="0"/>
                    <a:pt x="3116301" y="0"/>
                  </a:cubicBezTo>
                  <a:lnTo>
                    <a:pt x="2896185" y="0"/>
                  </a:lnTo>
                  <a:moveTo>
                    <a:pt x="318915" y="0"/>
                  </a:moveTo>
                  <a:lnTo>
                    <a:pt x="2896197" y="0"/>
                  </a:lnTo>
                  <a:moveTo>
                    <a:pt x="2896197" y="685800"/>
                  </a:moveTo>
                  <a:lnTo>
                    <a:pt x="318915" y="685800"/>
                  </a:lnTo>
                  <a:lnTo>
                    <a:pt x="315989" y="685800"/>
                  </a:lnTo>
                  <a:moveTo>
                    <a:pt x="319513" y="685800"/>
                  </a:moveTo>
                  <a:lnTo>
                    <a:pt x="315966" y="685800"/>
                  </a:lnTo>
                  <a:cubicBezTo>
                    <a:pt x="285307" y="685800"/>
                    <a:pt x="257634" y="667426"/>
                    <a:pt x="245737" y="639170"/>
                  </a:cubicBezTo>
                  <a:lnTo>
                    <a:pt x="21147" y="105770"/>
                  </a:lnTo>
                  <a:cubicBezTo>
                    <a:pt x="0" y="55544"/>
                    <a:pt x="36879" y="0"/>
                    <a:pt x="91376" y="0"/>
                  </a:cubicBezTo>
                  <a:lnTo>
                    <a:pt x="319513"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p:cNvSpPr/>
            <p:nvPr/>
          </p:nvSpPr>
          <p:spPr>
            <a:xfrm>
              <a:off x="619125" y="21145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10" name="Group 9"/>
          <p:cNvGrpSpPr/>
          <p:nvPr/>
        </p:nvGrpSpPr>
        <p:grpSpPr>
          <a:xfrm>
            <a:off x="2328063" y="3745512"/>
            <a:ext cx="3299239" cy="685800"/>
            <a:chOff x="1009650" y="3028950"/>
            <a:chExt cx="3299239" cy="685800"/>
          </a:xfrm>
        </p:grpSpPr>
        <p:sp>
          <p:nvSpPr>
            <p:cNvPr id="8" name="Rounded Rectangle 7"/>
            <p:cNvSpPr/>
            <p:nvPr/>
          </p:nvSpPr>
          <p:spPr>
            <a:xfrm>
              <a:off x="1871225" y="3028950"/>
              <a:ext cx="2437664" cy="685800"/>
            </a:xfrm>
            <a:custGeom>
              <a:avLst/>
              <a:gdLst/>
              <a:ahLst/>
              <a:cxnLst/>
              <a:rect l="0" t="0" r="0" b="0"/>
              <a:pathLst>
                <a:path w="2437664" h="685800">
                  <a:moveTo>
                    <a:pt x="309980" y="685800"/>
                  </a:moveTo>
                  <a:cubicBezTo>
                    <a:pt x="279321" y="685800"/>
                    <a:pt x="257635" y="667426"/>
                    <a:pt x="245737" y="639170"/>
                  </a:cubicBezTo>
                  <a:lnTo>
                    <a:pt x="21147" y="105770"/>
                  </a:lnTo>
                  <a:cubicBezTo>
                    <a:pt x="0" y="55544"/>
                    <a:pt x="36879" y="0"/>
                    <a:pt x="91376" y="0"/>
                  </a:cubicBezTo>
                  <a:lnTo>
                    <a:pt x="309980" y="0"/>
                  </a:lnTo>
                  <a:moveTo>
                    <a:pt x="2124660" y="685800"/>
                  </a:moveTo>
                  <a:lnTo>
                    <a:pt x="309999" y="685800"/>
                  </a:lnTo>
                  <a:moveTo>
                    <a:pt x="2124660" y="0"/>
                  </a:moveTo>
                  <a:lnTo>
                    <a:pt x="309999" y="0"/>
                  </a:lnTo>
                  <a:moveTo>
                    <a:pt x="2124660" y="685800"/>
                  </a:moveTo>
                  <a:cubicBezTo>
                    <a:pt x="2155318" y="685800"/>
                    <a:pt x="2180029" y="667426"/>
                    <a:pt x="2191926" y="639170"/>
                  </a:cubicBezTo>
                  <a:lnTo>
                    <a:pt x="2416516" y="105770"/>
                  </a:lnTo>
                  <a:cubicBezTo>
                    <a:pt x="2437664" y="55544"/>
                    <a:pt x="2400784" y="0"/>
                    <a:pt x="2346287" y="0"/>
                  </a:cubicBezTo>
                  <a:lnTo>
                    <a:pt x="212466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1009650" y="30289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13" name="Group 12"/>
          <p:cNvGrpSpPr/>
          <p:nvPr/>
        </p:nvGrpSpPr>
        <p:grpSpPr>
          <a:xfrm>
            <a:off x="2709063" y="4659912"/>
            <a:ext cx="2529210" cy="685800"/>
            <a:chOff x="1390650" y="3943350"/>
            <a:chExt cx="2529210" cy="685800"/>
          </a:xfrm>
        </p:grpSpPr>
        <p:sp>
          <p:nvSpPr>
            <p:cNvPr id="11" name="Rounded Rectangle 10"/>
            <p:cNvSpPr/>
            <p:nvPr/>
          </p:nvSpPr>
          <p:spPr>
            <a:xfrm>
              <a:off x="2252225" y="3943350"/>
              <a:ext cx="1667635" cy="685800"/>
            </a:xfrm>
            <a:custGeom>
              <a:avLst/>
              <a:gdLst/>
              <a:ahLst/>
              <a:cxnLst/>
              <a:rect l="0" t="0" r="0" b="0"/>
              <a:pathLst>
                <a:path w="1667635" h="685800">
                  <a:moveTo>
                    <a:pt x="1362660" y="685800"/>
                  </a:moveTo>
                  <a:cubicBezTo>
                    <a:pt x="1386658" y="685800"/>
                    <a:pt x="1408320" y="671417"/>
                    <a:pt x="1417633" y="649299"/>
                  </a:cubicBezTo>
                  <a:lnTo>
                    <a:pt x="1646487" y="105769"/>
                  </a:lnTo>
                  <a:cubicBezTo>
                    <a:pt x="1667635" y="55544"/>
                    <a:pt x="1630755" y="0"/>
                    <a:pt x="1576258" y="0"/>
                  </a:cubicBezTo>
                  <a:lnTo>
                    <a:pt x="1362660" y="0"/>
                  </a:lnTo>
                  <a:moveTo>
                    <a:pt x="1362660" y="685800"/>
                  </a:moveTo>
                  <a:lnTo>
                    <a:pt x="309999" y="685800"/>
                  </a:lnTo>
                  <a:moveTo>
                    <a:pt x="1362660" y="0"/>
                  </a:moveTo>
                  <a:lnTo>
                    <a:pt x="309999" y="0"/>
                  </a:lnTo>
                  <a:moveTo>
                    <a:pt x="309988" y="685800"/>
                  </a:moveTo>
                  <a:cubicBezTo>
                    <a:pt x="282951" y="685800"/>
                    <a:pt x="258548" y="669597"/>
                    <a:pt x="248056" y="644679"/>
                  </a:cubicBezTo>
                  <a:lnTo>
                    <a:pt x="21147" y="105770"/>
                  </a:lnTo>
                  <a:cubicBezTo>
                    <a:pt x="0" y="55544"/>
                    <a:pt x="36879" y="0"/>
                    <a:pt x="91376" y="0"/>
                  </a:cubicBezTo>
                  <a:lnTo>
                    <a:pt x="309988"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1"/>
            <p:cNvSpPr/>
            <p:nvPr/>
          </p:nvSpPr>
          <p:spPr>
            <a:xfrm>
              <a:off x="1390650" y="3943350"/>
              <a:ext cx="685800" cy="685800"/>
            </a:xfrm>
            <a:custGeom>
              <a:avLst/>
              <a:gdLst/>
              <a:ahLst/>
              <a:cxnLst/>
              <a:rect l="0" t="0" r="0" b="0"/>
              <a:pathLst>
                <a:path w="685800" h="685800">
                  <a:moveTo>
                    <a:pt x="0" y="342900"/>
                  </a:moveTo>
                  <a:cubicBezTo>
                    <a:pt x="0" y="532278"/>
                    <a:pt x="153521" y="685800"/>
                    <a:pt x="342900" y="685800"/>
                  </a:cubicBezTo>
                  <a:cubicBezTo>
                    <a:pt x="532278" y="685800"/>
                    <a:pt x="685800" y="532278"/>
                    <a:pt x="685800" y="342900"/>
                  </a:cubicBezTo>
                  <a:cubicBezTo>
                    <a:pt x="685800" y="153521"/>
                    <a:pt x="532278" y="0"/>
                    <a:pt x="342900" y="0"/>
                  </a:cubicBezTo>
                  <a:cubicBezTo>
                    <a:pt x="153521" y="0"/>
                    <a:pt x="0" y="153521"/>
                    <a:pt x="0" y="34290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14" name="TextBox 13"/>
          <p:cNvSpPr txBox="1"/>
          <p:nvPr/>
        </p:nvSpPr>
        <p:spPr>
          <a:xfrm>
            <a:off x="1008805" y="1021362"/>
            <a:ext cx="3763916" cy="369332"/>
          </a:xfrm>
          <a:prstGeom prst="rect">
            <a:avLst/>
          </a:prstGeom>
          <a:noFill/>
          <a:ln>
            <a:noFill/>
          </a:ln>
        </p:spPr>
        <p:txBody>
          <a:bodyPr wrap="none" lIns="0" tIns="0" rIns="0" bIns="0" anchor="t">
            <a:spAutoFit/>
          </a:bodyPr>
          <a:lstStyle/>
          <a:p>
            <a:pPr algn="ctr"/>
            <a:r>
              <a:rPr sz="2400" b="1" dirty="0">
                <a:latin typeface="Times New Roman" panose="02020603050405020304" pitchFamily="18" charset="0"/>
                <a:cs typeface="Times New Roman" panose="02020603050405020304" pitchFamily="18" charset="0"/>
              </a:rPr>
              <a:t>Feature Engineering Process</a:t>
            </a:r>
          </a:p>
        </p:txBody>
      </p:sp>
      <p:sp>
        <p:nvSpPr>
          <p:cNvPr id="15" name="Rounded Rectangle 14"/>
          <p:cNvSpPr/>
          <p:nvPr/>
        </p:nvSpPr>
        <p:spPr>
          <a:xfrm>
            <a:off x="1680363" y="2040537"/>
            <a:ext cx="438150" cy="438150"/>
          </a:xfrm>
          <a:custGeom>
            <a:avLst/>
            <a:gdLst/>
            <a:ahLst/>
            <a:cxnLst/>
            <a:rect l="0" t="0" r="0" b="0"/>
            <a:pathLst>
              <a:path w="438150" h="438150">
                <a:moveTo>
                  <a:pt x="38100" y="0"/>
                </a:moveTo>
                <a:lnTo>
                  <a:pt x="38100" y="400050"/>
                </a:lnTo>
                <a:lnTo>
                  <a:pt x="438150" y="400050"/>
                </a:lnTo>
                <a:moveTo>
                  <a:pt x="152400" y="304876"/>
                </a:moveTo>
                <a:cubicBezTo>
                  <a:pt x="152400" y="283834"/>
                  <a:pt x="169457" y="266776"/>
                  <a:pt x="190500" y="266776"/>
                </a:cubicBezTo>
                <a:cubicBezTo>
                  <a:pt x="211542" y="266776"/>
                  <a:pt x="228600" y="283834"/>
                  <a:pt x="228600" y="304876"/>
                </a:cubicBezTo>
                <a:cubicBezTo>
                  <a:pt x="228600" y="325918"/>
                  <a:pt x="211542" y="342976"/>
                  <a:pt x="190500" y="342976"/>
                </a:cubicBezTo>
                <a:cubicBezTo>
                  <a:pt x="169457" y="342976"/>
                  <a:pt x="152400" y="325918"/>
                  <a:pt x="152400" y="304876"/>
                </a:cubicBezTo>
                <a:close/>
                <a:moveTo>
                  <a:pt x="285750" y="76276"/>
                </a:moveTo>
                <a:cubicBezTo>
                  <a:pt x="285750" y="55234"/>
                  <a:pt x="302807" y="38176"/>
                  <a:pt x="323850" y="38176"/>
                </a:cubicBezTo>
                <a:cubicBezTo>
                  <a:pt x="344892" y="38176"/>
                  <a:pt x="361950" y="55234"/>
                  <a:pt x="361950" y="76276"/>
                </a:cubicBezTo>
                <a:cubicBezTo>
                  <a:pt x="361950" y="97318"/>
                  <a:pt x="344892" y="114376"/>
                  <a:pt x="323850" y="114376"/>
                </a:cubicBezTo>
                <a:cubicBezTo>
                  <a:pt x="302807" y="114376"/>
                  <a:pt x="285750" y="97318"/>
                  <a:pt x="285750" y="76276"/>
                </a:cubicBezTo>
                <a:close/>
                <a:moveTo>
                  <a:pt x="438150" y="19050"/>
                </a:moveTo>
                <a:cubicBezTo>
                  <a:pt x="406776" y="19541"/>
                  <a:pt x="376576" y="31060"/>
                  <a:pt x="352844" y="51587"/>
                </a:cubicBezTo>
                <a:moveTo>
                  <a:pt x="302018" y="107422"/>
                </a:moveTo>
                <a:cubicBezTo>
                  <a:pt x="283209" y="136266"/>
                  <a:pt x="268140" y="167382"/>
                  <a:pt x="257175" y="200025"/>
                </a:cubicBezTo>
                <a:cubicBezTo>
                  <a:pt x="247639" y="227826"/>
                  <a:pt x="234490" y="254252"/>
                  <a:pt x="218065" y="278625"/>
                </a:cubicBezTo>
                <a:moveTo>
                  <a:pt x="167487" y="335280"/>
                </a:moveTo>
                <a:cubicBezTo>
                  <a:pt x="96469" y="395820"/>
                  <a:pt x="38100" y="400050"/>
                  <a:pt x="38100" y="400050"/>
                </a:cubicBezTo>
                <a:moveTo>
                  <a:pt x="0" y="38100"/>
                </a:moveTo>
                <a:lnTo>
                  <a:pt x="38100" y="0"/>
                </a:lnTo>
                <a:lnTo>
                  <a:pt x="76200" y="38100"/>
                </a:lnTo>
                <a:moveTo>
                  <a:pt x="400050" y="361950"/>
                </a:moveTo>
                <a:lnTo>
                  <a:pt x="438150" y="400050"/>
                </a:lnTo>
                <a:lnTo>
                  <a:pt x="400050" y="43815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6562074" y="1988149"/>
            <a:ext cx="1764907" cy="215444"/>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Log of IMDb vote count</a:t>
            </a:r>
          </a:p>
        </p:txBody>
      </p:sp>
      <p:sp>
        <p:nvSpPr>
          <p:cNvPr id="17" name="TextBox 16"/>
          <p:cNvSpPr txBox="1"/>
          <p:nvPr/>
        </p:nvSpPr>
        <p:spPr>
          <a:xfrm>
            <a:off x="3723117" y="2164362"/>
            <a:ext cx="1367618"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Target Variable</a:t>
            </a:r>
          </a:p>
        </p:txBody>
      </p:sp>
      <p:sp>
        <p:nvSpPr>
          <p:cNvPr id="18" name="Rounded Rectangle 17"/>
          <p:cNvSpPr/>
          <p:nvPr/>
        </p:nvSpPr>
        <p:spPr>
          <a:xfrm>
            <a:off x="2059299" y="2959738"/>
            <a:ext cx="441799" cy="430726"/>
          </a:xfrm>
          <a:custGeom>
            <a:avLst/>
            <a:gdLst/>
            <a:ahLst/>
            <a:cxnLst/>
            <a:rect l="0" t="0" r="0" b="0"/>
            <a:pathLst>
              <a:path w="441799" h="430726">
                <a:moveTo>
                  <a:pt x="328180" y="95211"/>
                </a:moveTo>
                <a:cubicBezTo>
                  <a:pt x="328180" y="110329"/>
                  <a:pt x="340436" y="122586"/>
                  <a:pt x="355555" y="122586"/>
                </a:cubicBezTo>
                <a:cubicBezTo>
                  <a:pt x="370674" y="122586"/>
                  <a:pt x="382930" y="110329"/>
                  <a:pt x="382930" y="95211"/>
                </a:cubicBezTo>
                <a:cubicBezTo>
                  <a:pt x="382930" y="80092"/>
                  <a:pt x="370674" y="67836"/>
                  <a:pt x="355555" y="67836"/>
                </a:cubicBezTo>
                <a:cubicBezTo>
                  <a:pt x="340436" y="67836"/>
                  <a:pt x="328180" y="80092"/>
                  <a:pt x="328180" y="95211"/>
                </a:cubicBezTo>
                <a:close/>
                <a:moveTo>
                  <a:pt x="373538" y="13334"/>
                </a:moveTo>
                <a:lnTo>
                  <a:pt x="379787" y="33832"/>
                </a:lnTo>
                <a:cubicBezTo>
                  <a:pt x="381955" y="40855"/>
                  <a:pt x="389179" y="45012"/>
                  <a:pt x="396341" y="43357"/>
                </a:cubicBezTo>
                <a:lnTo>
                  <a:pt x="417125" y="38537"/>
                </a:lnTo>
                <a:cubicBezTo>
                  <a:pt x="425212" y="36713"/>
                  <a:pt x="433543" y="40372"/>
                  <a:pt x="437671" y="47561"/>
                </a:cubicBezTo>
                <a:cubicBezTo>
                  <a:pt x="441799" y="54750"/>
                  <a:pt x="440760" y="63791"/>
                  <a:pt x="435108" y="69855"/>
                </a:cubicBezTo>
                <a:lnTo>
                  <a:pt x="420573" y="85533"/>
                </a:lnTo>
                <a:cubicBezTo>
                  <a:pt x="415539" y="90945"/>
                  <a:pt x="415539" y="99324"/>
                  <a:pt x="420573" y="104736"/>
                </a:cubicBezTo>
                <a:lnTo>
                  <a:pt x="435108" y="120414"/>
                </a:lnTo>
                <a:cubicBezTo>
                  <a:pt x="440760" y="126479"/>
                  <a:pt x="441799" y="135519"/>
                  <a:pt x="437671" y="142708"/>
                </a:cubicBezTo>
                <a:cubicBezTo>
                  <a:pt x="433543" y="149897"/>
                  <a:pt x="425212" y="153556"/>
                  <a:pt x="417125" y="151732"/>
                </a:cubicBezTo>
                <a:lnTo>
                  <a:pt x="396398" y="146989"/>
                </a:lnTo>
                <a:cubicBezTo>
                  <a:pt x="389237" y="145333"/>
                  <a:pt x="382012" y="149490"/>
                  <a:pt x="379844" y="156514"/>
                </a:cubicBezTo>
                <a:lnTo>
                  <a:pt x="373538" y="177088"/>
                </a:lnTo>
                <a:cubicBezTo>
                  <a:pt x="371158" y="185026"/>
                  <a:pt x="363852" y="190463"/>
                  <a:pt x="355565" y="190463"/>
                </a:cubicBezTo>
                <a:cubicBezTo>
                  <a:pt x="347277" y="190463"/>
                  <a:pt x="339971" y="185026"/>
                  <a:pt x="337591" y="177088"/>
                </a:cubicBezTo>
                <a:lnTo>
                  <a:pt x="331343" y="156590"/>
                </a:lnTo>
                <a:cubicBezTo>
                  <a:pt x="329174" y="149566"/>
                  <a:pt x="321950" y="145409"/>
                  <a:pt x="314788" y="147065"/>
                </a:cubicBezTo>
                <a:lnTo>
                  <a:pt x="294005" y="151885"/>
                </a:lnTo>
                <a:cubicBezTo>
                  <a:pt x="285918" y="153709"/>
                  <a:pt x="277586" y="150049"/>
                  <a:pt x="273458" y="142860"/>
                </a:cubicBezTo>
                <a:cubicBezTo>
                  <a:pt x="269330" y="135671"/>
                  <a:pt x="270370" y="126631"/>
                  <a:pt x="276021" y="120566"/>
                </a:cubicBezTo>
                <a:lnTo>
                  <a:pt x="290557" y="104888"/>
                </a:lnTo>
                <a:cubicBezTo>
                  <a:pt x="295590" y="99477"/>
                  <a:pt x="295590" y="91097"/>
                  <a:pt x="290557" y="85686"/>
                </a:cubicBezTo>
                <a:lnTo>
                  <a:pt x="276021" y="70008"/>
                </a:lnTo>
                <a:cubicBezTo>
                  <a:pt x="270370" y="63943"/>
                  <a:pt x="269330" y="54903"/>
                  <a:pt x="273458" y="47714"/>
                </a:cubicBezTo>
                <a:cubicBezTo>
                  <a:pt x="277586" y="40525"/>
                  <a:pt x="285918" y="36865"/>
                  <a:pt x="294005" y="38689"/>
                </a:cubicBezTo>
                <a:lnTo>
                  <a:pt x="314788" y="43509"/>
                </a:lnTo>
                <a:cubicBezTo>
                  <a:pt x="321950" y="45164"/>
                  <a:pt x="329174" y="41008"/>
                  <a:pt x="331343" y="33984"/>
                </a:cubicBezTo>
                <a:lnTo>
                  <a:pt x="337591" y="13486"/>
                </a:lnTo>
                <a:cubicBezTo>
                  <a:pt x="339937" y="5538"/>
                  <a:pt x="347220" y="70"/>
                  <a:pt x="355508" y="35"/>
                </a:cubicBezTo>
                <a:cubicBezTo>
                  <a:pt x="363796" y="0"/>
                  <a:pt x="371125" y="5405"/>
                  <a:pt x="373538" y="13334"/>
                </a:cubicBezTo>
                <a:close/>
                <a:moveTo>
                  <a:pt x="126479" y="164267"/>
                </a:moveTo>
                <a:cubicBezTo>
                  <a:pt x="131177" y="169520"/>
                  <a:pt x="137891" y="172523"/>
                  <a:pt x="144938" y="172523"/>
                </a:cubicBezTo>
                <a:cubicBezTo>
                  <a:pt x="151986" y="172523"/>
                  <a:pt x="158700" y="169520"/>
                  <a:pt x="163398" y="164267"/>
                </a:cubicBezTo>
                <a:lnTo>
                  <a:pt x="175418" y="151046"/>
                </a:lnTo>
                <a:cubicBezTo>
                  <a:pt x="182472" y="143227"/>
                  <a:pt x="193684" y="140696"/>
                  <a:pt x="203413" y="144726"/>
                </a:cubicBezTo>
                <a:cubicBezTo>
                  <a:pt x="213142" y="148756"/>
                  <a:pt x="219280" y="158475"/>
                  <a:pt x="218738" y="168991"/>
                </a:cubicBezTo>
                <a:lnTo>
                  <a:pt x="217824" y="186784"/>
                </a:lnTo>
                <a:cubicBezTo>
                  <a:pt x="217470" y="193813"/>
                  <a:pt x="220108" y="200664"/>
                  <a:pt x="225085" y="205641"/>
                </a:cubicBezTo>
                <a:cubicBezTo>
                  <a:pt x="230061" y="210617"/>
                  <a:pt x="236912" y="213255"/>
                  <a:pt x="243941" y="212902"/>
                </a:cubicBezTo>
                <a:lnTo>
                  <a:pt x="261734" y="211987"/>
                </a:lnTo>
                <a:cubicBezTo>
                  <a:pt x="272250" y="211445"/>
                  <a:pt x="281969" y="217583"/>
                  <a:pt x="285999" y="227312"/>
                </a:cubicBezTo>
                <a:cubicBezTo>
                  <a:pt x="290030" y="237041"/>
                  <a:pt x="287498" y="248253"/>
                  <a:pt x="279679" y="255307"/>
                </a:cubicBezTo>
                <a:lnTo>
                  <a:pt x="266458" y="267251"/>
                </a:lnTo>
                <a:cubicBezTo>
                  <a:pt x="261205" y="271949"/>
                  <a:pt x="258203" y="278663"/>
                  <a:pt x="258203" y="285711"/>
                </a:cubicBezTo>
                <a:cubicBezTo>
                  <a:pt x="258203" y="292758"/>
                  <a:pt x="261205" y="299472"/>
                  <a:pt x="266458" y="304170"/>
                </a:cubicBezTo>
                <a:lnTo>
                  <a:pt x="279679" y="316115"/>
                </a:lnTo>
                <a:cubicBezTo>
                  <a:pt x="287498" y="323168"/>
                  <a:pt x="290030" y="334381"/>
                  <a:pt x="285999" y="344109"/>
                </a:cubicBezTo>
                <a:cubicBezTo>
                  <a:pt x="281969" y="353838"/>
                  <a:pt x="272250" y="359976"/>
                  <a:pt x="261734" y="359434"/>
                </a:cubicBezTo>
                <a:lnTo>
                  <a:pt x="243941" y="358520"/>
                </a:lnTo>
                <a:cubicBezTo>
                  <a:pt x="236912" y="358166"/>
                  <a:pt x="230061" y="360804"/>
                  <a:pt x="225085" y="365781"/>
                </a:cubicBezTo>
                <a:cubicBezTo>
                  <a:pt x="220108" y="370758"/>
                  <a:pt x="217470" y="377608"/>
                  <a:pt x="217824" y="384637"/>
                </a:cubicBezTo>
                <a:lnTo>
                  <a:pt x="218738" y="402430"/>
                </a:lnTo>
                <a:cubicBezTo>
                  <a:pt x="219280" y="412947"/>
                  <a:pt x="213142" y="422665"/>
                  <a:pt x="203413" y="426696"/>
                </a:cubicBezTo>
                <a:cubicBezTo>
                  <a:pt x="193684" y="430726"/>
                  <a:pt x="182472" y="428194"/>
                  <a:pt x="175418" y="420375"/>
                </a:cubicBezTo>
                <a:lnTo>
                  <a:pt x="163474" y="407155"/>
                </a:lnTo>
                <a:cubicBezTo>
                  <a:pt x="158776" y="401901"/>
                  <a:pt x="152062" y="398899"/>
                  <a:pt x="145015" y="398899"/>
                </a:cubicBezTo>
                <a:cubicBezTo>
                  <a:pt x="137967" y="398899"/>
                  <a:pt x="131253" y="401901"/>
                  <a:pt x="126555" y="407155"/>
                </a:cubicBezTo>
                <a:lnTo>
                  <a:pt x="114611" y="420375"/>
                </a:lnTo>
                <a:cubicBezTo>
                  <a:pt x="107557" y="428194"/>
                  <a:pt x="96345" y="430726"/>
                  <a:pt x="86616" y="426696"/>
                </a:cubicBezTo>
                <a:cubicBezTo>
                  <a:pt x="76887" y="422665"/>
                  <a:pt x="70749" y="412947"/>
                  <a:pt x="71291" y="402430"/>
                </a:cubicBezTo>
                <a:lnTo>
                  <a:pt x="72205" y="384637"/>
                </a:lnTo>
                <a:cubicBezTo>
                  <a:pt x="72559" y="377608"/>
                  <a:pt x="69921" y="370758"/>
                  <a:pt x="64944" y="365781"/>
                </a:cubicBezTo>
                <a:cubicBezTo>
                  <a:pt x="59968" y="360804"/>
                  <a:pt x="53117" y="358166"/>
                  <a:pt x="46088" y="358520"/>
                </a:cubicBezTo>
                <a:lnTo>
                  <a:pt x="28295" y="359434"/>
                </a:lnTo>
                <a:cubicBezTo>
                  <a:pt x="17779" y="359976"/>
                  <a:pt x="8060" y="353838"/>
                  <a:pt x="4030" y="344109"/>
                </a:cubicBezTo>
                <a:cubicBezTo>
                  <a:pt x="0" y="334381"/>
                  <a:pt x="2531" y="323168"/>
                  <a:pt x="10350" y="316115"/>
                </a:cubicBezTo>
                <a:lnTo>
                  <a:pt x="23571" y="304170"/>
                </a:lnTo>
                <a:cubicBezTo>
                  <a:pt x="28824" y="299472"/>
                  <a:pt x="31827" y="292758"/>
                  <a:pt x="31827" y="285711"/>
                </a:cubicBezTo>
                <a:cubicBezTo>
                  <a:pt x="31827" y="278663"/>
                  <a:pt x="28824" y="271949"/>
                  <a:pt x="23571" y="267251"/>
                </a:cubicBezTo>
                <a:lnTo>
                  <a:pt x="10350" y="255307"/>
                </a:lnTo>
                <a:cubicBezTo>
                  <a:pt x="2531" y="248253"/>
                  <a:pt x="0" y="237041"/>
                  <a:pt x="4030" y="227312"/>
                </a:cubicBezTo>
                <a:cubicBezTo>
                  <a:pt x="8060" y="217583"/>
                  <a:pt x="17779" y="211445"/>
                  <a:pt x="28295" y="211987"/>
                </a:cubicBezTo>
                <a:lnTo>
                  <a:pt x="46088" y="212902"/>
                </a:lnTo>
                <a:cubicBezTo>
                  <a:pt x="53117" y="213255"/>
                  <a:pt x="59968" y="210617"/>
                  <a:pt x="64944" y="205641"/>
                </a:cubicBezTo>
                <a:cubicBezTo>
                  <a:pt x="69921" y="200664"/>
                  <a:pt x="72559" y="193813"/>
                  <a:pt x="72205" y="186784"/>
                </a:cubicBezTo>
                <a:lnTo>
                  <a:pt x="71215" y="168991"/>
                </a:lnTo>
                <a:cubicBezTo>
                  <a:pt x="70712" y="158511"/>
                  <a:pt x="76839" y="148842"/>
                  <a:pt x="86530" y="144821"/>
                </a:cubicBezTo>
                <a:cubicBezTo>
                  <a:pt x="96221" y="140799"/>
                  <a:pt x="107393" y="143290"/>
                  <a:pt x="114458" y="151046"/>
                </a:cubicBezTo>
                <a:close/>
                <a:moveTo>
                  <a:pt x="116363" y="342861"/>
                </a:moveTo>
                <a:lnTo>
                  <a:pt x="148748" y="342861"/>
                </a:lnTo>
                <a:cubicBezTo>
                  <a:pt x="159709" y="342894"/>
                  <a:pt x="169389" y="335718"/>
                  <a:pt x="172542" y="325220"/>
                </a:cubicBezTo>
                <a:cubicBezTo>
                  <a:pt x="175695" y="314722"/>
                  <a:pt x="171572" y="303400"/>
                  <a:pt x="162407" y="297388"/>
                </a:cubicBezTo>
                <a:lnTo>
                  <a:pt x="127355" y="274033"/>
                </a:lnTo>
                <a:cubicBezTo>
                  <a:pt x="118172" y="268010"/>
                  <a:pt x="114052" y="256657"/>
                  <a:pt x="117236" y="246146"/>
                </a:cubicBezTo>
                <a:cubicBezTo>
                  <a:pt x="120420" y="235635"/>
                  <a:pt x="130146" y="228476"/>
                  <a:pt x="141128" y="228561"/>
                </a:cubicBezTo>
                <a:lnTo>
                  <a:pt x="173513" y="228561"/>
                </a:lnTo>
                <a:moveTo>
                  <a:pt x="154463" y="228561"/>
                </a:moveTo>
                <a:lnTo>
                  <a:pt x="154463" y="209511"/>
                </a:lnTo>
                <a:moveTo>
                  <a:pt x="135413" y="361911"/>
                </a:moveTo>
                <a:lnTo>
                  <a:pt x="135413" y="342861"/>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3512229" y="3078762"/>
            <a:ext cx="1789529"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Production Features</a:t>
            </a:r>
          </a:p>
        </p:txBody>
      </p:sp>
      <p:sp>
        <p:nvSpPr>
          <p:cNvPr id="20" name="TextBox 19"/>
          <p:cNvSpPr txBox="1"/>
          <p:nvPr/>
        </p:nvSpPr>
        <p:spPr>
          <a:xfrm>
            <a:off x="6171549" y="2902549"/>
            <a:ext cx="1756891"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Budget, runtime, release
timing</a:t>
            </a:r>
          </a:p>
        </p:txBody>
      </p:sp>
      <p:sp>
        <p:nvSpPr>
          <p:cNvPr id="21" name="Rounded Rectangle 20"/>
          <p:cNvSpPr/>
          <p:nvPr/>
        </p:nvSpPr>
        <p:spPr>
          <a:xfrm>
            <a:off x="2451161" y="3871937"/>
            <a:ext cx="439602" cy="432958"/>
          </a:xfrm>
          <a:custGeom>
            <a:avLst/>
            <a:gdLst/>
            <a:ahLst/>
            <a:cxnLst/>
            <a:rect l="0" t="0" r="0" b="0"/>
            <a:pathLst>
              <a:path w="439602" h="432958">
                <a:moveTo>
                  <a:pt x="726" y="314010"/>
                </a:moveTo>
                <a:cubicBezTo>
                  <a:pt x="726" y="342238"/>
                  <a:pt x="23609" y="365121"/>
                  <a:pt x="51837" y="365121"/>
                </a:cubicBezTo>
                <a:cubicBezTo>
                  <a:pt x="80065" y="365121"/>
                  <a:pt x="102948" y="342238"/>
                  <a:pt x="102948" y="314010"/>
                </a:cubicBezTo>
                <a:cubicBezTo>
                  <a:pt x="102948" y="285782"/>
                  <a:pt x="80065" y="262899"/>
                  <a:pt x="51837" y="262899"/>
                </a:cubicBezTo>
                <a:cubicBezTo>
                  <a:pt x="23609" y="262899"/>
                  <a:pt x="726" y="285782"/>
                  <a:pt x="726" y="314010"/>
                </a:cubicBezTo>
                <a:moveTo>
                  <a:pt x="132457" y="432958"/>
                </a:moveTo>
                <a:cubicBezTo>
                  <a:pt x="122013" y="408501"/>
                  <a:pt x="101028" y="390109"/>
                  <a:pt x="75412" y="382963"/>
                </a:cubicBezTo>
                <a:cubicBezTo>
                  <a:pt x="49796" y="375817"/>
                  <a:pt x="22322" y="380691"/>
                  <a:pt x="726" y="396211"/>
                </a:cubicBezTo>
                <a:moveTo>
                  <a:pt x="336654" y="314010"/>
                </a:moveTo>
                <a:cubicBezTo>
                  <a:pt x="336654" y="342238"/>
                  <a:pt x="359537" y="365121"/>
                  <a:pt x="387765" y="365121"/>
                </a:cubicBezTo>
                <a:cubicBezTo>
                  <a:pt x="415993" y="365121"/>
                  <a:pt x="438876" y="342238"/>
                  <a:pt x="438876" y="314010"/>
                </a:cubicBezTo>
                <a:cubicBezTo>
                  <a:pt x="438876" y="285782"/>
                  <a:pt x="415993" y="262899"/>
                  <a:pt x="387765" y="262899"/>
                </a:cubicBezTo>
                <a:cubicBezTo>
                  <a:pt x="359537" y="262899"/>
                  <a:pt x="336654" y="285782"/>
                  <a:pt x="336654" y="314010"/>
                </a:cubicBezTo>
                <a:moveTo>
                  <a:pt x="307145" y="432958"/>
                </a:moveTo>
                <a:cubicBezTo>
                  <a:pt x="317589" y="408501"/>
                  <a:pt x="338574" y="390109"/>
                  <a:pt x="364190" y="382963"/>
                </a:cubicBezTo>
                <a:cubicBezTo>
                  <a:pt x="389805" y="375817"/>
                  <a:pt x="417280" y="380691"/>
                  <a:pt x="438876" y="396211"/>
                </a:cubicBezTo>
                <a:moveTo>
                  <a:pt x="154078" y="299399"/>
                </a:moveTo>
                <a:cubicBezTo>
                  <a:pt x="154069" y="335703"/>
                  <a:pt x="183497" y="365138"/>
                  <a:pt x="219801" y="365138"/>
                </a:cubicBezTo>
                <a:cubicBezTo>
                  <a:pt x="256105" y="365138"/>
                  <a:pt x="285533" y="335703"/>
                  <a:pt x="285524" y="299399"/>
                </a:cubicBezTo>
                <a:cubicBezTo>
                  <a:pt x="285533" y="263095"/>
                  <a:pt x="256105" y="233659"/>
                  <a:pt x="219801" y="233659"/>
                </a:cubicBezTo>
                <a:cubicBezTo>
                  <a:pt x="183497" y="233659"/>
                  <a:pt x="154069" y="263095"/>
                  <a:pt x="154078" y="299399"/>
                </a:cubicBezTo>
                <a:moveTo>
                  <a:pt x="307145" y="432958"/>
                </a:moveTo>
                <a:cubicBezTo>
                  <a:pt x="284763" y="408369"/>
                  <a:pt x="253052" y="394353"/>
                  <a:pt x="219801" y="394353"/>
                </a:cubicBezTo>
                <a:cubicBezTo>
                  <a:pt x="186550" y="394353"/>
                  <a:pt x="154839" y="408369"/>
                  <a:pt x="132457" y="432958"/>
                </a:cubicBezTo>
                <a:moveTo>
                  <a:pt x="230126" y="6334"/>
                </a:moveTo>
                <a:lnTo>
                  <a:pt x="254453" y="54206"/>
                </a:lnTo>
                <a:lnTo>
                  <a:pt x="295868" y="54206"/>
                </a:lnTo>
                <a:cubicBezTo>
                  <a:pt x="300452" y="54225"/>
                  <a:pt x="304581" y="56980"/>
                  <a:pt x="306358" y="61206"/>
                </a:cubicBezTo>
                <a:cubicBezTo>
                  <a:pt x="308135" y="65432"/>
                  <a:pt x="307215" y="70311"/>
                  <a:pt x="304021" y="73599"/>
                </a:cubicBezTo>
                <a:lnTo>
                  <a:pt x="265921" y="111032"/>
                </a:lnTo>
                <a:lnTo>
                  <a:pt x="286990" y="159419"/>
                </a:lnTo>
                <a:cubicBezTo>
                  <a:pt x="288952" y="163970"/>
                  <a:pt x="287758" y="169266"/>
                  <a:pt x="284033" y="172534"/>
                </a:cubicBezTo>
                <a:cubicBezTo>
                  <a:pt x="280309" y="175803"/>
                  <a:pt x="274903" y="176300"/>
                  <a:pt x="270645" y="173764"/>
                </a:cubicBezTo>
                <a:lnTo>
                  <a:pt x="219801" y="145132"/>
                </a:lnTo>
                <a:lnTo>
                  <a:pt x="168880" y="173707"/>
                </a:lnTo>
                <a:cubicBezTo>
                  <a:pt x="164623" y="176242"/>
                  <a:pt x="159217" y="175746"/>
                  <a:pt x="155492" y="172477"/>
                </a:cubicBezTo>
                <a:cubicBezTo>
                  <a:pt x="151768" y="169209"/>
                  <a:pt x="150574" y="163913"/>
                  <a:pt x="152535" y="159362"/>
                </a:cubicBezTo>
                <a:lnTo>
                  <a:pt x="173605" y="110975"/>
                </a:lnTo>
                <a:lnTo>
                  <a:pt x="135505" y="73542"/>
                </a:lnTo>
                <a:cubicBezTo>
                  <a:pt x="132309" y="70251"/>
                  <a:pt x="131390" y="65368"/>
                  <a:pt x="133172" y="61140"/>
                </a:cubicBezTo>
                <a:cubicBezTo>
                  <a:pt x="134953" y="56913"/>
                  <a:pt x="139090" y="54160"/>
                  <a:pt x="143677" y="54149"/>
                </a:cubicBezTo>
                <a:lnTo>
                  <a:pt x="185073" y="54149"/>
                </a:lnTo>
                <a:lnTo>
                  <a:pt x="209476" y="6334"/>
                </a:lnTo>
                <a:cubicBezTo>
                  <a:pt x="211451" y="2447"/>
                  <a:pt x="215442" y="0"/>
                  <a:pt x="219801" y="0"/>
                </a:cubicBezTo>
                <a:cubicBezTo>
                  <a:pt x="224160" y="0"/>
                  <a:pt x="228151" y="2447"/>
                  <a:pt x="230126" y="6334"/>
                </a:cubicBezTo>
                <a:close/>
                <a:moveTo>
                  <a:pt x="88356" y="29213"/>
                </a:moveTo>
                <a:cubicBezTo>
                  <a:pt x="83984" y="29179"/>
                  <a:pt x="79976" y="31641"/>
                  <a:pt x="78031" y="35556"/>
                </a:cubicBezTo>
                <a:lnTo>
                  <a:pt x="53704" y="83410"/>
                </a:lnTo>
                <a:lnTo>
                  <a:pt x="12308" y="83410"/>
                </a:lnTo>
                <a:cubicBezTo>
                  <a:pt x="7713" y="83413"/>
                  <a:pt x="3566" y="86169"/>
                  <a:pt x="1783" y="90405"/>
                </a:cubicBezTo>
                <a:cubicBezTo>
                  <a:pt x="0" y="94641"/>
                  <a:pt x="927" y="99532"/>
                  <a:pt x="4136" y="102822"/>
                </a:cubicBezTo>
                <a:lnTo>
                  <a:pt x="42160" y="140274"/>
                </a:lnTo>
                <a:lnTo>
                  <a:pt x="21090" y="188642"/>
                </a:lnTo>
                <a:cubicBezTo>
                  <a:pt x="19129" y="193193"/>
                  <a:pt x="20323" y="198489"/>
                  <a:pt x="24047" y="201757"/>
                </a:cubicBezTo>
                <a:cubicBezTo>
                  <a:pt x="27772" y="205026"/>
                  <a:pt x="33178" y="205522"/>
                  <a:pt x="37435" y="202987"/>
                </a:cubicBezTo>
                <a:lnTo>
                  <a:pt x="88356" y="174336"/>
                </a:lnTo>
                <a:lnTo>
                  <a:pt x="101824" y="181956"/>
                </a:lnTo>
                <a:moveTo>
                  <a:pt x="351246" y="29213"/>
                </a:moveTo>
                <a:cubicBezTo>
                  <a:pt x="355618" y="29179"/>
                  <a:pt x="359626" y="31641"/>
                  <a:pt x="361571" y="35556"/>
                </a:cubicBezTo>
                <a:lnTo>
                  <a:pt x="385898" y="83410"/>
                </a:lnTo>
                <a:lnTo>
                  <a:pt x="427294" y="83410"/>
                </a:lnTo>
                <a:cubicBezTo>
                  <a:pt x="431889" y="83413"/>
                  <a:pt x="436036" y="86169"/>
                  <a:pt x="437819" y="90405"/>
                </a:cubicBezTo>
                <a:cubicBezTo>
                  <a:pt x="439602" y="94641"/>
                  <a:pt x="438675" y="99532"/>
                  <a:pt x="435466" y="102822"/>
                </a:cubicBezTo>
                <a:lnTo>
                  <a:pt x="397442" y="140274"/>
                </a:lnTo>
                <a:lnTo>
                  <a:pt x="418512" y="188680"/>
                </a:lnTo>
                <a:cubicBezTo>
                  <a:pt x="420473" y="193231"/>
                  <a:pt x="419279" y="198527"/>
                  <a:pt x="415555" y="201795"/>
                </a:cubicBezTo>
                <a:cubicBezTo>
                  <a:pt x="411830" y="205064"/>
                  <a:pt x="406424" y="205560"/>
                  <a:pt x="402167" y="203025"/>
                </a:cubicBezTo>
                <a:lnTo>
                  <a:pt x="351246" y="174336"/>
                </a:lnTo>
                <a:lnTo>
                  <a:pt x="337778" y="181956"/>
                </a:lnTo>
                <a:moveTo>
                  <a:pt x="285524" y="299399"/>
                </a:moveTo>
                <a:cubicBezTo>
                  <a:pt x="242239" y="304423"/>
                  <a:pt x="198976" y="289825"/>
                  <a:pt x="167585" y="259603"/>
                </a:cubicBezTo>
                <a:moveTo>
                  <a:pt x="101824" y="313953"/>
                </a:moveTo>
                <a:cubicBezTo>
                  <a:pt x="68287" y="316993"/>
                  <a:pt x="34648" y="309330"/>
                  <a:pt x="5736" y="292065"/>
                </a:cubicBezTo>
                <a:moveTo>
                  <a:pt x="437809" y="313953"/>
                </a:moveTo>
                <a:cubicBezTo>
                  <a:pt x="404271" y="316997"/>
                  <a:pt x="370632" y="309334"/>
                  <a:pt x="341721" y="29206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TextBox 21"/>
          <p:cNvSpPr txBox="1"/>
          <p:nvPr/>
        </p:nvSpPr>
        <p:spPr>
          <a:xfrm>
            <a:off x="3590490" y="3993162"/>
            <a:ext cx="1632948"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Audience Features</a:t>
            </a:r>
          </a:p>
        </p:txBody>
      </p:sp>
      <p:sp>
        <p:nvSpPr>
          <p:cNvPr id="23" name="TextBox 22"/>
          <p:cNvSpPr txBox="1"/>
          <p:nvPr/>
        </p:nvSpPr>
        <p:spPr>
          <a:xfrm>
            <a:off x="5790549" y="3816949"/>
            <a:ext cx="1546898"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Ratings, rating count,
popularity</a:t>
            </a:r>
          </a:p>
        </p:txBody>
      </p:sp>
      <p:sp>
        <p:nvSpPr>
          <p:cNvPr id="24" name="Rounded Rectangle 23"/>
          <p:cNvSpPr/>
          <p:nvPr/>
        </p:nvSpPr>
        <p:spPr>
          <a:xfrm>
            <a:off x="2832888" y="4859937"/>
            <a:ext cx="438150" cy="285750"/>
          </a:xfrm>
          <a:custGeom>
            <a:avLst/>
            <a:gdLst/>
            <a:ahLst/>
            <a:cxnLst/>
            <a:rect l="0" t="0" r="0" b="0"/>
            <a:pathLst>
              <a:path w="438150" h="285750">
                <a:moveTo>
                  <a:pt x="419100" y="0"/>
                </a:moveTo>
                <a:cubicBezTo>
                  <a:pt x="429621" y="0"/>
                  <a:pt x="438150" y="8528"/>
                  <a:pt x="438150" y="19050"/>
                </a:cubicBezTo>
                <a:lnTo>
                  <a:pt x="438150" y="266700"/>
                </a:lnTo>
                <a:cubicBezTo>
                  <a:pt x="438150" y="277221"/>
                  <a:pt x="429621" y="285750"/>
                  <a:pt x="419100" y="285750"/>
                </a:cubicBezTo>
                <a:moveTo>
                  <a:pt x="371475" y="171450"/>
                </a:moveTo>
                <a:lnTo>
                  <a:pt x="400050" y="142875"/>
                </a:lnTo>
                <a:lnTo>
                  <a:pt x="371475" y="114300"/>
                </a:lnTo>
                <a:moveTo>
                  <a:pt x="19050" y="285750"/>
                </a:moveTo>
                <a:cubicBezTo>
                  <a:pt x="8528" y="285750"/>
                  <a:pt x="0" y="277221"/>
                  <a:pt x="0" y="266700"/>
                </a:cubicBezTo>
                <a:lnTo>
                  <a:pt x="0" y="19050"/>
                </a:lnTo>
                <a:cubicBezTo>
                  <a:pt x="0" y="8528"/>
                  <a:pt x="8528" y="0"/>
                  <a:pt x="19050" y="0"/>
                </a:cubicBezTo>
                <a:moveTo>
                  <a:pt x="66675" y="114300"/>
                </a:moveTo>
                <a:lnTo>
                  <a:pt x="38100" y="142875"/>
                </a:lnTo>
                <a:lnTo>
                  <a:pt x="66675" y="171450"/>
                </a:lnTo>
                <a:moveTo>
                  <a:pt x="304800" y="285750"/>
                </a:moveTo>
                <a:lnTo>
                  <a:pt x="133350" y="285750"/>
                </a:lnTo>
                <a:cubicBezTo>
                  <a:pt x="133350" y="285750"/>
                  <a:pt x="114300" y="285750"/>
                  <a:pt x="114300" y="266700"/>
                </a:cubicBezTo>
                <a:lnTo>
                  <a:pt x="114300" y="19050"/>
                </a:lnTo>
                <a:cubicBezTo>
                  <a:pt x="114300" y="19050"/>
                  <a:pt x="114300" y="0"/>
                  <a:pt x="133350" y="0"/>
                </a:cubicBezTo>
                <a:lnTo>
                  <a:pt x="304800" y="0"/>
                </a:lnTo>
                <a:cubicBezTo>
                  <a:pt x="304800" y="0"/>
                  <a:pt x="323850" y="0"/>
                  <a:pt x="323850" y="19050"/>
                </a:cubicBezTo>
                <a:lnTo>
                  <a:pt x="323850" y="266700"/>
                </a:lnTo>
                <a:cubicBezTo>
                  <a:pt x="323850" y="266700"/>
                  <a:pt x="323850" y="285750"/>
                  <a:pt x="304800" y="285750"/>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p:cNvSpPr txBox="1"/>
          <p:nvPr/>
        </p:nvSpPr>
        <p:spPr>
          <a:xfrm>
            <a:off x="3898797" y="4793262"/>
            <a:ext cx="1016305"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Categorical
Encoding</a:t>
            </a:r>
          </a:p>
        </p:txBody>
      </p:sp>
      <p:sp>
        <p:nvSpPr>
          <p:cNvPr id="26" name="TextBox 25"/>
          <p:cNvSpPr txBox="1"/>
          <p:nvPr/>
        </p:nvSpPr>
        <p:spPr>
          <a:xfrm>
            <a:off x="5409549" y="4731349"/>
            <a:ext cx="1641475" cy="430887"/>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Converting categorical
data</a:t>
            </a:r>
          </a:p>
        </p:txBody>
      </p:sp>
      <p:pic>
        <p:nvPicPr>
          <p:cNvPr id="28" name="Picture 27">
            <a:extLst>
              <a:ext uri="{FF2B5EF4-FFF2-40B4-BE49-F238E27FC236}">
                <a16:creationId xmlns:a16="http://schemas.microsoft.com/office/drawing/2014/main" id="{C28BEC98-3CA5-6062-295A-4794B0BCD37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37447" y="5145687"/>
            <a:ext cx="1148464" cy="1148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585276" y="3540246"/>
            <a:ext cx="3886200" cy="685800"/>
          </a:xfrm>
          <a:custGeom>
            <a:avLst/>
            <a:gdLst/>
            <a:ahLst/>
            <a:cxnLst/>
            <a:rect l="0" t="0" r="0" b="0"/>
            <a:pathLst>
              <a:path w="3886200" h="685800">
                <a:moveTo>
                  <a:pt x="1943100" y="0"/>
                </a:moveTo>
                <a:lnTo>
                  <a:pt x="1943100" y="457200"/>
                </a:lnTo>
                <a:moveTo>
                  <a:pt x="1943100" y="457200"/>
                </a:moveTo>
                <a:lnTo>
                  <a:pt x="3886200" y="457200"/>
                </a:lnTo>
                <a:lnTo>
                  <a:pt x="3886200" y="685800"/>
                </a:lnTo>
                <a:moveTo>
                  <a:pt x="1943100" y="457200"/>
                </a:moveTo>
                <a:lnTo>
                  <a:pt x="1943100" y="685800"/>
                </a:lnTo>
                <a:moveTo>
                  <a:pt x="1943100" y="457200"/>
                </a:moveTo>
                <a:lnTo>
                  <a:pt x="0" y="457200"/>
                </a:ln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3728276" y="1940046"/>
            <a:ext cx="1600200" cy="1600200"/>
          </a:xfrm>
          <a:custGeom>
            <a:avLst/>
            <a:gdLst/>
            <a:ahLst/>
            <a:cxnLst/>
            <a:rect l="0" t="0" r="0" b="0"/>
            <a:pathLst>
              <a:path w="1600200" h="1600200">
                <a:moveTo>
                  <a:pt x="1600200" y="800100"/>
                </a:moveTo>
                <a:cubicBezTo>
                  <a:pt x="1600200" y="1241982"/>
                  <a:pt x="1241982" y="1600200"/>
                  <a:pt x="800100" y="1600200"/>
                </a:cubicBezTo>
                <a:cubicBezTo>
                  <a:pt x="358217" y="1600200"/>
                  <a:pt x="0" y="1241982"/>
                  <a:pt x="0" y="800100"/>
                </a:cubicBezTo>
                <a:cubicBezTo>
                  <a:pt x="0" y="358217"/>
                  <a:pt x="358217" y="0"/>
                  <a:pt x="800100" y="0"/>
                </a:cubicBezTo>
                <a:cubicBezTo>
                  <a:pt x="1241982" y="0"/>
                  <a:pt x="1600200" y="358217"/>
                  <a:pt x="1600200" y="800100"/>
                </a:cubicBezTo>
                <a:close/>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 name="Group 5"/>
          <p:cNvGrpSpPr/>
          <p:nvPr/>
        </p:nvGrpSpPr>
        <p:grpSpPr>
          <a:xfrm>
            <a:off x="2699576" y="2397246"/>
            <a:ext cx="3657600" cy="685800"/>
            <a:chOff x="2009775" y="1543050"/>
            <a:chExt cx="3657600" cy="685800"/>
          </a:xfrm>
        </p:grpSpPr>
        <p:sp>
          <p:nvSpPr>
            <p:cNvPr id="4" name="Rounded Rectangle 3"/>
            <p:cNvSpPr/>
            <p:nvPr/>
          </p:nvSpPr>
          <p:spPr>
            <a:xfrm>
              <a:off x="49815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2009775" y="1543050"/>
              <a:ext cx="685800" cy="685800"/>
            </a:xfrm>
            <a:custGeom>
              <a:avLst/>
              <a:gdLst/>
              <a:ahLst/>
              <a:cxnLst/>
              <a:rect l="0" t="0" r="0" b="0"/>
              <a:pathLst>
                <a:path w="685800" h="685800">
                  <a:moveTo>
                    <a:pt x="0" y="95250"/>
                  </a:moveTo>
                  <a:cubicBezTo>
                    <a:pt x="0" y="42645"/>
                    <a:pt x="42645" y="0"/>
                    <a:pt x="95250" y="0"/>
                  </a:cubicBezTo>
                  <a:lnTo>
                    <a:pt x="590550" y="0"/>
                  </a:lnTo>
                  <a:cubicBezTo>
                    <a:pt x="643154" y="0"/>
                    <a:pt x="685800" y="42645"/>
                    <a:pt x="685800" y="95250"/>
                  </a:cubicBezTo>
                  <a:lnTo>
                    <a:pt x="685800" y="590550"/>
                  </a:lnTo>
                  <a:cubicBezTo>
                    <a:pt x="685800" y="643154"/>
                    <a:pt x="643154" y="685800"/>
                    <a:pt x="590550" y="685800"/>
                  </a:cubicBezTo>
                  <a:lnTo>
                    <a:pt x="95250" y="685800"/>
                  </a:lnTo>
                  <a:cubicBezTo>
                    <a:pt x="42645" y="685800"/>
                    <a:pt x="0" y="643154"/>
                    <a:pt x="0" y="590550"/>
                  </a:cubicBezTo>
                  <a:lnTo>
                    <a:pt x="0" y="9525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7" name="TextBox 6"/>
          <p:cNvSpPr txBox="1"/>
          <p:nvPr/>
        </p:nvSpPr>
        <p:spPr>
          <a:xfrm>
            <a:off x="970655" y="1015799"/>
            <a:ext cx="3591368"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Exploratory Data Analysis:</a:t>
            </a:r>
            <a:endParaRPr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341182" y="2416296"/>
            <a:ext cx="1110753" cy="492443"/>
          </a:xfrm>
          <a:prstGeom prst="rect">
            <a:avLst/>
          </a:prstGeom>
          <a:noFill/>
          <a:ln>
            <a:noFill/>
          </a:ln>
        </p:spPr>
        <p:txBody>
          <a:bodyPr wrap="none" lIns="0" tIns="0" rIns="0" bIns="0" anchor="t">
            <a:spAutoFit/>
          </a:bodyPr>
          <a:lstStyle/>
          <a:p>
            <a:pPr algn="r"/>
            <a:r>
              <a:rPr sz="1600" b="1" dirty="0">
                <a:latin typeface="Times New Roman" panose="02020603050405020304" pitchFamily="18" charset="0"/>
                <a:cs typeface="Times New Roman" panose="02020603050405020304" pitchFamily="18" charset="0"/>
              </a:rPr>
              <a:t>Skewed Vote
Distribution</a:t>
            </a:r>
          </a:p>
        </p:txBody>
      </p:sp>
      <p:sp>
        <p:nvSpPr>
          <p:cNvPr id="9" name="Rounded Rectangle 8"/>
          <p:cNvSpPr/>
          <p:nvPr/>
        </p:nvSpPr>
        <p:spPr>
          <a:xfrm>
            <a:off x="2828163" y="2535358"/>
            <a:ext cx="428625" cy="409575"/>
          </a:xfrm>
          <a:custGeom>
            <a:avLst/>
            <a:gdLst/>
            <a:ahLst/>
            <a:cxnLst/>
            <a:rect l="0" t="0" r="0" b="0"/>
            <a:pathLst>
              <a:path w="428625" h="409575">
                <a:moveTo>
                  <a:pt x="38100" y="247650"/>
                </a:moveTo>
                <a:cubicBezTo>
                  <a:pt x="59142" y="247650"/>
                  <a:pt x="76200" y="230592"/>
                  <a:pt x="76200" y="209550"/>
                </a:cubicBezTo>
                <a:cubicBezTo>
                  <a:pt x="76200" y="188507"/>
                  <a:pt x="59142" y="171450"/>
                  <a:pt x="38100" y="171450"/>
                </a:cubicBezTo>
                <a:cubicBezTo>
                  <a:pt x="17057" y="171450"/>
                  <a:pt x="0" y="188507"/>
                  <a:pt x="0" y="209550"/>
                </a:cubicBezTo>
                <a:cubicBezTo>
                  <a:pt x="0" y="230592"/>
                  <a:pt x="17057" y="247650"/>
                  <a:pt x="38100" y="247650"/>
                </a:cubicBezTo>
                <a:close/>
                <a:moveTo>
                  <a:pt x="390525" y="247650"/>
                </a:moveTo>
                <a:cubicBezTo>
                  <a:pt x="411567" y="247650"/>
                  <a:pt x="428625" y="230592"/>
                  <a:pt x="428625" y="209550"/>
                </a:cubicBezTo>
                <a:cubicBezTo>
                  <a:pt x="428625" y="188507"/>
                  <a:pt x="411567" y="171450"/>
                  <a:pt x="390525" y="171450"/>
                </a:cubicBezTo>
                <a:cubicBezTo>
                  <a:pt x="369482" y="171450"/>
                  <a:pt x="352425" y="188507"/>
                  <a:pt x="352425" y="209550"/>
                </a:cubicBezTo>
                <a:cubicBezTo>
                  <a:pt x="352425" y="230592"/>
                  <a:pt x="369482" y="247650"/>
                  <a:pt x="390525" y="247650"/>
                </a:cubicBezTo>
                <a:close/>
                <a:moveTo>
                  <a:pt x="390525" y="76200"/>
                </a:moveTo>
                <a:cubicBezTo>
                  <a:pt x="411567" y="76200"/>
                  <a:pt x="428625" y="59142"/>
                  <a:pt x="428625" y="38100"/>
                </a:cubicBezTo>
                <a:cubicBezTo>
                  <a:pt x="428625" y="17057"/>
                  <a:pt x="411567" y="0"/>
                  <a:pt x="390525" y="0"/>
                </a:cubicBezTo>
                <a:cubicBezTo>
                  <a:pt x="369482" y="0"/>
                  <a:pt x="352425" y="17057"/>
                  <a:pt x="352425" y="38100"/>
                </a:cubicBezTo>
                <a:cubicBezTo>
                  <a:pt x="352425" y="59142"/>
                  <a:pt x="369482" y="76200"/>
                  <a:pt x="390525" y="76200"/>
                </a:cubicBezTo>
                <a:close/>
                <a:moveTo>
                  <a:pt x="390525" y="409575"/>
                </a:moveTo>
                <a:cubicBezTo>
                  <a:pt x="411567" y="409575"/>
                  <a:pt x="428625" y="392517"/>
                  <a:pt x="428625" y="371475"/>
                </a:cubicBezTo>
                <a:cubicBezTo>
                  <a:pt x="428625" y="350432"/>
                  <a:pt x="411567" y="333375"/>
                  <a:pt x="390525" y="333375"/>
                </a:cubicBezTo>
                <a:cubicBezTo>
                  <a:pt x="369482" y="333375"/>
                  <a:pt x="352425" y="350432"/>
                  <a:pt x="352425" y="371475"/>
                </a:cubicBezTo>
                <a:cubicBezTo>
                  <a:pt x="352425" y="392517"/>
                  <a:pt x="369482" y="409575"/>
                  <a:pt x="390525" y="409575"/>
                </a:cubicBezTo>
                <a:close/>
                <a:moveTo>
                  <a:pt x="76200" y="209550"/>
                </a:moveTo>
                <a:lnTo>
                  <a:pt x="95250" y="209550"/>
                </a:lnTo>
                <a:moveTo>
                  <a:pt x="276225" y="209550"/>
                </a:moveTo>
                <a:lnTo>
                  <a:pt x="352425" y="209550"/>
                </a:lnTo>
                <a:moveTo>
                  <a:pt x="352425" y="371475"/>
                </a:moveTo>
                <a:lnTo>
                  <a:pt x="342900" y="371475"/>
                </a:lnTo>
                <a:cubicBezTo>
                  <a:pt x="321944" y="371475"/>
                  <a:pt x="304800" y="354330"/>
                  <a:pt x="304800" y="333375"/>
                </a:cubicBezTo>
                <a:lnTo>
                  <a:pt x="304800" y="76200"/>
                </a:lnTo>
                <a:cubicBezTo>
                  <a:pt x="304800" y="55244"/>
                  <a:pt x="321944" y="38100"/>
                  <a:pt x="342900" y="38100"/>
                </a:cubicBezTo>
                <a:lnTo>
                  <a:pt x="352425" y="38100"/>
                </a:lnTo>
                <a:moveTo>
                  <a:pt x="180975" y="146684"/>
                </a:moveTo>
                <a:cubicBezTo>
                  <a:pt x="223058" y="146684"/>
                  <a:pt x="257175" y="129626"/>
                  <a:pt x="257175" y="108584"/>
                </a:cubicBezTo>
                <a:cubicBezTo>
                  <a:pt x="257175" y="87541"/>
                  <a:pt x="223058" y="70484"/>
                  <a:pt x="180975" y="70484"/>
                </a:cubicBezTo>
                <a:cubicBezTo>
                  <a:pt x="138890" y="70484"/>
                  <a:pt x="104775" y="87541"/>
                  <a:pt x="104775" y="108584"/>
                </a:cubicBezTo>
                <a:cubicBezTo>
                  <a:pt x="104775" y="129626"/>
                  <a:pt x="138890" y="146684"/>
                  <a:pt x="180975" y="146684"/>
                </a:cubicBezTo>
                <a:close/>
                <a:moveTo>
                  <a:pt x="106784" y="117276"/>
                </a:moveTo>
                <a:lnTo>
                  <a:pt x="152400" y="213360"/>
                </a:lnTo>
                <a:lnTo>
                  <a:pt x="152400" y="289560"/>
                </a:lnTo>
                <a:lnTo>
                  <a:pt x="209550" y="260985"/>
                </a:lnTo>
                <a:lnTo>
                  <a:pt x="209029" y="213360"/>
                </a:lnTo>
                <a:lnTo>
                  <a:pt x="255090" y="117499"/>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785676" y="2511546"/>
            <a:ext cx="442912" cy="442912"/>
          </a:xfrm>
          <a:custGeom>
            <a:avLst/>
            <a:gdLst/>
            <a:ahLst/>
            <a:cxnLst/>
            <a:rect l="0" t="0" r="0" b="0"/>
            <a:pathLst>
              <a:path w="442912" h="442912">
                <a:moveTo>
                  <a:pt x="300037" y="402907"/>
                </a:moveTo>
                <a:cubicBezTo>
                  <a:pt x="355798" y="402907"/>
                  <a:pt x="401002" y="357705"/>
                  <a:pt x="401002" y="301944"/>
                </a:cubicBezTo>
                <a:cubicBezTo>
                  <a:pt x="401002" y="246181"/>
                  <a:pt x="355798" y="200977"/>
                  <a:pt x="300037" y="200977"/>
                </a:cubicBezTo>
                <a:cubicBezTo>
                  <a:pt x="244276" y="200977"/>
                  <a:pt x="199072" y="246181"/>
                  <a:pt x="199072" y="301944"/>
                </a:cubicBezTo>
                <a:cubicBezTo>
                  <a:pt x="199072" y="357705"/>
                  <a:pt x="244276" y="402907"/>
                  <a:pt x="300037" y="402907"/>
                </a:cubicBezTo>
                <a:close/>
                <a:moveTo>
                  <a:pt x="0" y="0"/>
                </a:moveTo>
                <a:moveTo>
                  <a:pt x="442912" y="442912"/>
                </a:moveTo>
                <a:lnTo>
                  <a:pt x="372389" y="372389"/>
                </a:lnTo>
                <a:moveTo>
                  <a:pt x="75247" y="423858"/>
                </a:moveTo>
                <a:cubicBezTo>
                  <a:pt x="75247" y="435288"/>
                  <a:pt x="67627" y="442908"/>
                  <a:pt x="56197" y="442908"/>
                </a:cubicBezTo>
                <a:lnTo>
                  <a:pt x="33337" y="442908"/>
                </a:lnTo>
                <a:cubicBezTo>
                  <a:pt x="21907" y="442908"/>
                  <a:pt x="14287" y="435288"/>
                  <a:pt x="14287" y="423858"/>
                </a:cubicBezTo>
                <a:lnTo>
                  <a:pt x="14287" y="210498"/>
                </a:lnTo>
                <a:cubicBezTo>
                  <a:pt x="14287" y="199068"/>
                  <a:pt x="21907" y="191448"/>
                  <a:pt x="33337" y="191448"/>
                </a:cubicBezTo>
                <a:lnTo>
                  <a:pt x="56197" y="191448"/>
                </a:lnTo>
                <a:cubicBezTo>
                  <a:pt x="67627" y="191448"/>
                  <a:pt x="75247" y="199068"/>
                  <a:pt x="75247" y="210498"/>
                </a:cubicBezTo>
                <a:lnTo>
                  <a:pt x="75247" y="423858"/>
                </a:lnTo>
                <a:close/>
                <a:moveTo>
                  <a:pt x="195262" y="408616"/>
                </a:moveTo>
                <a:lnTo>
                  <a:pt x="195262" y="423856"/>
                </a:lnTo>
                <a:cubicBezTo>
                  <a:pt x="195262" y="435286"/>
                  <a:pt x="187643" y="442906"/>
                  <a:pt x="176213" y="442906"/>
                </a:cubicBezTo>
                <a:lnTo>
                  <a:pt x="153353" y="442906"/>
                </a:lnTo>
                <a:cubicBezTo>
                  <a:pt x="141923" y="442906"/>
                  <a:pt x="134303" y="435286"/>
                  <a:pt x="134303" y="423856"/>
                </a:cubicBezTo>
                <a:lnTo>
                  <a:pt x="134303" y="160966"/>
                </a:lnTo>
                <a:cubicBezTo>
                  <a:pt x="134303" y="149536"/>
                  <a:pt x="141923" y="141916"/>
                  <a:pt x="153353" y="141916"/>
                </a:cubicBezTo>
                <a:lnTo>
                  <a:pt x="176213" y="141916"/>
                </a:lnTo>
                <a:cubicBezTo>
                  <a:pt x="187643" y="141916"/>
                  <a:pt x="195262" y="149536"/>
                  <a:pt x="195262" y="160966"/>
                </a:cubicBezTo>
                <a:lnTo>
                  <a:pt x="195262" y="180016"/>
                </a:lnTo>
                <a:moveTo>
                  <a:pt x="252412" y="124777"/>
                </a:moveTo>
                <a:lnTo>
                  <a:pt x="252412" y="33337"/>
                </a:lnTo>
                <a:cubicBezTo>
                  <a:pt x="252412" y="21907"/>
                  <a:pt x="260032" y="14287"/>
                  <a:pt x="271462" y="14287"/>
                </a:cubicBezTo>
                <a:lnTo>
                  <a:pt x="300037" y="14287"/>
                </a:lnTo>
                <a:cubicBezTo>
                  <a:pt x="311467" y="14287"/>
                  <a:pt x="319087" y="21907"/>
                  <a:pt x="319087" y="33337"/>
                </a:cubicBezTo>
                <a:lnTo>
                  <a:pt x="319087" y="124777"/>
                </a:lnTo>
                <a:moveTo>
                  <a:pt x="376237" y="130492"/>
                </a:moveTo>
                <a:lnTo>
                  <a:pt x="376237" y="80962"/>
                </a:lnTo>
                <a:cubicBezTo>
                  <a:pt x="376237" y="69532"/>
                  <a:pt x="383857" y="61912"/>
                  <a:pt x="395287" y="61912"/>
                </a:cubicBezTo>
                <a:lnTo>
                  <a:pt x="423862" y="61912"/>
                </a:lnTo>
                <a:cubicBezTo>
                  <a:pt x="435292" y="61912"/>
                  <a:pt x="442912" y="69532"/>
                  <a:pt x="442912" y="80962"/>
                </a:cubicBezTo>
                <a:lnTo>
                  <a:pt x="442912" y="319087"/>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3926527" y="2492888"/>
            <a:ext cx="1203727"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Exploratory
Data Analysis</a:t>
            </a:r>
          </a:p>
        </p:txBody>
      </p:sp>
      <p:sp>
        <p:nvSpPr>
          <p:cNvPr id="12" name="TextBox 11"/>
          <p:cNvSpPr txBox="1"/>
          <p:nvPr/>
        </p:nvSpPr>
        <p:spPr>
          <a:xfrm>
            <a:off x="6604826" y="2416296"/>
            <a:ext cx="1311256" cy="492443"/>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Data Pattern
Understanding</a:t>
            </a:r>
          </a:p>
        </p:txBody>
      </p:sp>
      <p:sp>
        <p:nvSpPr>
          <p:cNvPr id="13" name="TextBox 12"/>
          <p:cNvSpPr txBox="1"/>
          <p:nvPr/>
        </p:nvSpPr>
        <p:spPr>
          <a:xfrm>
            <a:off x="864962" y="2983033"/>
            <a:ext cx="1586973" cy="430887"/>
          </a:xfrm>
          <a:prstGeom prst="rect">
            <a:avLst/>
          </a:prstGeom>
          <a:noFill/>
          <a:ln>
            <a:noFill/>
          </a:ln>
        </p:spPr>
        <p:txBody>
          <a:bodyPr wrap="none" lIns="0" tIns="0" rIns="0" bIns="0" anchor="t">
            <a:spAutoFit/>
          </a:bodyPr>
          <a:lstStyle/>
          <a:p>
            <a:pPr algn="r"/>
            <a:r>
              <a:rPr sz="1400" b="0" dirty="0">
                <a:latin typeface="Times New Roman" panose="02020603050405020304" pitchFamily="18" charset="0"/>
                <a:cs typeface="Times New Roman" panose="02020603050405020304" pitchFamily="18" charset="0"/>
              </a:rPr>
              <a:t>Few movies dominate
popularity</a:t>
            </a:r>
          </a:p>
        </p:txBody>
      </p:sp>
      <p:sp>
        <p:nvSpPr>
          <p:cNvPr id="14" name="TextBox 13"/>
          <p:cNvSpPr txBox="1"/>
          <p:nvPr/>
        </p:nvSpPr>
        <p:spPr>
          <a:xfrm>
            <a:off x="6604826" y="3000539"/>
            <a:ext cx="1380186" cy="646331"/>
          </a:xfrm>
          <a:prstGeom prst="rect">
            <a:avLst/>
          </a:prstGeom>
          <a:noFill/>
          <a:ln>
            <a:noFill/>
          </a:ln>
        </p:spPr>
        <p:txBody>
          <a:bodyPr wrap="none" lIns="0" tIns="0" rIns="0" bIns="0" anchor="t">
            <a:spAutoFit/>
          </a:bodyPr>
          <a:lstStyle/>
          <a:p>
            <a:pPr algn="l"/>
            <a:r>
              <a:rPr sz="1400" b="0" dirty="0">
                <a:latin typeface="Times New Roman" panose="02020603050405020304" pitchFamily="18" charset="0"/>
                <a:cs typeface="Times New Roman" panose="02020603050405020304" pitchFamily="18" charset="0"/>
              </a:rPr>
              <a:t>Justified
transformations for
better analysis</a:t>
            </a:r>
          </a:p>
        </p:txBody>
      </p:sp>
      <p:sp>
        <p:nvSpPr>
          <p:cNvPr id="15" name="TextBox 14"/>
          <p:cNvSpPr txBox="1"/>
          <p:nvPr/>
        </p:nvSpPr>
        <p:spPr>
          <a:xfrm>
            <a:off x="1792547" y="4354633"/>
            <a:ext cx="1585370"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Apply log
transformation to data</a:t>
            </a:r>
          </a:p>
        </p:txBody>
      </p:sp>
      <p:sp>
        <p:nvSpPr>
          <p:cNvPr id="16" name="TextBox 15"/>
          <p:cNvSpPr txBox="1"/>
          <p:nvPr/>
        </p:nvSpPr>
        <p:spPr>
          <a:xfrm>
            <a:off x="3615475" y="4354633"/>
            <a:ext cx="1825821"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Analyze vote distribution
with histogram</a:t>
            </a:r>
          </a:p>
        </p:txBody>
      </p:sp>
      <p:sp>
        <p:nvSpPr>
          <p:cNvPr id="17" name="TextBox 16"/>
          <p:cNvSpPr txBox="1"/>
          <p:nvPr/>
        </p:nvSpPr>
        <p:spPr>
          <a:xfrm>
            <a:off x="5718045" y="4354633"/>
            <a:ext cx="1506823"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Examine correlation
between rating count
and success</a:t>
            </a:r>
          </a:p>
        </p:txBody>
      </p:sp>
      <p:pic>
        <p:nvPicPr>
          <p:cNvPr id="18" name="Picture 17">
            <a:extLst>
              <a:ext uri="{FF2B5EF4-FFF2-40B4-BE49-F238E27FC236}">
                <a16:creationId xmlns:a16="http://schemas.microsoft.com/office/drawing/2014/main" id="{7A052375-9AC7-704B-FD7B-7CFE1B595A6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09379" y="5166572"/>
            <a:ext cx="1148464" cy="1148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2723AB-D618-F067-927D-10331791F6A5}"/>
              </a:ext>
            </a:extLst>
          </p:cNvPr>
          <p:cNvPicPr>
            <a:picLocks noChangeAspect="1"/>
          </p:cNvPicPr>
          <p:nvPr/>
        </p:nvPicPr>
        <p:blipFill>
          <a:blip r:embed="rId2"/>
          <a:stretch>
            <a:fillRect/>
          </a:stretch>
        </p:blipFill>
        <p:spPr>
          <a:xfrm>
            <a:off x="4849495" y="1667541"/>
            <a:ext cx="3423203" cy="2155130"/>
          </a:xfrm>
          <a:prstGeom prst="rect">
            <a:avLst/>
          </a:prstGeom>
        </p:spPr>
      </p:pic>
      <p:pic>
        <p:nvPicPr>
          <p:cNvPr id="4" name="Picture 3">
            <a:extLst>
              <a:ext uri="{FF2B5EF4-FFF2-40B4-BE49-F238E27FC236}">
                <a16:creationId xmlns:a16="http://schemas.microsoft.com/office/drawing/2014/main" id="{E6629C3F-9DE0-4E99-17AA-CBE09407A6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36202" y="5157500"/>
            <a:ext cx="1148464" cy="1148464"/>
          </a:xfrm>
          <a:prstGeom prst="rect">
            <a:avLst/>
          </a:prstGeom>
        </p:spPr>
      </p:pic>
      <p:pic>
        <p:nvPicPr>
          <p:cNvPr id="26" name="Picture 25">
            <a:extLst>
              <a:ext uri="{FF2B5EF4-FFF2-40B4-BE49-F238E27FC236}">
                <a16:creationId xmlns:a16="http://schemas.microsoft.com/office/drawing/2014/main" id="{B0AEF502-9700-B2BC-85EC-06EC5B505849}"/>
              </a:ext>
            </a:extLst>
          </p:cNvPr>
          <p:cNvPicPr>
            <a:picLocks noChangeAspect="1"/>
          </p:cNvPicPr>
          <p:nvPr/>
        </p:nvPicPr>
        <p:blipFill>
          <a:blip r:embed="rId5"/>
          <a:stretch>
            <a:fillRect/>
          </a:stretch>
        </p:blipFill>
        <p:spPr>
          <a:xfrm>
            <a:off x="871302" y="1671142"/>
            <a:ext cx="3423204" cy="2155130"/>
          </a:xfrm>
          <a:prstGeom prst="rect">
            <a:avLst/>
          </a:prstGeom>
        </p:spPr>
      </p:pic>
      <p:sp>
        <p:nvSpPr>
          <p:cNvPr id="5" name="TextBox 4">
            <a:extLst>
              <a:ext uri="{FF2B5EF4-FFF2-40B4-BE49-F238E27FC236}">
                <a16:creationId xmlns:a16="http://schemas.microsoft.com/office/drawing/2014/main" id="{42874762-47FC-20BA-5519-5A314230A6DF}"/>
              </a:ext>
            </a:extLst>
          </p:cNvPr>
          <p:cNvSpPr txBox="1"/>
          <p:nvPr/>
        </p:nvSpPr>
        <p:spPr>
          <a:xfrm>
            <a:off x="-633372" y="961023"/>
            <a:ext cx="6932571"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Understanding Data Patterns:</a:t>
            </a:r>
          </a:p>
        </p:txBody>
      </p:sp>
      <p:sp>
        <p:nvSpPr>
          <p:cNvPr id="8" name="TextBox 7">
            <a:extLst>
              <a:ext uri="{FF2B5EF4-FFF2-40B4-BE49-F238E27FC236}">
                <a16:creationId xmlns:a16="http://schemas.microsoft.com/office/drawing/2014/main" id="{3FD0F360-74CD-8855-CD64-5B016DA94117}"/>
              </a:ext>
            </a:extLst>
          </p:cNvPr>
          <p:cNvSpPr txBox="1"/>
          <p:nvPr/>
        </p:nvSpPr>
        <p:spPr>
          <a:xfrm>
            <a:off x="807126" y="4529189"/>
            <a:ext cx="3551556" cy="738664"/>
          </a:xfrm>
          <a:prstGeom prst="rect">
            <a:avLst/>
          </a:prstGeom>
          <a:noFill/>
        </p:spPr>
        <p:txBody>
          <a:bodyPr wrap="square">
            <a:spAutoFit/>
          </a:bodyPr>
          <a:lstStyle/>
          <a:p>
            <a:r>
              <a:rPr lang="en-GB" sz="1400" dirty="0">
                <a:latin typeface="Times New Roman" panose="02020603050405020304" pitchFamily="18" charset="0"/>
                <a:cs typeface="Times New Roman" panose="02020603050405020304" pitchFamily="18" charset="0"/>
              </a:rPr>
              <a:t>This above graph shows that most movies receive low engagement, while only a few movies become highly popular.</a:t>
            </a:r>
            <a:endParaRPr lang="en-IN"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972F101-2BA9-3C03-25F7-5ECB6A451A92}"/>
              </a:ext>
            </a:extLst>
          </p:cNvPr>
          <p:cNvSpPr txBox="1"/>
          <p:nvPr/>
        </p:nvSpPr>
        <p:spPr>
          <a:xfrm>
            <a:off x="807126" y="3980160"/>
            <a:ext cx="3551556" cy="307777"/>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Fig-1. Popularity Distribution (IMDb Votes)</a:t>
            </a:r>
          </a:p>
        </p:txBody>
      </p:sp>
      <p:sp>
        <p:nvSpPr>
          <p:cNvPr id="11" name="TextBox 10">
            <a:extLst>
              <a:ext uri="{FF2B5EF4-FFF2-40B4-BE49-F238E27FC236}">
                <a16:creationId xmlns:a16="http://schemas.microsoft.com/office/drawing/2014/main" id="{5B7060D0-7AB2-0FAE-F7BA-7739A5834426}"/>
              </a:ext>
            </a:extLst>
          </p:cNvPr>
          <p:cNvSpPr txBox="1"/>
          <p:nvPr/>
        </p:nvSpPr>
        <p:spPr>
          <a:xfrm>
            <a:off x="4752975" y="4005969"/>
            <a:ext cx="3423203" cy="52322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Fig-2. </a:t>
            </a:r>
            <a:r>
              <a:rPr lang="en-GB" sz="1400" b="1" dirty="0">
                <a:latin typeface="Times New Roman" panose="02020603050405020304" pitchFamily="18" charset="0"/>
                <a:cs typeface="Times New Roman" panose="02020603050405020304" pitchFamily="18" charset="0"/>
              </a:rPr>
              <a:t>Early Engagement vs Long-Term Success</a:t>
            </a:r>
            <a:endParaRPr lang="en-IN" sz="1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3881B0C-2496-571E-0536-B89AD5AEB488}"/>
              </a:ext>
            </a:extLst>
          </p:cNvPr>
          <p:cNvSpPr txBox="1"/>
          <p:nvPr/>
        </p:nvSpPr>
        <p:spPr>
          <a:xfrm>
            <a:off x="4752975" y="4529189"/>
            <a:ext cx="3423203" cy="738664"/>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This </a:t>
            </a:r>
            <a:r>
              <a:rPr lang="en-GB" sz="1400" dirty="0">
                <a:latin typeface="Times New Roman" panose="02020603050405020304" pitchFamily="18" charset="0"/>
                <a:cs typeface="Times New Roman" panose="02020603050405020304" pitchFamily="18" charset="0"/>
              </a:rPr>
              <a:t>above </a:t>
            </a:r>
            <a:r>
              <a:rPr lang="en-IN" sz="1400" dirty="0">
                <a:latin typeface="Times New Roman" panose="02020603050405020304" pitchFamily="18" charset="0"/>
                <a:cs typeface="Times New Roman" panose="02020603050405020304" pitchFamily="18" charset="0"/>
              </a:rPr>
              <a:t>graph shows that movies with higher early engagement tend to achieve higher long-term success</a:t>
            </a:r>
          </a:p>
        </p:txBody>
      </p:sp>
    </p:spTree>
    <p:extLst>
      <p:ext uri="{BB962C8B-B14F-4D97-AF65-F5344CB8AC3E}">
        <p14:creationId xmlns:p14="http://schemas.microsoft.com/office/powerpoint/2010/main" val="1197264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757914" y="3465054"/>
            <a:ext cx="914400" cy="114300"/>
          </a:xfrm>
          <a:custGeom>
            <a:avLst/>
            <a:gdLst/>
            <a:ahLst/>
            <a:cxnLst/>
            <a:rect l="0" t="0" r="0" b="0"/>
            <a:pathLst>
              <a:path w="914400" h="114300">
                <a:moveTo>
                  <a:pt x="0" y="0"/>
                </a:moveTo>
                <a:lnTo>
                  <a:pt x="914400" y="0"/>
                </a:lnTo>
                <a:lnTo>
                  <a:pt x="914400" y="114300"/>
                </a:lnTo>
                <a:lnTo>
                  <a:pt x="0" y="114300"/>
                </a:lnTo>
                <a:lnTo>
                  <a:pt x="0" y="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2672314" y="3465054"/>
            <a:ext cx="914400" cy="114300"/>
          </a:xfrm>
          <a:custGeom>
            <a:avLst/>
            <a:gdLst/>
            <a:ahLst/>
            <a:cxnLst/>
            <a:rect l="0" t="0" r="0" b="0"/>
            <a:pathLst>
              <a:path w="914400" h="114300">
                <a:moveTo>
                  <a:pt x="0" y="0"/>
                </a:moveTo>
                <a:lnTo>
                  <a:pt x="914400" y="0"/>
                </a:lnTo>
                <a:lnTo>
                  <a:pt x="914400" y="114300"/>
                </a:lnTo>
                <a:lnTo>
                  <a:pt x="0" y="11430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3586714" y="3465054"/>
            <a:ext cx="914400" cy="114300"/>
          </a:xfrm>
          <a:custGeom>
            <a:avLst/>
            <a:gdLst/>
            <a:ahLst/>
            <a:cxnLst/>
            <a:rect l="0" t="0" r="0" b="0"/>
            <a:pathLst>
              <a:path w="914400" h="114300">
                <a:moveTo>
                  <a:pt x="0" y="0"/>
                </a:moveTo>
                <a:lnTo>
                  <a:pt x="914400" y="0"/>
                </a:lnTo>
                <a:lnTo>
                  <a:pt x="914400" y="114300"/>
                </a:lnTo>
                <a:lnTo>
                  <a:pt x="0" y="11430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4501114" y="3465054"/>
            <a:ext cx="914400" cy="114300"/>
          </a:xfrm>
          <a:custGeom>
            <a:avLst/>
            <a:gdLst/>
            <a:ahLst/>
            <a:cxnLst/>
            <a:rect l="0" t="0" r="0" b="0"/>
            <a:pathLst>
              <a:path w="914400" h="114300">
                <a:moveTo>
                  <a:pt x="0" y="0"/>
                </a:moveTo>
                <a:lnTo>
                  <a:pt x="914400" y="0"/>
                </a:lnTo>
                <a:lnTo>
                  <a:pt x="914400" y="114300"/>
                </a:lnTo>
                <a:lnTo>
                  <a:pt x="0" y="11430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p:cNvSpPr/>
          <p:nvPr/>
        </p:nvSpPr>
        <p:spPr>
          <a:xfrm>
            <a:off x="5415514" y="3465054"/>
            <a:ext cx="914400" cy="114300"/>
          </a:xfrm>
          <a:custGeom>
            <a:avLst/>
            <a:gdLst/>
            <a:ahLst/>
            <a:cxnLst/>
            <a:rect l="0" t="0" r="0" b="0"/>
            <a:pathLst>
              <a:path w="914400" h="114300">
                <a:moveTo>
                  <a:pt x="0" y="0"/>
                </a:moveTo>
                <a:lnTo>
                  <a:pt x="914400" y="0"/>
                </a:lnTo>
                <a:lnTo>
                  <a:pt x="914400" y="114300"/>
                </a:lnTo>
                <a:lnTo>
                  <a:pt x="0" y="114300"/>
                </a:lnTo>
                <a:lnTo>
                  <a:pt x="0" y="0"/>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ounded Rectangle 6"/>
          <p:cNvSpPr/>
          <p:nvPr/>
        </p:nvSpPr>
        <p:spPr>
          <a:xfrm>
            <a:off x="6329914" y="3403141"/>
            <a:ext cx="914400" cy="238125"/>
          </a:xfrm>
          <a:custGeom>
            <a:avLst/>
            <a:gdLst/>
            <a:ahLst/>
            <a:cxnLst/>
            <a:rect l="0" t="0" r="0" b="0"/>
            <a:pathLst>
              <a:path w="914400" h="238125">
                <a:moveTo>
                  <a:pt x="0" y="61912"/>
                </a:moveTo>
                <a:lnTo>
                  <a:pt x="740228" y="61912"/>
                </a:lnTo>
                <a:lnTo>
                  <a:pt x="740228" y="0"/>
                </a:lnTo>
                <a:lnTo>
                  <a:pt x="914400" y="119062"/>
                </a:lnTo>
                <a:lnTo>
                  <a:pt x="740228" y="238125"/>
                </a:lnTo>
                <a:lnTo>
                  <a:pt x="740228" y="176212"/>
                </a:lnTo>
                <a:lnTo>
                  <a:pt x="0" y="176212"/>
                </a:lnTo>
                <a:lnTo>
                  <a:pt x="0" y="61912"/>
                </a:lnTo>
                <a:close/>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919847" y="1114271"/>
            <a:ext cx="2806730"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Modelling Approach:</a:t>
            </a:r>
            <a:endParaRPr sz="24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471614" y="4688301"/>
            <a:ext cx="907301"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Improved
performance</a:t>
            </a:r>
          </a:p>
        </p:txBody>
      </p:sp>
      <p:sp>
        <p:nvSpPr>
          <p:cNvPr id="10" name="TextBox 9"/>
          <p:cNvSpPr txBox="1"/>
          <p:nvPr/>
        </p:nvSpPr>
        <p:spPr>
          <a:xfrm>
            <a:off x="1525853" y="2067393"/>
            <a:ext cx="1184171"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Production only,
Audience only,
Combined</a:t>
            </a:r>
          </a:p>
        </p:txBody>
      </p:sp>
      <p:sp>
        <p:nvSpPr>
          <p:cNvPr id="11" name="TextBox 10"/>
          <p:cNvSpPr txBox="1"/>
          <p:nvPr/>
        </p:nvSpPr>
        <p:spPr>
          <a:xfrm>
            <a:off x="3431185" y="2074219"/>
            <a:ext cx="1231107"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Ensuring reliable
results</a:t>
            </a:r>
          </a:p>
        </p:txBody>
      </p:sp>
      <p:sp>
        <p:nvSpPr>
          <p:cNvPr id="12" name="TextBox 11"/>
          <p:cNvSpPr txBox="1"/>
          <p:nvPr/>
        </p:nvSpPr>
        <p:spPr>
          <a:xfrm>
            <a:off x="1576802" y="2855454"/>
            <a:ext cx="1276568"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Compared 3
feature groups</a:t>
            </a:r>
          </a:p>
        </p:txBody>
      </p:sp>
      <p:sp>
        <p:nvSpPr>
          <p:cNvPr id="13" name="TextBox 12"/>
          <p:cNvSpPr txBox="1"/>
          <p:nvPr/>
        </p:nvSpPr>
        <p:spPr>
          <a:xfrm>
            <a:off x="3439479" y="2855454"/>
            <a:ext cx="1208792" cy="461665"/>
          </a:xfrm>
          <a:prstGeom prst="rect">
            <a:avLst/>
          </a:prstGeom>
          <a:noFill/>
          <a:ln>
            <a:noFill/>
          </a:ln>
        </p:spPr>
        <p:txBody>
          <a:bodyPr wrap="none" lIns="0" tIns="0" rIns="0" bIns="0" anchor="t">
            <a:spAutoFit/>
          </a:bodyPr>
          <a:lstStyle/>
          <a:p>
            <a:pPr algn="ctr"/>
            <a:r>
              <a:rPr sz="1500" b="1" dirty="0">
                <a:latin typeface="Times New Roman" panose="02020603050405020304" pitchFamily="18" charset="0"/>
                <a:cs typeface="Times New Roman" panose="02020603050405020304" pitchFamily="18" charset="0"/>
              </a:rPr>
              <a:t>Train-test split
(80/20)</a:t>
            </a:r>
          </a:p>
        </p:txBody>
      </p:sp>
      <p:sp>
        <p:nvSpPr>
          <p:cNvPr id="14" name="TextBox 13"/>
          <p:cNvSpPr txBox="1"/>
          <p:nvPr/>
        </p:nvSpPr>
        <p:spPr>
          <a:xfrm>
            <a:off x="2323212" y="3840324"/>
            <a:ext cx="1216680" cy="738664"/>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Audience
model → R² ≈
0.8</a:t>
            </a:r>
            <a:r>
              <a:rPr lang="en-IN" sz="1600" b="1" dirty="0">
                <a:latin typeface="Times New Roman" panose="02020603050405020304" pitchFamily="18" charset="0"/>
                <a:cs typeface="Times New Roman" panose="02020603050405020304" pitchFamily="18" charset="0"/>
              </a:rPr>
              <a:t>0</a:t>
            </a:r>
            <a:endParaRPr sz="16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841591" y="2536162"/>
            <a:ext cx="2248788" cy="923330"/>
          </a:xfrm>
          <a:prstGeom prst="rect">
            <a:avLst/>
          </a:prstGeom>
          <a:noFill/>
          <a:ln>
            <a:noFill/>
          </a:ln>
        </p:spPr>
        <p:txBody>
          <a:bodyPr wrap="square" lIns="0" tIns="0" rIns="0" bIns="0" anchor="t">
            <a:spAutoFit/>
          </a:bodyPr>
          <a:lstStyle/>
          <a:p>
            <a:pPr algn="ctr"/>
            <a:r>
              <a:rPr sz="1500" b="1" dirty="0">
                <a:latin typeface="Times New Roman" panose="02020603050405020304" pitchFamily="18" charset="0"/>
                <a:cs typeface="Times New Roman" panose="02020603050405020304" pitchFamily="18" charset="0"/>
              </a:rPr>
              <a:t>Models used:
Linear
Regression,
Random Forest</a:t>
            </a:r>
          </a:p>
        </p:txBody>
      </p:sp>
      <p:sp>
        <p:nvSpPr>
          <p:cNvPr id="16" name="TextBox 15"/>
          <p:cNvSpPr txBox="1"/>
          <p:nvPr/>
        </p:nvSpPr>
        <p:spPr>
          <a:xfrm>
            <a:off x="4347607" y="3769854"/>
            <a:ext cx="1221489" cy="738664"/>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Production
model → R² =
0.61</a:t>
            </a:r>
          </a:p>
        </p:txBody>
      </p:sp>
      <p:sp>
        <p:nvSpPr>
          <p:cNvPr id="17" name="TextBox 16"/>
          <p:cNvSpPr txBox="1"/>
          <p:nvPr/>
        </p:nvSpPr>
        <p:spPr>
          <a:xfrm>
            <a:off x="6176407" y="3769854"/>
            <a:ext cx="1221489" cy="738664"/>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Combined
model → R² =
0.</a:t>
            </a:r>
            <a:r>
              <a:rPr lang="en-IN" sz="1600" b="1" dirty="0">
                <a:latin typeface="Times New Roman" panose="02020603050405020304" pitchFamily="18" charset="0"/>
                <a:cs typeface="Times New Roman" panose="02020603050405020304" pitchFamily="18" charset="0"/>
              </a:rPr>
              <a:t>86</a:t>
            </a:r>
            <a:endParaRPr sz="16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4532339" y="4663559"/>
            <a:ext cx="907301"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Baseline
performance</a:t>
            </a:r>
          </a:p>
        </p:txBody>
      </p:sp>
      <p:sp>
        <p:nvSpPr>
          <p:cNvPr id="19" name="TextBox 18"/>
          <p:cNvSpPr txBox="1"/>
          <p:nvPr/>
        </p:nvSpPr>
        <p:spPr>
          <a:xfrm>
            <a:off x="6337013" y="4705546"/>
            <a:ext cx="907301"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Optimal
performance</a:t>
            </a:r>
          </a:p>
        </p:txBody>
      </p:sp>
      <p:sp>
        <p:nvSpPr>
          <p:cNvPr id="20" name="TextBox 19"/>
          <p:cNvSpPr txBox="1"/>
          <p:nvPr/>
        </p:nvSpPr>
        <p:spPr>
          <a:xfrm>
            <a:off x="5383454" y="1995083"/>
            <a:ext cx="1243930"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Simple and
advanced models</a:t>
            </a:r>
          </a:p>
        </p:txBody>
      </p:sp>
      <p:pic>
        <p:nvPicPr>
          <p:cNvPr id="22" name="Picture 21">
            <a:extLst>
              <a:ext uri="{FF2B5EF4-FFF2-40B4-BE49-F238E27FC236}">
                <a16:creationId xmlns:a16="http://schemas.microsoft.com/office/drawing/2014/main" id="{9E2DCF81-920B-A3A5-167A-67D491CFB8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44314" y="5119188"/>
            <a:ext cx="1148464" cy="1148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050512D-3CA0-B90D-97D3-4A3CFAADE28F}"/>
              </a:ext>
            </a:extLst>
          </p:cNvPr>
          <p:cNvSpPr/>
          <p:nvPr/>
        </p:nvSpPr>
        <p:spPr>
          <a:xfrm>
            <a:off x="2519838" y="1688587"/>
            <a:ext cx="1257300" cy="685800"/>
          </a:xfrm>
          <a:custGeom>
            <a:avLst/>
            <a:gdLst/>
            <a:ahLst/>
            <a:cxnLst/>
            <a:rect l="0" t="0" r="0" b="0"/>
            <a:pathLst>
              <a:path w="1257300" h="685800">
                <a:moveTo>
                  <a:pt x="0" y="0"/>
                </a:moveTo>
                <a:lnTo>
                  <a:pt x="1257300" y="0"/>
                </a:lnTo>
                <a:moveTo>
                  <a:pt x="1257300" y="685800"/>
                </a:move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EF7BE0EA-DB5C-1D26-6193-0BE425287DC1}"/>
              </a:ext>
            </a:extLst>
          </p:cNvPr>
          <p:cNvSpPr/>
          <p:nvPr/>
        </p:nvSpPr>
        <p:spPr>
          <a:xfrm>
            <a:off x="2348388" y="1688587"/>
            <a:ext cx="171450" cy="685800"/>
          </a:xfrm>
          <a:custGeom>
            <a:avLst/>
            <a:gdLst/>
            <a:ahLst/>
            <a:cxnLst/>
            <a:rect l="0" t="0" r="0" b="0"/>
            <a:pathLst>
              <a:path w="171450" h="685800">
                <a:moveTo>
                  <a:pt x="171450" y="0"/>
                </a:moveTo>
                <a:lnTo>
                  <a:pt x="152400" y="0"/>
                </a:lnTo>
                <a:cubicBezTo>
                  <a:pt x="68231" y="0"/>
                  <a:pt x="0" y="68231"/>
                  <a:pt x="0" y="152400"/>
                </a:cubicBezTo>
                <a:moveTo>
                  <a:pt x="171450" y="685800"/>
                </a:moveTo>
                <a:lnTo>
                  <a:pt x="152400" y="685800"/>
                </a:lnTo>
                <a:cubicBezTo>
                  <a:pt x="68231" y="685800"/>
                  <a:pt x="0" y="617568"/>
                  <a:pt x="0" y="533400"/>
                </a:cubicBezTo>
                <a:moveTo>
                  <a:pt x="0" y="533400"/>
                </a:moveTo>
                <a:lnTo>
                  <a:pt x="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961345B8-FE1B-3E98-8F22-5C53D41DEA58}"/>
              </a:ext>
            </a:extLst>
          </p:cNvPr>
          <p:cNvSpPr/>
          <p:nvPr/>
        </p:nvSpPr>
        <p:spPr>
          <a:xfrm>
            <a:off x="3777138" y="1688587"/>
            <a:ext cx="171450" cy="685800"/>
          </a:xfrm>
          <a:custGeom>
            <a:avLst/>
            <a:gdLst/>
            <a:ahLst/>
            <a:cxnLst/>
            <a:rect l="0" t="0" r="0" b="0"/>
            <a:pathLst>
              <a:path w="171450" h="685800">
                <a:moveTo>
                  <a:pt x="0" y="0"/>
                </a:moveTo>
                <a:lnTo>
                  <a:pt x="19050" y="0"/>
                </a:lnTo>
                <a:cubicBezTo>
                  <a:pt x="103218" y="0"/>
                  <a:pt x="171450" y="68231"/>
                  <a:pt x="171450" y="152400"/>
                </a:cubicBezTo>
                <a:moveTo>
                  <a:pt x="0" y="685800"/>
                </a:moveTo>
                <a:lnTo>
                  <a:pt x="19050" y="685800"/>
                </a:lnTo>
                <a:cubicBezTo>
                  <a:pt x="103218" y="685800"/>
                  <a:pt x="171450" y="617568"/>
                  <a:pt x="171450" y="533400"/>
                </a:cubicBezTo>
                <a:moveTo>
                  <a:pt x="171450" y="533400"/>
                </a:moveTo>
                <a:lnTo>
                  <a:pt x="17145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C95C7C84-7990-B54C-2D9D-F54AF05E3D64}"/>
              </a:ext>
            </a:extLst>
          </p:cNvPr>
          <p:cNvSpPr/>
          <p:nvPr/>
        </p:nvSpPr>
        <p:spPr>
          <a:xfrm>
            <a:off x="5186838" y="1688587"/>
            <a:ext cx="1257300" cy="685800"/>
          </a:xfrm>
          <a:custGeom>
            <a:avLst/>
            <a:gdLst/>
            <a:ahLst/>
            <a:cxnLst/>
            <a:rect l="0" t="0" r="0" b="0"/>
            <a:pathLst>
              <a:path w="1257300" h="685800">
                <a:moveTo>
                  <a:pt x="0" y="0"/>
                </a:moveTo>
                <a:lnTo>
                  <a:pt x="1257300" y="0"/>
                </a:lnTo>
                <a:moveTo>
                  <a:pt x="1257300" y="685800"/>
                </a:move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EC38CFC5-7A81-F354-03F6-04407019991E}"/>
              </a:ext>
            </a:extLst>
          </p:cNvPr>
          <p:cNvSpPr/>
          <p:nvPr/>
        </p:nvSpPr>
        <p:spPr>
          <a:xfrm>
            <a:off x="5015388" y="1688587"/>
            <a:ext cx="171450" cy="685800"/>
          </a:xfrm>
          <a:custGeom>
            <a:avLst/>
            <a:gdLst/>
            <a:ahLst/>
            <a:cxnLst/>
            <a:rect l="0" t="0" r="0" b="0"/>
            <a:pathLst>
              <a:path w="171450" h="685800">
                <a:moveTo>
                  <a:pt x="171450" y="0"/>
                </a:moveTo>
                <a:lnTo>
                  <a:pt x="152400" y="0"/>
                </a:lnTo>
                <a:cubicBezTo>
                  <a:pt x="68231" y="0"/>
                  <a:pt x="0" y="68231"/>
                  <a:pt x="0" y="152400"/>
                </a:cubicBezTo>
                <a:moveTo>
                  <a:pt x="171450" y="685800"/>
                </a:moveTo>
                <a:lnTo>
                  <a:pt x="152400" y="685800"/>
                </a:lnTo>
                <a:cubicBezTo>
                  <a:pt x="68231" y="685800"/>
                  <a:pt x="0" y="617568"/>
                  <a:pt x="0" y="533400"/>
                </a:cubicBezTo>
                <a:moveTo>
                  <a:pt x="0" y="533400"/>
                </a:moveTo>
                <a:lnTo>
                  <a:pt x="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4BBEEC68-A428-E8AB-2B64-46DAC2404FC9}"/>
              </a:ext>
            </a:extLst>
          </p:cNvPr>
          <p:cNvSpPr/>
          <p:nvPr/>
        </p:nvSpPr>
        <p:spPr>
          <a:xfrm>
            <a:off x="6444138" y="1688587"/>
            <a:ext cx="171450" cy="685800"/>
          </a:xfrm>
          <a:custGeom>
            <a:avLst/>
            <a:gdLst/>
            <a:ahLst/>
            <a:cxnLst/>
            <a:rect l="0" t="0" r="0" b="0"/>
            <a:pathLst>
              <a:path w="171450" h="685800">
                <a:moveTo>
                  <a:pt x="0" y="0"/>
                </a:moveTo>
                <a:lnTo>
                  <a:pt x="19050" y="0"/>
                </a:lnTo>
                <a:cubicBezTo>
                  <a:pt x="103218" y="0"/>
                  <a:pt x="171450" y="68231"/>
                  <a:pt x="171450" y="152400"/>
                </a:cubicBezTo>
                <a:moveTo>
                  <a:pt x="0" y="685800"/>
                </a:moveTo>
                <a:lnTo>
                  <a:pt x="19050" y="685800"/>
                </a:lnTo>
                <a:cubicBezTo>
                  <a:pt x="103218" y="685800"/>
                  <a:pt x="171450" y="617568"/>
                  <a:pt x="171450" y="533400"/>
                </a:cubicBezTo>
                <a:moveTo>
                  <a:pt x="171450" y="533400"/>
                </a:moveTo>
                <a:lnTo>
                  <a:pt x="17145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C6F0DB4D-6A0A-0C48-B08C-9CE0A55FB6B4}"/>
              </a:ext>
            </a:extLst>
          </p:cNvPr>
          <p:cNvSpPr/>
          <p:nvPr/>
        </p:nvSpPr>
        <p:spPr>
          <a:xfrm>
            <a:off x="2043588" y="2145787"/>
            <a:ext cx="2209800" cy="1257300"/>
          </a:xfrm>
          <a:custGeom>
            <a:avLst/>
            <a:gdLst/>
            <a:ahLst/>
            <a:cxnLst/>
            <a:rect l="0" t="0" r="0" b="0"/>
            <a:pathLst>
              <a:path w="2209800" h="1257300">
                <a:moveTo>
                  <a:pt x="2209800" y="342900"/>
                </a:moveTo>
                <a:lnTo>
                  <a:pt x="2209800" y="1085850"/>
                </a:lnTo>
                <a:moveTo>
                  <a:pt x="0" y="1085850"/>
                </a:moveTo>
                <a:lnTo>
                  <a:pt x="0" y="342900"/>
                </a:lnTo>
                <a:moveTo>
                  <a:pt x="2209800" y="1085850"/>
                </a:moveTo>
                <a:lnTo>
                  <a:pt x="2209800" y="1104900"/>
                </a:lnTo>
                <a:cubicBezTo>
                  <a:pt x="2209800" y="1189068"/>
                  <a:pt x="2141568" y="1257300"/>
                  <a:pt x="2057400" y="1257300"/>
                </a:cubicBezTo>
                <a:lnTo>
                  <a:pt x="152400" y="1257300"/>
                </a:lnTo>
                <a:cubicBezTo>
                  <a:pt x="68231" y="1257300"/>
                  <a:pt x="0" y="1189068"/>
                  <a:pt x="0" y="1104900"/>
                </a:cubicBezTo>
                <a:lnTo>
                  <a:pt x="0" y="1085850"/>
                </a:lnTo>
                <a:moveTo>
                  <a:pt x="0" y="342900"/>
                </a:moveTo>
                <a:lnTo>
                  <a:pt x="0" y="152400"/>
                </a:lnTo>
                <a:cubicBezTo>
                  <a:pt x="0" y="68231"/>
                  <a:pt x="68231" y="0"/>
                  <a:pt x="152400" y="0"/>
                </a:cubicBezTo>
                <a:lnTo>
                  <a:pt x="304800" y="0"/>
                </a:lnTo>
                <a:moveTo>
                  <a:pt x="2209800" y="342900"/>
                </a:moveTo>
                <a:lnTo>
                  <a:pt x="2209800" y="152400"/>
                </a:lnTo>
                <a:cubicBezTo>
                  <a:pt x="2209800" y="68231"/>
                  <a:pt x="2141568" y="0"/>
                  <a:pt x="2057400" y="0"/>
                </a:cubicBezTo>
                <a:lnTo>
                  <a:pt x="190500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0035C77E-D460-EDA8-2AE2-276605FDFD99}"/>
              </a:ext>
            </a:extLst>
          </p:cNvPr>
          <p:cNvSpPr/>
          <p:nvPr/>
        </p:nvSpPr>
        <p:spPr>
          <a:xfrm>
            <a:off x="4710588" y="2145787"/>
            <a:ext cx="2209800" cy="1257300"/>
          </a:xfrm>
          <a:custGeom>
            <a:avLst/>
            <a:gdLst/>
            <a:ahLst/>
            <a:cxnLst/>
            <a:rect l="0" t="0" r="0" b="0"/>
            <a:pathLst>
              <a:path w="2209800" h="1257300">
                <a:moveTo>
                  <a:pt x="2209800" y="342900"/>
                </a:moveTo>
                <a:lnTo>
                  <a:pt x="2209800" y="1085850"/>
                </a:lnTo>
                <a:moveTo>
                  <a:pt x="0" y="1085850"/>
                </a:moveTo>
                <a:lnTo>
                  <a:pt x="0" y="342900"/>
                </a:lnTo>
                <a:moveTo>
                  <a:pt x="2209800" y="1085850"/>
                </a:moveTo>
                <a:lnTo>
                  <a:pt x="2209800" y="1104900"/>
                </a:lnTo>
                <a:cubicBezTo>
                  <a:pt x="2209800" y="1189068"/>
                  <a:pt x="2141568" y="1257300"/>
                  <a:pt x="2057400" y="1257300"/>
                </a:cubicBezTo>
                <a:lnTo>
                  <a:pt x="152400" y="1257300"/>
                </a:lnTo>
                <a:cubicBezTo>
                  <a:pt x="68231" y="1257300"/>
                  <a:pt x="0" y="1189068"/>
                  <a:pt x="0" y="1104900"/>
                </a:cubicBezTo>
                <a:lnTo>
                  <a:pt x="0" y="1085850"/>
                </a:lnTo>
                <a:moveTo>
                  <a:pt x="0" y="342900"/>
                </a:moveTo>
                <a:lnTo>
                  <a:pt x="0" y="152400"/>
                </a:lnTo>
                <a:cubicBezTo>
                  <a:pt x="0" y="68231"/>
                  <a:pt x="68231" y="0"/>
                  <a:pt x="152400" y="0"/>
                </a:cubicBezTo>
                <a:lnTo>
                  <a:pt x="304800" y="0"/>
                </a:lnTo>
                <a:moveTo>
                  <a:pt x="2209800" y="342900"/>
                </a:moveTo>
                <a:lnTo>
                  <a:pt x="2209800" y="152400"/>
                </a:lnTo>
                <a:cubicBezTo>
                  <a:pt x="2209800" y="68231"/>
                  <a:pt x="2141568" y="0"/>
                  <a:pt x="2057400" y="0"/>
                </a:cubicBezTo>
                <a:lnTo>
                  <a:pt x="190500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6FA1B717-741E-B875-EF8A-DFAB61340625}"/>
              </a:ext>
            </a:extLst>
          </p:cNvPr>
          <p:cNvGrpSpPr/>
          <p:nvPr/>
        </p:nvGrpSpPr>
        <p:grpSpPr>
          <a:xfrm>
            <a:off x="5753575" y="3412612"/>
            <a:ext cx="123825" cy="385762"/>
            <a:chOff x="3948112" y="2924175"/>
            <a:chExt cx="123825" cy="385762"/>
          </a:xfrm>
        </p:grpSpPr>
        <p:sp>
          <p:nvSpPr>
            <p:cNvPr id="11" name="Rounded Rectangle 9">
              <a:extLst>
                <a:ext uri="{FF2B5EF4-FFF2-40B4-BE49-F238E27FC236}">
                  <a16:creationId xmlns:a16="http://schemas.microsoft.com/office/drawing/2014/main" id="{099DE310-2968-FB84-D0A2-95A666FA8CC4}"/>
                </a:ext>
              </a:extLst>
            </p:cNvPr>
            <p:cNvSpPr/>
            <p:nvPr/>
          </p:nvSpPr>
          <p:spPr>
            <a:xfrm>
              <a:off x="4010025" y="2924175"/>
              <a:ext cx="9525" cy="381000"/>
            </a:xfrm>
            <a:custGeom>
              <a:avLst/>
              <a:gdLst/>
              <a:ahLst/>
              <a:cxnLst/>
              <a:rect l="0" t="0" r="0" b="0"/>
              <a:pathLst>
                <a:path w="9525" h="381000">
                  <a:moveTo>
                    <a:pt x="0" y="381000"/>
                  </a:moveTo>
                  <a:lnTo>
                    <a:pt x="0"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0">
              <a:extLst>
                <a:ext uri="{FF2B5EF4-FFF2-40B4-BE49-F238E27FC236}">
                  <a16:creationId xmlns:a16="http://schemas.microsoft.com/office/drawing/2014/main" id="{15D5A622-A246-220B-5AFD-B55F2A072138}"/>
                </a:ext>
              </a:extLst>
            </p:cNvPr>
            <p:cNvSpPr/>
            <p:nvPr/>
          </p:nvSpPr>
          <p:spPr>
            <a:xfrm>
              <a:off x="3948112" y="3248025"/>
              <a:ext cx="123825" cy="61912"/>
            </a:xfrm>
            <a:custGeom>
              <a:avLst/>
              <a:gdLst/>
              <a:ahLst/>
              <a:cxnLst/>
              <a:rect l="0" t="0" r="0" b="0"/>
              <a:pathLst>
                <a:path w="123825" h="61912">
                  <a:moveTo>
                    <a:pt x="0" y="0"/>
                  </a:moveTo>
                  <a:lnTo>
                    <a:pt x="61912" y="61912"/>
                  </a:lnTo>
                  <a:lnTo>
                    <a:pt x="123825"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DCB6E8AD-B2B1-5C7E-674E-FA9EDCA9EAAE}"/>
              </a:ext>
            </a:extLst>
          </p:cNvPr>
          <p:cNvGrpSpPr/>
          <p:nvPr/>
        </p:nvGrpSpPr>
        <p:grpSpPr>
          <a:xfrm>
            <a:off x="4262913" y="2798249"/>
            <a:ext cx="385762" cy="123825"/>
            <a:chOff x="2457450" y="2309812"/>
            <a:chExt cx="385762" cy="123825"/>
          </a:xfrm>
        </p:grpSpPr>
        <p:sp>
          <p:nvSpPr>
            <p:cNvPr id="14" name="Rounded Rectangle 12">
              <a:extLst>
                <a:ext uri="{FF2B5EF4-FFF2-40B4-BE49-F238E27FC236}">
                  <a16:creationId xmlns:a16="http://schemas.microsoft.com/office/drawing/2014/main" id="{86437D12-CD30-ACCE-1D38-8F44AC41069C}"/>
                </a:ext>
              </a:extLst>
            </p:cNvPr>
            <p:cNvSpPr/>
            <p:nvPr/>
          </p:nvSpPr>
          <p:spPr>
            <a:xfrm>
              <a:off x="2457450" y="2371725"/>
              <a:ext cx="381000" cy="9525"/>
            </a:xfrm>
            <a:custGeom>
              <a:avLst/>
              <a:gdLst/>
              <a:ahLst/>
              <a:cxnLst/>
              <a:rect l="0" t="0" r="0" b="0"/>
              <a:pathLst>
                <a:path w="381000" h="9525">
                  <a:moveTo>
                    <a:pt x="381000" y="0"/>
                  </a:moveTo>
                  <a:lnTo>
                    <a:pt x="0"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ounded Rectangle 13">
              <a:extLst>
                <a:ext uri="{FF2B5EF4-FFF2-40B4-BE49-F238E27FC236}">
                  <a16:creationId xmlns:a16="http://schemas.microsoft.com/office/drawing/2014/main" id="{030DD842-C126-575B-462C-FB53ED2FA7BB}"/>
                </a:ext>
              </a:extLst>
            </p:cNvPr>
            <p:cNvSpPr/>
            <p:nvPr/>
          </p:nvSpPr>
          <p:spPr>
            <a:xfrm>
              <a:off x="2781300" y="2309812"/>
              <a:ext cx="61912" cy="123825"/>
            </a:xfrm>
            <a:custGeom>
              <a:avLst/>
              <a:gdLst/>
              <a:ahLst/>
              <a:cxnLst/>
              <a:rect l="0" t="0" r="0" b="0"/>
              <a:pathLst>
                <a:path w="61912" h="123825">
                  <a:moveTo>
                    <a:pt x="0" y="123825"/>
                  </a:moveTo>
                  <a:lnTo>
                    <a:pt x="61912" y="61912"/>
                  </a:lnTo>
                  <a:lnTo>
                    <a:pt x="0"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16" name="Rounded Rectangle 15">
            <a:extLst>
              <a:ext uri="{FF2B5EF4-FFF2-40B4-BE49-F238E27FC236}">
                <a16:creationId xmlns:a16="http://schemas.microsoft.com/office/drawing/2014/main" id="{768F65AF-9B97-A898-E4C7-9D07B625BCB5}"/>
              </a:ext>
            </a:extLst>
          </p:cNvPr>
          <p:cNvSpPr/>
          <p:nvPr/>
        </p:nvSpPr>
        <p:spPr>
          <a:xfrm>
            <a:off x="2519838" y="3860287"/>
            <a:ext cx="1257300" cy="685800"/>
          </a:xfrm>
          <a:custGeom>
            <a:avLst/>
            <a:gdLst/>
            <a:ahLst/>
            <a:cxnLst/>
            <a:rect l="0" t="0" r="0" b="0"/>
            <a:pathLst>
              <a:path w="1257300" h="685800">
                <a:moveTo>
                  <a:pt x="0" y="0"/>
                </a:moveTo>
                <a:lnTo>
                  <a:pt x="1257300" y="0"/>
                </a:lnTo>
                <a:moveTo>
                  <a:pt x="1257300" y="685800"/>
                </a:move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D4FA92A4-090A-3B43-376A-496AABE449FA}"/>
              </a:ext>
            </a:extLst>
          </p:cNvPr>
          <p:cNvSpPr/>
          <p:nvPr/>
        </p:nvSpPr>
        <p:spPr>
          <a:xfrm>
            <a:off x="2348388" y="3860287"/>
            <a:ext cx="171450" cy="685800"/>
          </a:xfrm>
          <a:custGeom>
            <a:avLst/>
            <a:gdLst/>
            <a:ahLst/>
            <a:cxnLst/>
            <a:rect l="0" t="0" r="0" b="0"/>
            <a:pathLst>
              <a:path w="171450" h="685800">
                <a:moveTo>
                  <a:pt x="171450" y="0"/>
                </a:moveTo>
                <a:lnTo>
                  <a:pt x="152400" y="0"/>
                </a:lnTo>
                <a:cubicBezTo>
                  <a:pt x="68231" y="0"/>
                  <a:pt x="0" y="68231"/>
                  <a:pt x="0" y="152400"/>
                </a:cubicBezTo>
                <a:moveTo>
                  <a:pt x="171450" y="685800"/>
                </a:moveTo>
                <a:lnTo>
                  <a:pt x="152400" y="685800"/>
                </a:lnTo>
                <a:cubicBezTo>
                  <a:pt x="68231" y="685800"/>
                  <a:pt x="0" y="617568"/>
                  <a:pt x="0" y="533400"/>
                </a:cubicBezTo>
                <a:moveTo>
                  <a:pt x="0" y="533400"/>
                </a:moveTo>
                <a:lnTo>
                  <a:pt x="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827AA311-7808-FC9C-C652-319C02975A1F}"/>
              </a:ext>
            </a:extLst>
          </p:cNvPr>
          <p:cNvSpPr/>
          <p:nvPr/>
        </p:nvSpPr>
        <p:spPr>
          <a:xfrm>
            <a:off x="3777138" y="3860287"/>
            <a:ext cx="171450" cy="685800"/>
          </a:xfrm>
          <a:custGeom>
            <a:avLst/>
            <a:gdLst/>
            <a:ahLst/>
            <a:cxnLst/>
            <a:rect l="0" t="0" r="0" b="0"/>
            <a:pathLst>
              <a:path w="171450" h="685800">
                <a:moveTo>
                  <a:pt x="0" y="0"/>
                </a:moveTo>
                <a:lnTo>
                  <a:pt x="19050" y="0"/>
                </a:lnTo>
                <a:cubicBezTo>
                  <a:pt x="103218" y="0"/>
                  <a:pt x="171450" y="68231"/>
                  <a:pt x="171450" y="152400"/>
                </a:cubicBezTo>
                <a:moveTo>
                  <a:pt x="0" y="685800"/>
                </a:moveTo>
                <a:lnTo>
                  <a:pt x="19050" y="685800"/>
                </a:lnTo>
                <a:cubicBezTo>
                  <a:pt x="103218" y="685800"/>
                  <a:pt x="171450" y="617568"/>
                  <a:pt x="171450" y="533400"/>
                </a:cubicBezTo>
                <a:moveTo>
                  <a:pt x="171450" y="533400"/>
                </a:moveTo>
                <a:lnTo>
                  <a:pt x="17145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ounded Rectangle 18">
            <a:extLst>
              <a:ext uri="{FF2B5EF4-FFF2-40B4-BE49-F238E27FC236}">
                <a16:creationId xmlns:a16="http://schemas.microsoft.com/office/drawing/2014/main" id="{B55E1E44-AB49-B72B-CD47-9150E4E6DAC4}"/>
              </a:ext>
            </a:extLst>
          </p:cNvPr>
          <p:cNvSpPr/>
          <p:nvPr/>
        </p:nvSpPr>
        <p:spPr>
          <a:xfrm>
            <a:off x="5186838" y="3860287"/>
            <a:ext cx="1257300" cy="685800"/>
          </a:xfrm>
          <a:custGeom>
            <a:avLst/>
            <a:gdLst/>
            <a:ahLst/>
            <a:cxnLst/>
            <a:rect l="0" t="0" r="0" b="0"/>
            <a:pathLst>
              <a:path w="1257300" h="685800">
                <a:moveTo>
                  <a:pt x="0" y="0"/>
                </a:moveTo>
                <a:lnTo>
                  <a:pt x="1257300" y="0"/>
                </a:lnTo>
                <a:moveTo>
                  <a:pt x="1257300" y="685800"/>
                </a:moveTo>
                <a:lnTo>
                  <a:pt x="0" y="6858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a:extLst>
              <a:ext uri="{FF2B5EF4-FFF2-40B4-BE49-F238E27FC236}">
                <a16:creationId xmlns:a16="http://schemas.microsoft.com/office/drawing/2014/main" id="{1E4B59A2-7415-17CB-87E8-05BEDAC2FA2F}"/>
              </a:ext>
            </a:extLst>
          </p:cNvPr>
          <p:cNvSpPr/>
          <p:nvPr/>
        </p:nvSpPr>
        <p:spPr>
          <a:xfrm>
            <a:off x="5015388" y="3860287"/>
            <a:ext cx="171450" cy="685800"/>
          </a:xfrm>
          <a:custGeom>
            <a:avLst/>
            <a:gdLst/>
            <a:ahLst/>
            <a:cxnLst/>
            <a:rect l="0" t="0" r="0" b="0"/>
            <a:pathLst>
              <a:path w="171450" h="685800">
                <a:moveTo>
                  <a:pt x="171450" y="0"/>
                </a:moveTo>
                <a:lnTo>
                  <a:pt x="152400" y="0"/>
                </a:lnTo>
                <a:cubicBezTo>
                  <a:pt x="68231" y="0"/>
                  <a:pt x="0" y="68231"/>
                  <a:pt x="0" y="152400"/>
                </a:cubicBezTo>
                <a:moveTo>
                  <a:pt x="171450" y="685800"/>
                </a:moveTo>
                <a:lnTo>
                  <a:pt x="152400" y="685800"/>
                </a:lnTo>
                <a:cubicBezTo>
                  <a:pt x="68231" y="685800"/>
                  <a:pt x="0" y="617568"/>
                  <a:pt x="0" y="533400"/>
                </a:cubicBezTo>
                <a:moveTo>
                  <a:pt x="0" y="533400"/>
                </a:moveTo>
                <a:lnTo>
                  <a:pt x="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ounded Rectangle 20">
            <a:extLst>
              <a:ext uri="{FF2B5EF4-FFF2-40B4-BE49-F238E27FC236}">
                <a16:creationId xmlns:a16="http://schemas.microsoft.com/office/drawing/2014/main" id="{D7D52544-9A6C-A614-73DC-29C03FE18B03}"/>
              </a:ext>
            </a:extLst>
          </p:cNvPr>
          <p:cNvSpPr/>
          <p:nvPr/>
        </p:nvSpPr>
        <p:spPr>
          <a:xfrm>
            <a:off x="6444138" y="3860287"/>
            <a:ext cx="171450" cy="685800"/>
          </a:xfrm>
          <a:custGeom>
            <a:avLst/>
            <a:gdLst/>
            <a:ahLst/>
            <a:cxnLst/>
            <a:rect l="0" t="0" r="0" b="0"/>
            <a:pathLst>
              <a:path w="171450" h="685800">
                <a:moveTo>
                  <a:pt x="0" y="0"/>
                </a:moveTo>
                <a:lnTo>
                  <a:pt x="19050" y="0"/>
                </a:lnTo>
                <a:cubicBezTo>
                  <a:pt x="103218" y="0"/>
                  <a:pt x="171450" y="68231"/>
                  <a:pt x="171450" y="152400"/>
                </a:cubicBezTo>
                <a:moveTo>
                  <a:pt x="0" y="685800"/>
                </a:moveTo>
                <a:lnTo>
                  <a:pt x="19050" y="685800"/>
                </a:lnTo>
                <a:cubicBezTo>
                  <a:pt x="103218" y="685800"/>
                  <a:pt x="171450" y="617568"/>
                  <a:pt x="171450" y="533400"/>
                </a:cubicBezTo>
                <a:moveTo>
                  <a:pt x="171450" y="533400"/>
                </a:moveTo>
                <a:lnTo>
                  <a:pt x="171450" y="1524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ounded Rectangle 21">
            <a:extLst>
              <a:ext uri="{FF2B5EF4-FFF2-40B4-BE49-F238E27FC236}">
                <a16:creationId xmlns:a16="http://schemas.microsoft.com/office/drawing/2014/main" id="{3DE1F039-A97F-E71D-1C03-BD143C93C39A}"/>
              </a:ext>
            </a:extLst>
          </p:cNvPr>
          <p:cNvSpPr/>
          <p:nvPr/>
        </p:nvSpPr>
        <p:spPr>
          <a:xfrm>
            <a:off x="2043588" y="4317487"/>
            <a:ext cx="2209800" cy="1085850"/>
          </a:xfrm>
          <a:custGeom>
            <a:avLst/>
            <a:gdLst/>
            <a:ahLst/>
            <a:cxnLst/>
            <a:rect l="0" t="0" r="0" b="0"/>
            <a:pathLst>
              <a:path w="2209800" h="1085850">
                <a:moveTo>
                  <a:pt x="2209800" y="342900"/>
                </a:moveTo>
                <a:lnTo>
                  <a:pt x="2209800" y="914400"/>
                </a:lnTo>
                <a:moveTo>
                  <a:pt x="0" y="914400"/>
                </a:moveTo>
                <a:lnTo>
                  <a:pt x="0" y="342900"/>
                </a:lnTo>
                <a:moveTo>
                  <a:pt x="2209800" y="914400"/>
                </a:moveTo>
                <a:lnTo>
                  <a:pt x="2209800" y="933450"/>
                </a:lnTo>
                <a:cubicBezTo>
                  <a:pt x="2209800" y="1017618"/>
                  <a:pt x="2141568" y="1085850"/>
                  <a:pt x="2057400" y="1085850"/>
                </a:cubicBezTo>
                <a:lnTo>
                  <a:pt x="152400" y="1085850"/>
                </a:lnTo>
                <a:cubicBezTo>
                  <a:pt x="68231" y="1085850"/>
                  <a:pt x="0" y="1017618"/>
                  <a:pt x="0" y="933450"/>
                </a:cubicBezTo>
                <a:lnTo>
                  <a:pt x="0" y="914400"/>
                </a:lnTo>
                <a:moveTo>
                  <a:pt x="0" y="342900"/>
                </a:moveTo>
                <a:lnTo>
                  <a:pt x="0" y="152400"/>
                </a:lnTo>
                <a:cubicBezTo>
                  <a:pt x="0" y="68231"/>
                  <a:pt x="68231" y="0"/>
                  <a:pt x="152400" y="0"/>
                </a:cubicBezTo>
                <a:lnTo>
                  <a:pt x="304800" y="0"/>
                </a:lnTo>
                <a:moveTo>
                  <a:pt x="2209800" y="342900"/>
                </a:moveTo>
                <a:lnTo>
                  <a:pt x="2209800" y="152400"/>
                </a:lnTo>
                <a:cubicBezTo>
                  <a:pt x="2209800" y="68231"/>
                  <a:pt x="2141568" y="0"/>
                  <a:pt x="2057400" y="0"/>
                </a:cubicBezTo>
                <a:lnTo>
                  <a:pt x="190500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ounded Rectangle 22">
            <a:extLst>
              <a:ext uri="{FF2B5EF4-FFF2-40B4-BE49-F238E27FC236}">
                <a16:creationId xmlns:a16="http://schemas.microsoft.com/office/drawing/2014/main" id="{70364EA5-18BD-BD4A-F7EA-0C790A384BB7}"/>
              </a:ext>
            </a:extLst>
          </p:cNvPr>
          <p:cNvSpPr/>
          <p:nvPr/>
        </p:nvSpPr>
        <p:spPr>
          <a:xfrm>
            <a:off x="4710588" y="4317487"/>
            <a:ext cx="2209800" cy="1085850"/>
          </a:xfrm>
          <a:custGeom>
            <a:avLst/>
            <a:gdLst/>
            <a:ahLst/>
            <a:cxnLst/>
            <a:rect l="0" t="0" r="0" b="0"/>
            <a:pathLst>
              <a:path w="2209800" h="1085850">
                <a:moveTo>
                  <a:pt x="2209800" y="342900"/>
                </a:moveTo>
                <a:lnTo>
                  <a:pt x="2209800" y="914400"/>
                </a:lnTo>
                <a:moveTo>
                  <a:pt x="0" y="914400"/>
                </a:moveTo>
                <a:lnTo>
                  <a:pt x="0" y="342900"/>
                </a:lnTo>
                <a:moveTo>
                  <a:pt x="2209800" y="914400"/>
                </a:moveTo>
                <a:lnTo>
                  <a:pt x="2209800" y="933450"/>
                </a:lnTo>
                <a:cubicBezTo>
                  <a:pt x="2209800" y="1017618"/>
                  <a:pt x="2141568" y="1085850"/>
                  <a:pt x="2057400" y="1085850"/>
                </a:cubicBezTo>
                <a:lnTo>
                  <a:pt x="152400" y="1085850"/>
                </a:lnTo>
                <a:cubicBezTo>
                  <a:pt x="68231" y="1085850"/>
                  <a:pt x="0" y="1017618"/>
                  <a:pt x="0" y="933450"/>
                </a:cubicBezTo>
                <a:lnTo>
                  <a:pt x="0" y="914400"/>
                </a:lnTo>
                <a:moveTo>
                  <a:pt x="0" y="342900"/>
                </a:moveTo>
                <a:lnTo>
                  <a:pt x="0" y="152400"/>
                </a:lnTo>
                <a:cubicBezTo>
                  <a:pt x="0" y="68231"/>
                  <a:pt x="68231" y="0"/>
                  <a:pt x="152400" y="0"/>
                </a:cubicBezTo>
                <a:lnTo>
                  <a:pt x="304800" y="0"/>
                </a:lnTo>
                <a:moveTo>
                  <a:pt x="2209800" y="342900"/>
                </a:moveTo>
                <a:lnTo>
                  <a:pt x="2209800" y="152400"/>
                </a:lnTo>
                <a:cubicBezTo>
                  <a:pt x="2209800" y="68231"/>
                  <a:pt x="2141568" y="0"/>
                  <a:pt x="2057400" y="0"/>
                </a:cubicBezTo>
                <a:lnTo>
                  <a:pt x="1905000" y="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C83CA197-77AF-E3A7-96E6-A853DAE5F1C8}"/>
              </a:ext>
            </a:extLst>
          </p:cNvPr>
          <p:cNvGrpSpPr/>
          <p:nvPr/>
        </p:nvGrpSpPr>
        <p:grpSpPr>
          <a:xfrm>
            <a:off x="4315300" y="4884224"/>
            <a:ext cx="385763" cy="123825"/>
            <a:chOff x="2509837" y="4395787"/>
            <a:chExt cx="385763" cy="123825"/>
          </a:xfrm>
        </p:grpSpPr>
        <p:sp>
          <p:nvSpPr>
            <p:cNvPr id="25" name="Rounded Rectangle 23">
              <a:extLst>
                <a:ext uri="{FF2B5EF4-FFF2-40B4-BE49-F238E27FC236}">
                  <a16:creationId xmlns:a16="http://schemas.microsoft.com/office/drawing/2014/main" id="{72EC6A6D-7ADC-6A06-995C-9C04421EAE5A}"/>
                </a:ext>
              </a:extLst>
            </p:cNvPr>
            <p:cNvSpPr/>
            <p:nvPr/>
          </p:nvSpPr>
          <p:spPr>
            <a:xfrm>
              <a:off x="2514600" y="4457700"/>
              <a:ext cx="381000" cy="9525"/>
            </a:xfrm>
            <a:custGeom>
              <a:avLst/>
              <a:gdLst/>
              <a:ahLst/>
              <a:cxnLst/>
              <a:rect l="0" t="0" r="0" b="0"/>
              <a:pathLst>
                <a:path w="381000" h="9525">
                  <a:moveTo>
                    <a:pt x="0" y="0"/>
                  </a:moveTo>
                  <a:lnTo>
                    <a:pt x="381000"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ounded Rectangle 24">
              <a:extLst>
                <a:ext uri="{FF2B5EF4-FFF2-40B4-BE49-F238E27FC236}">
                  <a16:creationId xmlns:a16="http://schemas.microsoft.com/office/drawing/2014/main" id="{764F1504-22D9-F2E0-90EE-7829D5BAFFAD}"/>
                </a:ext>
              </a:extLst>
            </p:cNvPr>
            <p:cNvSpPr/>
            <p:nvPr/>
          </p:nvSpPr>
          <p:spPr>
            <a:xfrm>
              <a:off x="2509837" y="4395787"/>
              <a:ext cx="61912" cy="123825"/>
            </a:xfrm>
            <a:custGeom>
              <a:avLst/>
              <a:gdLst/>
              <a:ahLst/>
              <a:cxnLst/>
              <a:rect l="0" t="0" r="0" b="0"/>
              <a:pathLst>
                <a:path w="61912" h="123825">
                  <a:moveTo>
                    <a:pt x="61912" y="0"/>
                  </a:moveTo>
                  <a:lnTo>
                    <a:pt x="0" y="61912"/>
                  </a:lnTo>
                  <a:lnTo>
                    <a:pt x="61912" y="123825"/>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27" name="TextBox 26">
            <a:extLst>
              <a:ext uri="{FF2B5EF4-FFF2-40B4-BE49-F238E27FC236}">
                <a16:creationId xmlns:a16="http://schemas.microsoft.com/office/drawing/2014/main" id="{9E4A9980-FE9C-096D-353A-945374E30E2E}"/>
              </a:ext>
            </a:extLst>
          </p:cNvPr>
          <p:cNvSpPr txBox="1"/>
          <p:nvPr/>
        </p:nvSpPr>
        <p:spPr>
          <a:xfrm>
            <a:off x="2299669" y="2617274"/>
            <a:ext cx="1697581"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Combining data from
IMDb, MovieLens, and
TMDB</a:t>
            </a:r>
          </a:p>
        </p:txBody>
      </p:sp>
      <p:sp>
        <p:nvSpPr>
          <p:cNvPr id="28" name="TextBox 27">
            <a:extLst>
              <a:ext uri="{FF2B5EF4-FFF2-40B4-BE49-F238E27FC236}">
                <a16:creationId xmlns:a16="http://schemas.microsoft.com/office/drawing/2014/main" id="{43F39FA1-AC8B-B785-E9C0-05A4393C5985}"/>
              </a:ext>
            </a:extLst>
          </p:cNvPr>
          <p:cNvSpPr txBox="1"/>
          <p:nvPr/>
        </p:nvSpPr>
        <p:spPr>
          <a:xfrm>
            <a:off x="4932266" y="2617274"/>
            <a:ext cx="1766510" cy="646331"/>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Choosing between
production and audience
features</a:t>
            </a:r>
          </a:p>
        </p:txBody>
      </p:sp>
      <p:sp>
        <p:nvSpPr>
          <p:cNvPr id="29" name="TextBox 28">
            <a:extLst>
              <a:ext uri="{FF2B5EF4-FFF2-40B4-BE49-F238E27FC236}">
                <a16:creationId xmlns:a16="http://schemas.microsoft.com/office/drawing/2014/main" id="{F4537FCB-1E71-B931-3E85-A50FD60752FF}"/>
              </a:ext>
            </a:extLst>
          </p:cNvPr>
          <p:cNvSpPr txBox="1"/>
          <p:nvPr/>
        </p:nvSpPr>
        <p:spPr>
          <a:xfrm>
            <a:off x="5421153" y="1821937"/>
            <a:ext cx="788677"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Feature
Selection</a:t>
            </a:r>
          </a:p>
        </p:txBody>
      </p:sp>
      <p:sp>
        <p:nvSpPr>
          <p:cNvPr id="30" name="TextBox 29">
            <a:extLst>
              <a:ext uri="{FF2B5EF4-FFF2-40B4-BE49-F238E27FC236}">
                <a16:creationId xmlns:a16="http://schemas.microsoft.com/office/drawing/2014/main" id="{A9E2C9EC-ED08-02F1-0C7F-11CFA5802951}"/>
              </a:ext>
            </a:extLst>
          </p:cNvPr>
          <p:cNvSpPr txBox="1"/>
          <p:nvPr/>
        </p:nvSpPr>
        <p:spPr>
          <a:xfrm>
            <a:off x="2535348" y="1936237"/>
            <a:ext cx="1226298"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Data Merging</a:t>
            </a:r>
          </a:p>
        </p:txBody>
      </p:sp>
      <p:sp>
        <p:nvSpPr>
          <p:cNvPr id="31" name="TextBox 30">
            <a:extLst>
              <a:ext uri="{FF2B5EF4-FFF2-40B4-BE49-F238E27FC236}">
                <a16:creationId xmlns:a16="http://schemas.microsoft.com/office/drawing/2014/main" id="{11D064EB-AF2E-B331-18AE-7A9056F768D9}"/>
              </a:ext>
            </a:extLst>
          </p:cNvPr>
          <p:cNvSpPr txBox="1"/>
          <p:nvPr/>
        </p:nvSpPr>
        <p:spPr>
          <a:xfrm>
            <a:off x="918255" y="967902"/>
            <a:ext cx="4460388" cy="369332"/>
          </a:xfrm>
          <a:prstGeom prst="rect">
            <a:avLst/>
          </a:prstGeom>
          <a:noFill/>
          <a:ln>
            <a:noFill/>
          </a:ln>
        </p:spPr>
        <p:txBody>
          <a:bodyPr wrap="none" lIns="0" tIns="0" rIns="0" bIns="0" anchor="t">
            <a:spAutoFit/>
          </a:bodyPr>
          <a:lstStyle/>
          <a:p>
            <a:pPr algn="ctr"/>
            <a:r>
              <a:rPr sz="2400" b="1" dirty="0">
                <a:latin typeface="Times New Roman" panose="02020603050405020304" pitchFamily="18" charset="0"/>
                <a:cs typeface="Times New Roman" panose="02020603050405020304" pitchFamily="18" charset="0"/>
              </a:rPr>
              <a:t>Movie Success Prediction Pipeline</a:t>
            </a:r>
          </a:p>
        </p:txBody>
      </p:sp>
      <p:sp>
        <p:nvSpPr>
          <p:cNvPr id="32" name="TextBox 31">
            <a:extLst>
              <a:ext uri="{FF2B5EF4-FFF2-40B4-BE49-F238E27FC236}">
                <a16:creationId xmlns:a16="http://schemas.microsoft.com/office/drawing/2014/main" id="{7D62B60A-8508-C8ED-3EE3-B11CAF46F198}"/>
              </a:ext>
            </a:extLst>
          </p:cNvPr>
          <p:cNvSpPr txBox="1"/>
          <p:nvPr/>
        </p:nvSpPr>
        <p:spPr>
          <a:xfrm>
            <a:off x="4913719" y="4788974"/>
            <a:ext cx="1803507"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Training the model using
selected features</a:t>
            </a:r>
          </a:p>
        </p:txBody>
      </p:sp>
      <p:sp>
        <p:nvSpPr>
          <p:cNvPr id="33" name="TextBox 32">
            <a:extLst>
              <a:ext uri="{FF2B5EF4-FFF2-40B4-BE49-F238E27FC236}">
                <a16:creationId xmlns:a16="http://schemas.microsoft.com/office/drawing/2014/main" id="{8BD8708F-370A-EA24-4E24-E33D47D5DA4B}"/>
              </a:ext>
            </a:extLst>
          </p:cNvPr>
          <p:cNvSpPr txBox="1"/>
          <p:nvPr/>
        </p:nvSpPr>
        <p:spPr>
          <a:xfrm>
            <a:off x="2669151" y="3993637"/>
            <a:ext cx="958596"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Model
Evaluation</a:t>
            </a:r>
          </a:p>
        </p:txBody>
      </p:sp>
      <p:sp>
        <p:nvSpPr>
          <p:cNvPr id="34" name="TextBox 33">
            <a:extLst>
              <a:ext uri="{FF2B5EF4-FFF2-40B4-BE49-F238E27FC236}">
                <a16:creationId xmlns:a16="http://schemas.microsoft.com/office/drawing/2014/main" id="{48A2DB3B-13AC-1F44-EC77-CDD376D8B350}"/>
              </a:ext>
            </a:extLst>
          </p:cNvPr>
          <p:cNvSpPr txBox="1"/>
          <p:nvPr/>
        </p:nvSpPr>
        <p:spPr>
          <a:xfrm>
            <a:off x="5435173" y="3993637"/>
            <a:ext cx="760593" cy="492443"/>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Model
Training</a:t>
            </a:r>
          </a:p>
        </p:txBody>
      </p:sp>
      <p:sp>
        <p:nvSpPr>
          <p:cNvPr id="35" name="TextBox 34">
            <a:extLst>
              <a:ext uri="{FF2B5EF4-FFF2-40B4-BE49-F238E27FC236}">
                <a16:creationId xmlns:a16="http://schemas.microsoft.com/office/drawing/2014/main" id="{EEC6A970-CDF2-A1D1-909E-79CE5685FBF5}"/>
              </a:ext>
            </a:extLst>
          </p:cNvPr>
          <p:cNvSpPr txBox="1"/>
          <p:nvPr/>
        </p:nvSpPr>
        <p:spPr>
          <a:xfrm>
            <a:off x="2190712" y="4788974"/>
            <a:ext cx="1915589"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Assessing </a:t>
            </a:r>
            <a:r>
              <a:rPr sz="1400" dirty="0">
                <a:latin typeface="Times New Roman" panose="02020603050405020304" pitchFamily="18" charset="0"/>
                <a:cs typeface="Times New Roman" panose="02020603050405020304" pitchFamily="18" charset="0"/>
              </a:rPr>
              <a:t>the</a:t>
            </a:r>
            <a:r>
              <a:rPr sz="1400" b="0" dirty="0">
                <a:latin typeface="Times New Roman" panose="02020603050405020304" pitchFamily="18" charset="0"/>
                <a:cs typeface="Times New Roman" panose="02020603050405020304" pitchFamily="18" charset="0"/>
              </a:rPr>
              <a:t> model's
performance using metrics</a:t>
            </a:r>
          </a:p>
        </p:txBody>
      </p:sp>
      <p:pic>
        <p:nvPicPr>
          <p:cNvPr id="37" name="Picture 36">
            <a:extLst>
              <a:ext uri="{FF2B5EF4-FFF2-40B4-BE49-F238E27FC236}">
                <a16:creationId xmlns:a16="http://schemas.microsoft.com/office/drawing/2014/main" id="{97EB0737-CA78-5B69-4E08-856D76A644C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53764" y="5008049"/>
            <a:ext cx="1148464" cy="1148464"/>
          </a:xfrm>
          <a:prstGeom prst="rect">
            <a:avLst/>
          </a:prstGeom>
        </p:spPr>
      </p:pic>
    </p:spTree>
    <p:extLst>
      <p:ext uri="{BB962C8B-B14F-4D97-AF65-F5344CB8AC3E}">
        <p14:creationId xmlns:p14="http://schemas.microsoft.com/office/powerpoint/2010/main" val="2599537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FF6C6D4-5752-DAFF-D6D2-C6B930399C78}"/>
              </a:ext>
            </a:extLst>
          </p:cNvPr>
          <p:cNvSpPr/>
          <p:nvPr/>
        </p:nvSpPr>
        <p:spPr>
          <a:xfrm>
            <a:off x="4282059" y="3669204"/>
            <a:ext cx="9525" cy="1371600"/>
          </a:xfrm>
          <a:custGeom>
            <a:avLst/>
            <a:gdLst/>
            <a:ahLst/>
            <a:cxnLst/>
            <a:rect l="0" t="0" r="0" b="0"/>
            <a:pathLst>
              <a:path w="9525" h="1371600">
                <a:moveTo>
                  <a:pt x="0" y="1371600"/>
                </a:moveTo>
                <a:lnTo>
                  <a:pt x="0" y="0"/>
                </a:lnTo>
              </a:path>
            </a:pathLst>
          </a:custGeom>
          <a:noFill/>
          <a:ln w="14287">
            <a:solidFill>
              <a:srgbClr val="484848"/>
            </a:solidFill>
            <a:prstDash val="dash"/>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15B6AF-7238-3D1A-3FD2-FB82DB869CE7}"/>
              </a:ext>
            </a:extLst>
          </p:cNvPr>
          <p:cNvSpPr txBox="1"/>
          <p:nvPr/>
        </p:nvSpPr>
        <p:spPr>
          <a:xfrm>
            <a:off x="974743" y="922194"/>
            <a:ext cx="3420039"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Key Feature Importance: </a:t>
            </a:r>
            <a:endParaRPr sz="2400" b="1" dirty="0">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A6B27AC8-1971-4E88-42A0-C2E1FDBF6276}"/>
              </a:ext>
            </a:extLst>
          </p:cNvPr>
          <p:cNvSpPr/>
          <p:nvPr/>
        </p:nvSpPr>
        <p:spPr>
          <a:xfrm>
            <a:off x="2118849" y="1785635"/>
            <a:ext cx="1752599" cy="1714500"/>
          </a:xfrm>
          <a:custGeom>
            <a:avLst/>
            <a:gdLst/>
            <a:ahLst/>
            <a:cxnLst/>
            <a:rect l="0" t="0" r="0" b="0"/>
            <a:pathLst>
              <a:path w="1752599" h="1714500">
                <a:moveTo>
                  <a:pt x="0" y="1714500"/>
                </a:moveTo>
                <a:lnTo>
                  <a:pt x="1752599" y="1714500"/>
                </a:lnTo>
                <a:moveTo>
                  <a:pt x="304495" y="1714500"/>
                </a:moveTo>
                <a:lnTo>
                  <a:pt x="304495" y="1524000"/>
                </a:lnTo>
                <a:cubicBezTo>
                  <a:pt x="304495" y="1502957"/>
                  <a:pt x="287437" y="1485900"/>
                  <a:pt x="266395" y="1485900"/>
                </a:cubicBezTo>
                <a:lnTo>
                  <a:pt x="113995" y="1485900"/>
                </a:lnTo>
                <a:cubicBezTo>
                  <a:pt x="92953" y="1485900"/>
                  <a:pt x="75895" y="1502957"/>
                  <a:pt x="75895" y="1524000"/>
                </a:cubicBezTo>
                <a:lnTo>
                  <a:pt x="75895" y="1714500"/>
                </a:lnTo>
                <a:moveTo>
                  <a:pt x="761695" y="1714500"/>
                </a:moveTo>
                <a:lnTo>
                  <a:pt x="761695" y="1219200"/>
                </a:lnTo>
                <a:cubicBezTo>
                  <a:pt x="761695" y="1198157"/>
                  <a:pt x="744637" y="1181100"/>
                  <a:pt x="723595" y="1181100"/>
                </a:cubicBezTo>
                <a:lnTo>
                  <a:pt x="571195" y="1181100"/>
                </a:lnTo>
                <a:cubicBezTo>
                  <a:pt x="550153" y="1181100"/>
                  <a:pt x="533095" y="1198157"/>
                  <a:pt x="533095" y="1219200"/>
                </a:cubicBezTo>
                <a:lnTo>
                  <a:pt x="533095" y="1714500"/>
                </a:lnTo>
                <a:moveTo>
                  <a:pt x="1218895" y="1714500"/>
                </a:moveTo>
                <a:lnTo>
                  <a:pt x="1218895" y="914400"/>
                </a:lnTo>
                <a:cubicBezTo>
                  <a:pt x="1218895" y="893357"/>
                  <a:pt x="1201837" y="876300"/>
                  <a:pt x="1180795" y="876300"/>
                </a:cubicBezTo>
                <a:lnTo>
                  <a:pt x="1028395" y="876300"/>
                </a:lnTo>
                <a:cubicBezTo>
                  <a:pt x="1007353" y="876300"/>
                  <a:pt x="990295" y="893357"/>
                  <a:pt x="990295" y="914400"/>
                </a:cubicBezTo>
                <a:lnTo>
                  <a:pt x="990295" y="1714500"/>
                </a:lnTo>
                <a:moveTo>
                  <a:pt x="1676095" y="1714500"/>
                </a:moveTo>
                <a:lnTo>
                  <a:pt x="1676095" y="609600"/>
                </a:lnTo>
                <a:cubicBezTo>
                  <a:pt x="1676095" y="588557"/>
                  <a:pt x="1659037" y="571500"/>
                  <a:pt x="1637995" y="571500"/>
                </a:cubicBezTo>
                <a:lnTo>
                  <a:pt x="1485595" y="571500"/>
                </a:lnTo>
                <a:cubicBezTo>
                  <a:pt x="1464553" y="571500"/>
                  <a:pt x="1447495" y="588557"/>
                  <a:pt x="1447495" y="609600"/>
                </a:cubicBezTo>
                <a:lnTo>
                  <a:pt x="1447495" y="1714500"/>
                </a:lnTo>
                <a:moveTo>
                  <a:pt x="190499" y="952500"/>
                </a:moveTo>
                <a:lnTo>
                  <a:pt x="1562099" y="38100"/>
                </a:lnTo>
                <a:moveTo>
                  <a:pt x="1523999" y="342900"/>
                </a:moveTo>
                <a:lnTo>
                  <a:pt x="1562099" y="38100"/>
                </a:lnTo>
                <a:lnTo>
                  <a:pt x="1257299" y="0"/>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B4276EB6-9B9B-C74B-9EEE-9F1485B1D741}"/>
              </a:ext>
            </a:extLst>
          </p:cNvPr>
          <p:cNvSpPr/>
          <p:nvPr/>
        </p:nvSpPr>
        <p:spPr>
          <a:xfrm>
            <a:off x="4798946" y="1804685"/>
            <a:ext cx="1752599" cy="1676399"/>
          </a:xfrm>
          <a:custGeom>
            <a:avLst/>
            <a:gdLst/>
            <a:ahLst/>
            <a:cxnLst/>
            <a:rect l="0" t="0" r="0" b="0"/>
            <a:pathLst>
              <a:path w="1752599" h="1676399">
                <a:moveTo>
                  <a:pt x="1752599" y="1676399"/>
                </a:moveTo>
                <a:lnTo>
                  <a:pt x="0" y="1676399"/>
                </a:lnTo>
                <a:moveTo>
                  <a:pt x="1447494" y="1676399"/>
                </a:moveTo>
                <a:lnTo>
                  <a:pt x="1447494" y="1333499"/>
                </a:lnTo>
                <a:cubicBezTo>
                  <a:pt x="1447494" y="1312457"/>
                  <a:pt x="1464552" y="1295399"/>
                  <a:pt x="1485594" y="1295399"/>
                </a:cubicBezTo>
                <a:lnTo>
                  <a:pt x="1637994" y="1295399"/>
                </a:lnTo>
                <a:cubicBezTo>
                  <a:pt x="1659036" y="1295399"/>
                  <a:pt x="1676094" y="1312457"/>
                  <a:pt x="1676094" y="1333499"/>
                </a:cubicBezTo>
                <a:lnTo>
                  <a:pt x="1676094" y="1676399"/>
                </a:lnTo>
                <a:moveTo>
                  <a:pt x="990294" y="1676399"/>
                </a:moveTo>
                <a:lnTo>
                  <a:pt x="990294" y="952499"/>
                </a:lnTo>
                <a:cubicBezTo>
                  <a:pt x="990294" y="931457"/>
                  <a:pt x="1007352" y="914399"/>
                  <a:pt x="1028394" y="914399"/>
                </a:cubicBezTo>
                <a:lnTo>
                  <a:pt x="1180794" y="914399"/>
                </a:lnTo>
                <a:cubicBezTo>
                  <a:pt x="1201836" y="914399"/>
                  <a:pt x="1218894" y="931457"/>
                  <a:pt x="1218894" y="952499"/>
                </a:cubicBezTo>
                <a:lnTo>
                  <a:pt x="1218894" y="1676399"/>
                </a:lnTo>
                <a:moveTo>
                  <a:pt x="533095" y="1676399"/>
                </a:moveTo>
                <a:lnTo>
                  <a:pt x="533095" y="1104899"/>
                </a:lnTo>
                <a:cubicBezTo>
                  <a:pt x="533095" y="1083857"/>
                  <a:pt x="550153" y="1066799"/>
                  <a:pt x="571195" y="1066799"/>
                </a:cubicBezTo>
                <a:lnTo>
                  <a:pt x="723595" y="1066799"/>
                </a:lnTo>
                <a:cubicBezTo>
                  <a:pt x="744637" y="1066799"/>
                  <a:pt x="761695" y="1083857"/>
                  <a:pt x="761695" y="1104899"/>
                </a:cubicBezTo>
                <a:lnTo>
                  <a:pt x="761695" y="1676399"/>
                </a:lnTo>
                <a:moveTo>
                  <a:pt x="75895" y="1676399"/>
                </a:moveTo>
                <a:lnTo>
                  <a:pt x="75895" y="571499"/>
                </a:lnTo>
                <a:cubicBezTo>
                  <a:pt x="75895" y="550457"/>
                  <a:pt x="92953" y="533399"/>
                  <a:pt x="113995" y="533399"/>
                </a:cubicBezTo>
                <a:lnTo>
                  <a:pt x="266395" y="533399"/>
                </a:lnTo>
                <a:cubicBezTo>
                  <a:pt x="287437" y="533399"/>
                  <a:pt x="304495" y="550457"/>
                  <a:pt x="304495" y="571499"/>
                </a:cubicBezTo>
                <a:lnTo>
                  <a:pt x="304495" y="1676399"/>
                </a:lnTo>
                <a:moveTo>
                  <a:pt x="1714194" y="761999"/>
                </a:moveTo>
                <a:lnTo>
                  <a:pt x="1285950" y="300532"/>
                </a:lnTo>
                <a:cubicBezTo>
                  <a:pt x="1245267" y="256665"/>
                  <a:pt x="1182678" y="240660"/>
                  <a:pt x="1125930" y="259613"/>
                </a:cubicBezTo>
                <a:lnTo>
                  <a:pt x="842543" y="354177"/>
                </a:lnTo>
                <a:cubicBezTo>
                  <a:pt x="792468" y="370871"/>
                  <a:pt x="737320" y="360464"/>
                  <a:pt x="696772" y="326669"/>
                </a:cubicBezTo>
                <a:lnTo>
                  <a:pt x="304495" y="0"/>
                </a:lnTo>
                <a:moveTo>
                  <a:pt x="1409699" y="761999"/>
                </a:moveTo>
                <a:lnTo>
                  <a:pt x="1714499" y="761999"/>
                </a:lnTo>
                <a:lnTo>
                  <a:pt x="1714499" y="457199"/>
                </a:ln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DA78A32-106C-063E-F396-621FE9C90704}"/>
              </a:ext>
            </a:extLst>
          </p:cNvPr>
          <p:cNvSpPr txBox="1"/>
          <p:nvPr/>
        </p:nvSpPr>
        <p:spPr>
          <a:xfrm>
            <a:off x="2610167" y="3821604"/>
            <a:ext cx="769441" cy="461665"/>
          </a:xfrm>
          <a:prstGeom prst="rect">
            <a:avLst/>
          </a:prstGeom>
          <a:noFill/>
          <a:ln>
            <a:noFill/>
          </a:ln>
        </p:spPr>
        <p:txBody>
          <a:bodyPr wrap="none" lIns="0" tIns="0" rIns="0" bIns="0" anchor="t">
            <a:spAutoFit/>
          </a:bodyPr>
          <a:lstStyle/>
          <a:p>
            <a:pPr algn="ctr"/>
            <a:r>
              <a:rPr sz="3000" b="1" dirty="0">
                <a:latin typeface="Times New Roman" panose="02020603050405020304" pitchFamily="18" charset="0"/>
                <a:cs typeface="Times New Roman" panose="02020603050405020304" pitchFamily="18" charset="0"/>
              </a:rPr>
              <a:t>82%</a:t>
            </a:r>
          </a:p>
        </p:txBody>
      </p:sp>
      <p:sp>
        <p:nvSpPr>
          <p:cNvPr id="7" name="TextBox 6">
            <a:extLst>
              <a:ext uri="{FF2B5EF4-FFF2-40B4-BE49-F238E27FC236}">
                <a16:creationId xmlns:a16="http://schemas.microsoft.com/office/drawing/2014/main" id="{4F7517BD-B368-4A7B-7EBF-8CC60955A7E6}"/>
              </a:ext>
            </a:extLst>
          </p:cNvPr>
          <p:cNvSpPr txBox="1"/>
          <p:nvPr/>
        </p:nvSpPr>
        <p:spPr>
          <a:xfrm>
            <a:off x="5290264" y="3821604"/>
            <a:ext cx="769441" cy="461665"/>
          </a:xfrm>
          <a:prstGeom prst="rect">
            <a:avLst/>
          </a:prstGeom>
          <a:noFill/>
          <a:ln>
            <a:noFill/>
          </a:ln>
        </p:spPr>
        <p:txBody>
          <a:bodyPr wrap="none" lIns="0" tIns="0" rIns="0" bIns="0" anchor="t">
            <a:spAutoFit/>
          </a:bodyPr>
          <a:lstStyle/>
          <a:p>
            <a:pPr algn="ctr"/>
            <a:r>
              <a:rPr sz="3000" b="1">
                <a:latin typeface="Times New Roman" panose="02020603050405020304" pitchFamily="18" charset="0"/>
                <a:cs typeface="Times New Roman" panose="02020603050405020304" pitchFamily="18" charset="0"/>
              </a:rPr>
              <a:t>18%</a:t>
            </a:r>
          </a:p>
        </p:txBody>
      </p:sp>
      <p:sp>
        <p:nvSpPr>
          <p:cNvPr id="8" name="TextBox 7">
            <a:extLst>
              <a:ext uri="{FF2B5EF4-FFF2-40B4-BE49-F238E27FC236}">
                <a16:creationId xmlns:a16="http://schemas.microsoft.com/office/drawing/2014/main" id="{2E4B4927-833E-B464-FBB6-119E45F4CDBD}"/>
              </a:ext>
            </a:extLst>
          </p:cNvPr>
          <p:cNvSpPr txBox="1"/>
          <p:nvPr/>
        </p:nvSpPr>
        <p:spPr>
          <a:xfrm>
            <a:off x="1888814" y="4488354"/>
            <a:ext cx="2212145"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MovieLens Rating Count</a:t>
            </a:r>
          </a:p>
        </p:txBody>
      </p:sp>
      <p:sp>
        <p:nvSpPr>
          <p:cNvPr id="9" name="TextBox 8">
            <a:extLst>
              <a:ext uri="{FF2B5EF4-FFF2-40B4-BE49-F238E27FC236}">
                <a16:creationId xmlns:a16="http://schemas.microsoft.com/office/drawing/2014/main" id="{BE4185C2-4B0A-A91B-60C8-AC0970A1B4A3}"/>
              </a:ext>
            </a:extLst>
          </p:cNvPr>
          <p:cNvSpPr txBox="1"/>
          <p:nvPr/>
        </p:nvSpPr>
        <p:spPr>
          <a:xfrm>
            <a:off x="5007774" y="4488354"/>
            <a:ext cx="1334276" cy="246221"/>
          </a:xfrm>
          <a:prstGeom prst="rect">
            <a:avLst/>
          </a:prstGeom>
          <a:noFill/>
          <a:ln>
            <a:noFill/>
          </a:ln>
        </p:spPr>
        <p:txBody>
          <a:bodyPr wrap="none" lIns="0" tIns="0" rIns="0" bIns="0" anchor="t">
            <a:spAutoFit/>
          </a:bodyPr>
          <a:lstStyle/>
          <a:p>
            <a:pPr algn="ctr"/>
            <a:r>
              <a:rPr sz="1600" b="1" dirty="0">
                <a:latin typeface="Times New Roman" panose="02020603050405020304" pitchFamily="18" charset="0"/>
                <a:cs typeface="Times New Roman" panose="02020603050405020304" pitchFamily="18" charset="0"/>
              </a:rPr>
              <a:t>Other Features</a:t>
            </a:r>
          </a:p>
        </p:txBody>
      </p:sp>
      <p:sp>
        <p:nvSpPr>
          <p:cNvPr id="10" name="TextBox 9">
            <a:extLst>
              <a:ext uri="{FF2B5EF4-FFF2-40B4-BE49-F238E27FC236}">
                <a16:creationId xmlns:a16="http://schemas.microsoft.com/office/drawing/2014/main" id="{7001C8FF-56DD-1C28-C7A2-1256286B4E78}"/>
              </a:ext>
            </a:extLst>
          </p:cNvPr>
          <p:cNvSpPr txBox="1"/>
          <p:nvPr/>
        </p:nvSpPr>
        <p:spPr>
          <a:xfrm>
            <a:off x="2002011" y="4871527"/>
            <a:ext cx="1749133" cy="215444"/>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Top predictor of success</a:t>
            </a:r>
          </a:p>
        </p:txBody>
      </p:sp>
      <p:sp>
        <p:nvSpPr>
          <p:cNvPr id="11" name="TextBox 10">
            <a:extLst>
              <a:ext uri="{FF2B5EF4-FFF2-40B4-BE49-F238E27FC236}">
                <a16:creationId xmlns:a16="http://schemas.microsoft.com/office/drawing/2014/main" id="{06B82C37-C663-723F-7C27-233A0A19D875}"/>
              </a:ext>
            </a:extLst>
          </p:cNvPr>
          <p:cNvSpPr txBox="1"/>
          <p:nvPr/>
        </p:nvSpPr>
        <p:spPr>
          <a:xfrm>
            <a:off x="4647562" y="4906149"/>
            <a:ext cx="2134431" cy="215444"/>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Release year, ratings, runtime</a:t>
            </a:r>
          </a:p>
        </p:txBody>
      </p:sp>
      <p:pic>
        <p:nvPicPr>
          <p:cNvPr id="13" name="Picture 12">
            <a:extLst>
              <a:ext uri="{FF2B5EF4-FFF2-40B4-BE49-F238E27FC236}">
                <a16:creationId xmlns:a16="http://schemas.microsoft.com/office/drawing/2014/main" id="{8B8B9A23-E1B3-152B-0F16-E18F7EA70A3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63631" y="5121593"/>
            <a:ext cx="1148464" cy="1148464"/>
          </a:xfrm>
          <a:prstGeom prst="rect">
            <a:avLst/>
          </a:prstGeom>
        </p:spPr>
      </p:pic>
    </p:spTree>
    <p:extLst>
      <p:ext uri="{BB962C8B-B14F-4D97-AF65-F5344CB8AC3E}">
        <p14:creationId xmlns:p14="http://schemas.microsoft.com/office/powerpoint/2010/main" val="248951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DE7639E-83D1-5FB3-2F77-2CCC25C25FD6}"/>
              </a:ext>
            </a:extLst>
          </p:cNvPr>
          <p:cNvSpPr/>
          <p:nvPr/>
        </p:nvSpPr>
        <p:spPr>
          <a:xfrm>
            <a:off x="1349209" y="3262653"/>
            <a:ext cx="1627919" cy="798195"/>
          </a:xfrm>
          <a:custGeom>
            <a:avLst/>
            <a:gdLst/>
            <a:ahLst/>
            <a:cxnLst/>
            <a:rect l="0" t="0" r="0" b="0"/>
            <a:pathLst>
              <a:path w="883890" h="361950">
                <a:moveTo>
                  <a:pt x="28575" y="0"/>
                </a:moveTo>
                <a:cubicBezTo>
                  <a:pt x="12793" y="0"/>
                  <a:pt x="0" y="12793"/>
                  <a:pt x="0" y="28575"/>
                </a:cubicBezTo>
                <a:moveTo>
                  <a:pt x="855315" y="0"/>
                </a:moveTo>
                <a:lnTo>
                  <a:pt x="28575" y="0"/>
                </a:lnTo>
                <a:moveTo>
                  <a:pt x="883890" y="333375"/>
                </a:moveTo>
                <a:cubicBezTo>
                  <a:pt x="883890" y="349156"/>
                  <a:pt x="871097" y="361950"/>
                  <a:pt x="855315" y="361950"/>
                </a:cubicBezTo>
                <a:moveTo>
                  <a:pt x="855315" y="0"/>
                </a:moveTo>
                <a:cubicBezTo>
                  <a:pt x="871097" y="0"/>
                  <a:pt x="883890" y="12793"/>
                  <a:pt x="883890" y="28575"/>
                </a:cubicBezTo>
                <a:moveTo>
                  <a:pt x="0" y="333375"/>
                </a:moveTo>
                <a:lnTo>
                  <a:pt x="0" y="28575"/>
                </a:lnTo>
                <a:moveTo>
                  <a:pt x="883890" y="333375"/>
                </a:moveTo>
                <a:lnTo>
                  <a:pt x="883890" y="28575"/>
                </a:lnTo>
                <a:moveTo>
                  <a:pt x="28575" y="361950"/>
                </a:moveTo>
                <a:lnTo>
                  <a:pt x="855315" y="361950"/>
                </a:lnTo>
                <a:moveTo>
                  <a:pt x="28575" y="361950"/>
                </a:moveTo>
                <a:cubicBezTo>
                  <a:pt x="12793" y="361950"/>
                  <a:pt x="0" y="349156"/>
                  <a:pt x="0" y="333375"/>
                </a:cubicBezTo>
              </a:path>
            </a:pathLst>
          </a:custGeom>
          <a:noFill/>
          <a:ln w="14287">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5B910AD4-086D-FD62-367D-1A5F94C69FFA}"/>
              </a:ext>
            </a:extLst>
          </p:cNvPr>
          <p:cNvSpPr/>
          <p:nvPr/>
        </p:nvSpPr>
        <p:spPr>
          <a:xfrm>
            <a:off x="3787025" y="1874129"/>
            <a:ext cx="1051855" cy="738663"/>
          </a:xfrm>
          <a:custGeom>
            <a:avLst/>
            <a:gdLst/>
            <a:ahLst/>
            <a:cxnLst/>
            <a:rect l="0" t="0" r="0" b="0"/>
            <a:pathLst>
              <a:path w="1006524" h="457200">
                <a:moveTo>
                  <a:pt x="28575" y="0"/>
                </a:moveTo>
                <a:cubicBezTo>
                  <a:pt x="12793" y="0"/>
                  <a:pt x="0" y="12793"/>
                  <a:pt x="0" y="28575"/>
                </a:cubicBezTo>
                <a:moveTo>
                  <a:pt x="977949" y="0"/>
                </a:moveTo>
                <a:lnTo>
                  <a:pt x="28575" y="0"/>
                </a:lnTo>
                <a:moveTo>
                  <a:pt x="1006524" y="428625"/>
                </a:moveTo>
                <a:cubicBezTo>
                  <a:pt x="1006524" y="444406"/>
                  <a:pt x="993731" y="457200"/>
                  <a:pt x="977949" y="457200"/>
                </a:cubicBezTo>
                <a:moveTo>
                  <a:pt x="977949" y="0"/>
                </a:moveTo>
                <a:cubicBezTo>
                  <a:pt x="993731" y="0"/>
                  <a:pt x="1006524" y="12793"/>
                  <a:pt x="1006524" y="28575"/>
                </a:cubicBezTo>
                <a:moveTo>
                  <a:pt x="0" y="428625"/>
                </a:moveTo>
                <a:lnTo>
                  <a:pt x="0" y="28575"/>
                </a:lnTo>
                <a:moveTo>
                  <a:pt x="1006524" y="428625"/>
                </a:moveTo>
                <a:lnTo>
                  <a:pt x="1006524" y="28575"/>
                </a:lnTo>
                <a:moveTo>
                  <a:pt x="28575" y="457200"/>
                </a:moveTo>
                <a:lnTo>
                  <a:pt x="977949" y="457200"/>
                </a:lnTo>
                <a:moveTo>
                  <a:pt x="28575" y="457200"/>
                </a:moveTo>
                <a:cubicBezTo>
                  <a:pt x="12793" y="457200"/>
                  <a:pt x="0" y="444406"/>
                  <a:pt x="0" y="4286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C045B701-F959-B51C-C146-06A54BCB0173}"/>
              </a:ext>
            </a:extLst>
          </p:cNvPr>
          <p:cNvSpPr/>
          <p:nvPr/>
        </p:nvSpPr>
        <p:spPr>
          <a:xfrm>
            <a:off x="5087634" y="1845333"/>
            <a:ext cx="1328406" cy="283458"/>
          </a:xfrm>
          <a:custGeom>
            <a:avLst/>
            <a:gdLst/>
            <a:ahLst/>
            <a:cxnLst/>
            <a:rect l="0" t="0" r="0" b="0"/>
            <a:pathLst>
              <a:path w="768399" h="228600">
                <a:moveTo>
                  <a:pt x="28575" y="0"/>
                </a:moveTo>
                <a:cubicBezTo>
                  <a:pt x="12793" y="0"/>
                  <a:pt x="0" y="12793"/>
                  <a:pt x="0" y="28575"/>
                </a:cubicBezTo>
                <a:moveTo>
                  <a:pt x="739824" y="0"/>
                </a:moveTo>
                <a:lnTo>
                  <a:pt x="28575" y="0"/>
                </a:lnTo>
                <a:moveTo>
                  <a:pt x="768399" y="200025"/>
                </a:moveTo>
                <a:cubicBezTo>
                  <a:pt x="768399" y="215806"/>
                  <a:pt x="755606" y="228600"/>
                  <a:pt x="739824" y="228600"/>
                </a:cubicBezTo>
                <a:moveTo>
                  <a:pt x="739824" y="0"/>
                </a:moveTo>
                <a:cubicBezTo>
                  <a:pt x="755606" y="0"/>
                  <a:pt x="768399" y="12793"/>
                  <a:pt x="768399" y="28575"/>
                </a:cubicBezTo>
                <a:moveTo>
                  <a:pt x="0" y="200025"/>
                </a:moveTo>
                <a:lnTo>
                  <a:pt x="0" y="28575"/>
                </a:lnTo>
                <a:moveTo>
                  <a:pt x="768399" y="200025"/>
                </a:moveTo>
                <a:lnTo>
                  <a:pt x="768399" y="28575"/>
                </a:lnTo>
                <a:moveTo>
                  <a:pt x="28575" y="228600"/>
                </a:moveTo>
                <a:lnTo>
                  <a:pt x="739824"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273F1D8A-FDAE-8972-8E83-B160C2ACB659}"/>
              </a:ext>
            </a:extLst>
          </p:cNvPr>
          <p:cNvSpPr/>
          <p:nvPr/>
        </p:nvSpPr>
        <p:spPr>
          <a:xfrm>
            <a:off x="5087634" y="2204262"/>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F9432FB6-1B29-9E54-9204-E61C6A48E786}"/>
              </a:ext>
            </a:extLst>
          </p:cNvPr>
          <p:cNvSpPr/>
          <p:nvPr/>
        </p:nvSpPr>
        <p:spPr>
          <a:xfrm>
            <a:off x="3843192" y="2862602"/>
            <a:ext cx="1058920" cy="738663"/>
          </a:xfrm>
          <a:custGeom>
            <a:avLst/>
            <a:gdLst/>
            <a:ahLst/>
            <a:cxnLst/>
            <a:rect l="0" t="0" r="0" b="0"/>
            <a:pathLst>
              <a:path w="911572" h="457200">
                <a:moveTo>
                  <a:pt x="28575" y="0"/>
                </a:moveTo>
                <a:cubicBezTo>
                  <a:pt x="12793" y="0"/>
                  <a:pt x="0" y="12793"/>
                  <a:pt x="0" y="28575"/>
                </a:cubicBezTo>
                <a:moveTo>
                  <a:pt x="882997" y="0"/>
                </a:moveTo>
                <a:lnTo>
                  <a:pt x="28575" y="0"/>
                </a:lnTo>
                <a:moveTo>
                  <a:pt x="911572" y="428625"/>
                </a:moveTo>
                <a:cubicBezTo>
                  <a:pt x="911572" y="444406"/>
                  <a:pt x="898779" y="457200"/>
                  <a:pt x="882997" y="457200"/>
                </a:cubicBezTo>
                <a:moveTo>
                  <a:pt x="882997" y="0"/>
                </a:moveTo>
                <a:cubicBezTo>
                  <a:pt x="898779" y="0"/>
                  <a:pt x="911572" y="12793"/>
                  <a:pt x="911572" y="28575"/>
                </a:cubicBezTo>
                <a:moveTo>
                  <a:pt x="0" y="428625"/>
                </a:moveTo>
                <a:lnTo>
                  <a:pt x="0" y="28575"/>
                </a:lnTo>
                <a:moveTo>
                  <a:pt x="911572" y="428625"/>
                </a:moveTo>
                <a:lnTo>
                  <a:pt x="911572" y="28575"/>
                </a:lnTo>
                <a:moveTo>
                  <a:pt x="28575" y="457200"/>
                </a:moveTo>
                <a:lnTo>
                  <a:pt x="882997" y="457200"/>
                </a:lnTo>
                <a:moveTo>
                  <a:pt x="28575" y="457200"/>
                </a:moveTo>
                <a:cubicBezTo>
                  <a:pt x="12793" y="457200"/>
                  <a:pt x="0" y="444406"/>
                  <a:pt x="0" y="4286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306F7D75-8EEE-EB6E-4FE8-9F506FE66E06}"/>
              </a:ext>
            </a:extLst>
          </p:cNvPr>
          <p:cNvSpPr/>
          <p:nvPr/>
        </p:nvSpPr>
        <p:spPr>
          <a:xfrm>
            <a:off x="3794711" y="3957978"/>
            <a:ext cx="1051855" cy="738662"/>
          </a:xfrm>
          <a:custGeom>
            <a:avLst/>
            <a:gdLst/>
            <a:ahLst/>
            <a:cxnLst/>
            <a:rect l="0" t="0" r="0" b="0"/>
            <a:pathLst>
              <a:path w="1219497" h="323850">
                <a:moveTo>
                  <a:pt x="28575" y="0"/>
                </a:moveTo>
                <a:cubicBezTo>
                  <a:pt x="12793" y="0"/>
                  <a:pt x="0" y="12793"/>
                  <a:pt x="0" y="28575"/>
                </a:cubicBezTo>
                <a:moveTo>
                  <a:pt x="1190922" y="0"/>
                </a:moveTo>
                <a:lnTo>
                  <a:pt x="28575" y="0"/>
                </a:lnTo>
                <a:moveTo>
                  <a:pt x="1219497" y="295275"/>
                </a:moveTo>
                <a:cubicBezTo>
                  <a:pt x="1219497" y="311056"/>
                  <a:pt x="1206704" y="323850"/>
                  <a:pt x="1190922" y="323850"/>
                </a:cubicBezTo>
                <a:moveTo>
                  <a:pt x="1190922" y="0"/>
                </a:moveTo>
                <a:cubicBezTo>
                  <a:pt x="1206704" y="0"/>
                  <a:pt x="1219497" y="12793"/>
                  <a:pt x="1219497" y="28575"/>
                </a:cubicBezTo>
                <a:moveTo>
                  <a:pt x="0" y="295275"/>
                </a:moveTo>
                <a:lnTo>
                  <a:pt x="0" y="28575"/>
                </a:lnTo>
                <a:moveTo>
                  <a:pt x="1219497" y="295275"/>
                </a:moveTo>
                <a:lnTo>
                  <a:pt x="1219497" y="28575"/>
                </a:lnTo>
                <a:moveTo>
                  <a:pt x="28575" y="323850"/>
                </a:moveTo>
                <a:lnTo>
                  <a:pt x="1190922" y="323850"/>
                </a:lnTo>
                <a:moveTo>
                  <a:pt x="28575" y="323850"/>
                </a:moveTo>
                <a:cubicBezTo>
                  <a:pt x="12793" y="323850"/>
                  <a:pt x="0" y="311056"/>
                  <a:pt x="0" y="29527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1">
            <a:extLst>
              <a:ext uri="{FF2B5EF4-FFF2-40B4-BE49-F238E27FC236}">
                <a16:creationId xmlns:a16="http://schemas.microsoft.com/office/drawing/2014/main" id="{C6B4DA19-8B58-D4AB-16D2-153FB9B94197}"/>
              </a:ext>
            </a:extLst>
          </p:cNvPr>
          <p:cNvSpPr/>
          <p:nvPr/>
        </p:nvSpPr>
        <p:spPr>
          <a:xfrm>
            <a:off x="3791436" y="4935803"/>
            <a:ext cx="1051856" cy="738662"/>
          </a:xfrm>
          <a:custGeom>
            <a:avLst/>
            <a:gdLst/>
            <a:ahLst/>
            <a:cxnLst/>
            <a:rect l="0" t="0" r="0" b="0"/>
            <a:pathLst>
              <a:path w="845343" h="457200">
                <a:moveTo>
                  <a:pt x="28575" y="0"/>
                </a:moveTo>
                <a:cubicBezTo>
                  <a:pt x="12793" y="0"/>
                  <a:pt x="0" y="12793"/>
                  <a:pt x="0" y="28575"/>
                </a:cubicBezTo>
                <a:moveTo>
                  <a:pt x="816768" y="0"/>
                </a:moveTo>
                <a:lnTo>
                  <a:pt x="28575" y="0"/>
                </a:lnTo>
                <a:moveTo>
                  <a:pt x="845343" y="428625"/>
                </a:moveTo>
                <a:cubicBezTo>
                  <a:pt x="845343" y="444406"/>
                  <a:pt x="832550" y="457200"/>
                  <a:pt x="816768" y="457200"/>
                </a:cubicBezTo>
                <a:moveTo>
                  <a:pt x="816768" y="0"/>
                </a:moveTo>
                <a:cubicBezTo>
                  <a:pt x="832550" y="0"/>
                  <a:pt x="845343" y="12793"/>
                  <a:pt x="845343" y="28575"/>
                </a:cubicBezTo>
                <a:moveTo>
                  <a:pt x="0" y="428625"/>
                </a:moveTo>
                <a:lnTo>
                  <a:pt x="0" y="28575"/>
                </a:lnTo>
                <a:moveTo>
                  <a:pt x="845343" y="428625"/>
                </a:moveTo>
                <a:lnTo>
                  <a:pt x="845343" y="28575"/>
                </a:lnTo>
                <a:moveTo>
                  <a:pt x="28575" y="457200"/>
                </a:moveTo>
                <a:lnTo>
                  <a:pt x="816768" y="457200"/>
                </a:lnTo>
                <a:moveTo>
                  <a:pt x="28575" y="457200"/>
                </a:moveTo>
                <a:cubicBezTo>
                  <a:pt x="12793" y="457200"/>
                  <a:pt x="0" y="444406"/>
                  <a:pt x="0" y="4286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ounded Rectangle 14">
            <a:extLst>
              <a:ext uri="{FF2B5EF4-FFF2-40B4-BE49-F238E27FC236}">
                <a16:creationId xmlns:a16="http://schemas.microsoft.com/office/drawing/2014/main" id="{8B4EA96A-C520-7D99-2A96-8D8C27E3CEFF}"/>
              </a:ext>
            </a:extLst>
          </p:cNvPr>
          <p:cNvSpPr/>
          <p:nvPr/>
        </p:nvSpPr>
        <p:spPr>
          <a:xfrm>
            <a:off x="2984232" y="2159182"/>
            <a:ext cx="800100" cy="3086100"/>
          </a:xfrm>
          <a:custGeom>
            <a:avLst/>
            <a:gdLst/>
            <a:ahLst/>
            <a:cxnLst/>
            <a:rect l="0" t="0" r="0" b="0"/>
            <a:pathLst>
              <a:path w="800100" h="3086100">
                <a:moveTo>
                  <a:pt x="0" y="1543050"/>
                </a:moveTo>
                <a:lnTo>
                  <a:pt x="400050" y="1543050"/>
                </a:lnTo>
                <a:moveTo>
                  <a:pt x="800100" y="0"/>
                </a:moveTo>
                <a:lnTo>
                  <a:pt x="400050" y="0"/>
                </a:lnTo>
                <a:lnTo>
                  <a:pt x="400050" y="3086100"/>
                </a:lnTo>
                <a:lnTo>
                  <a:pt x="800100" y="3086100"/>
                </a:lnTo>
                <a:moveTo>
                  <a:pt x="800100" y="1028700"/>
                </a:moveTo>
                <a:lnTo>
                  <a:pt x="400050" y="1028700"/>
                </a:lnTo>
                <a:moveTo>
                  <a:pt x="800100" y="2057400"/>
                </a:moveTo>
                <a:lnTo>
                  <a:pt x="400050" y="2057400"/>
                </a:lnTo>
              </a:path>
            </a:pathLst>
          </a:custGeom>
          <a:noFill/>
          <a:ln w="14287">
            <a:solidFill>
              <a:srgbClr val="484848"/>
            </a:solidFill>
          </a:ln>
        </p:spPr>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16" name="Rounded Rectangle 15">
            <a:extLst>
              <a:ext uri="{FF2B5EF4-FFF2-40B4-BE49-F238E27FC236}">
                <a16:creationId xmlns:a16="http://schemas.microsoft.com/office/drawing/2014/main" id="{A8264558-A14B-A41D-74A1-1FA4B8B738D7}"/>
              </a:ext>
            </a:extLst>
          </p:cNvPr>
          <p:cNvSpPr/>
          <p:nvPr/>
        </p:nvSpPr>
        <p:spPr>
          <a:xfrm>
            <a:off x="4846566" y="1996049"/>
            <a:ext cx="228600" cy="342900"/>
          </a:xfrm>
          <a:custGeom>
            <a:avLst/>
            <a:gdLst/>
            <a:ahLst/>
            <a:cxnLst/>
            <a:rect l="0" t="0" r="0" b="0"/>
            <a:pathLst>
              <a:path w="228600" h="342900">
                <a:moveTo>
                  <a:pt x="0" y="171450"/>
                </a:moveTo>
                <a:lnTo>
                  <a:pt x="114300" y="171450"/>
                </a:lnTo>
                <a:moveTo>
                  <a:pt x="228600" y="0"/>
                </a:moveTo>
                <a:lnTo>
                  <a:pt x="114300" y="0"/>
                </a:lnTo>
                <a:lnTo>
                  <a:pt x="114300" y="342900"/>
                </a:lnTo>
                <a:lnTo>
                  <a:pt x="228600" y="3429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CD9DF568-7671-EC1F-A23F-665BC0FDEEBB}"/>
              </a:ext>
            </a:extLst>
          </p:cNvPr>
          <p:cNvSpPr/>
          <p:nvPr/>
        </p:nvSpPr>
        <p:spPr>
          <a:xfrm>
            <a:off x="4897497" y="2996467"/>
            <a:ext cx="228600" cy="342900"/>
          </a:xfrm>
          <a:custGeom>
            <a:avLst/>
            <a:gdLst/>
            <a:ahLst/>
            <a:cxnLst/>
            <a:rect l="0" t="0" r="0" b="0"/>
            <a:pathLst>
              <a:path w="228600" h="342900">
                <a:moveTo>
                  <a:pt x="0" y="171450"/>
                </a:moveTo>
                <a:lnTo>
                  <a:pt x="114300" y="171450"/>
                </a:lnTo>
                <a:moveTo>
                  <a:pt x="228600" y="0"/>
                </a:moveTo>
                <a:lnTo>
                  <a:pt x="114300" y="0"/>
                </a:lnTo>
                <a:lnTo>
                  <a:pt x="114300" y="342900"/>
                </a:lnTo>
                <a:lnTo>
                  <a:pt x="228600" y="3429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9AB00E35-7265-86BB-8C03-D04FA613C1C3}"/>
              </a:ext>
            </a:extLst>
          </p:cNvPr>
          <p:cNvSpPr/>
          <p:nvPr/>
        </p:nvSpPr>
        <p:spPr>
          <a:xfrm>
            <a:off x="4856945" y="4036838"/>
            <a:ext cx="228600" cy="342900"/>
          </a:xfrm>
          <a:custGeom>
            <a:avLst/>
            <a:gdLst/>
            <a:ahLst/>
            <a:cxnLst/>
            <a:rect l="0" t="0" r="0" b="0"/>
            <a:pathLst>
              <a:path w="228600" h="342900">
                <a:moveTo>
                  <a:pt x="0" y="171450"/>
                </a:moveTo>
                <a:lnTo>
                  <a:pt x="114300" y="171450"/>
                </a:lnTo>
                <a:moveTo>
                  <a:pt x="228600" y="0"/>
                </a:moveTo>
                <a:lnTo>
                  <a:pt x="114300" y="0"/>
                </a:lnTo>
                <a:lnTo>
                  <a:pt x="114300" y="342900"/>
                </a:lnTo>
                <a:lnTo>
                  <a:pt x="228600" y="3429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ounded Rectangle 18">
            <a:extLst>
              <a:ext uri="{FF2B5EF4-FFF2-40B4-BE49-F238E27FC236}">
                <a16:creationId xmlns:a16="http://schemas.microsoft.com/office/drawing/2014/main" id="{3843953D-92F9-5CE6-C447-CE8B86770FFE}"/>
              </a:ext>
            </a:extLst>
          </p:cNvPr>
          <p:cNvSpPr/>
          <p:nvPr/>
        </p:nvSpPr>
        <p:spPr>
          <a:xfrm>
            <a:off x="4846566" y="5022873"/>
            <a:ext cx="228600" cy="342900"/>
          </a:xfrm>
          <a:custGeom>
            <a:avLst/>
            <a:gdLst/>
            <a:ahLst/>
            <a:cxnLst/>
            <a:rect l="0" t="0" r="0" b="0"/>
            <a:pathLst>
              <a:path w="228600" h="342900">
                <a:moveTo>
                  <a:pt x="0" y="171450"/>
                </a:moveTo>
                <a:lnTo>
                  <a:pt x="114300" y="171450"/>
                </a:lnTo>
                <a:moveTo>
                  <a:pt x="228600" y="0"/>
                </a:moveTo>
                <a:lnTo>
                  <a:pt x="114300" y="0"/>
                </a:lnTo>
                <a:lnTo>
                  <a:pt x="114300" y="342900"/>
                </a:lnTo>
                <a:lnTo>
                  <a:pt x="228600" y="342900"/>
                </a:ln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7D22780-88E8-30AC-3C04-95692AFA596B}"/>
              </a:ext>
            </a:extLst>
          </p:cNvPr>
          <p:cNvSpPr txBox="1"/>
          <p:nvPr/>
        </p:nvSpPr>
        <p:spPr>
          <a:xfrm>
            <a:off x="5157935" y="2269982"/>
            <a:ext cx="1217209"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Engagement Signals</a:t>
            </a:r>
          </a:p>
        </p:txBody>
      </p:sp>
      <p:sp>
        <p:nvSpPr>
          <p:cNvPr id="21" name="TextBox 20">
            <a:extLst>
              <a:ext uri="{FF2B5EF4-FFF2-40B4-BE49-F238E27FC236}">
                <a16:creationId xmlns:a16="http://schemas.microsoft.com/office/drawing/2014/main" id="{B47EF2EC-292C-5930-828D-F688C4A755DD}"/>
              </a:ext>
            </a:extLst>
          </p:cNvPr>
          <p:cNvSpPr txBox="1"/>
          <p:nvPr/>
        </p:nvSpPr>
        <p:spPr>
          <a:xfrm>
            <a:off x="5186312" y="2897237"/>
            <a:ext cx="1199923"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Production Factors</a:t>
            </a:r>
          </a:p>
        </p:txBody>
      </p:sp>
      <p:sp>
        <p:nvSpPr>
          <p:cNvPr id="22" name="TextBox 21">
            <a:extLst>
              <a:ext uri="{FF2B5EF4-FFF2-40B4-BE49-F238E27FC236}">
                <a16:creationId xmlns:a16="http://schemas.microsoft.com/office/drawing/2014/main" id="{0C41EF57-9ED9-FEF8-CCC5-34B08EE92A24}"/>
              </a:ext>
            </a:extLst>
          </p:cNvPr>
          <p:cNvSpPr txBox="1"/>
          <p:nvPr/>
        </p:nvSpPr>
        <p:spPr>
          <a:xfrm>
            <a:off x="3905803" y="2929316"/>
            <a:ext cx="850375" cy="553998"/>
          </a:xfrm>
          <a:prstGeom prst="rect">
            <a:avLst/>
          </a:prstGeom>
          <a:noFill/>
          <a:ln>
            <a:noFill/>
          </a:ln>
        </p:spPr>
        <p:txBody>
          <a:bodyPr wrap="square" lIns="0" tIns="0" rIns="0" bIns="0" anchor="t">
            <a:spAutoFit/>
          </a:bodyPr>
          <a:lstStyle/>
          <a:p>
            <a:pPr algn="ctr"/>
            <a:r>
              <a:rPr sz="1200" b="1" dirty="0">
                <a:latin typeface="Times New Roman" panose="02020603050405020304" pitchFamily="18" charset="0"/>
                <a:cs typeface="Times New Roman" panose="02020603050405020304" pitchFamily="18" charset="0"/>
              </a:rPr>
              <a:t>Popularity vs
Production</a:t>
            </a:r>
          </a:p>
        </p:txBody>
      </p:sp>
      <p:sp>
        <p:nvSpPr>
          <p:cNvPr id="23" name="TextBox 22">
            <a:extLst>
              <a:ext uri="{FF2B5EF4-FFF2-40B4-BE49-F238E27FC236}">
                <a16:creationId xmlns:a16="http://schemas.microsoft.com/office/drawing/2014/main" id="{455D2659-6E3E-1A99-D7C6-13C2E36E385D}"/>
              </a:ext>
            </a:extLst>
          </p:cNvPr>
          <p:cNvSpPr txBox="1"/>
          <p:nvPr/>
        </p:nvSpPr>
        <p:spPr>
          <a:xfrm>
            <a:off x="3905803" y="1958260"/>
            <a:ext cx="895611" cy="553998"/>
          </a:xfrm>
          <a:prstGeom prst="rect">
            <a:avLst/>
          </a:prstGeom>
          <a:noFill/>
          <a:ln>
            <a:noFill/>
          </a:ln>
        </p:spPr>
        <p:txBody>
          <a:bodyPr wrap="square" lIns="0" tIns="0" rIns="0" bIns="0" anchor="t">
            <a:spAutoFit/>
          </a:bodyPr>
          <a:lstStyle/>
          <a:p>
            <a:pPr algn="ctr"/>
            <a:r>
              <a:rPr sz="1200" b="1" dirty="0">
                <a:latin typeface="Times New Roman" panose="02020603050405020304" pitchFamily="18" charset="0"/>
                <a:cs typeface="Times New Roman" panose="02020603050405020304" pitchFamily="18" charset="0"/>
              </a:rPr>
              <a:t>Early Audience
Engagement</a:t>
            </a:r>
          </a:p>
        </p:txBody>
      </p:sp>
      <p:sp>
        <p:nvSpPr>
          <p:cNvPr id="24" name="TextBox 23">
            <a:extLst>
              <a:ext uri="{FF2B5EF4-FFF2-40B4-BE49-F238E27FC236}">
                <a16:creationId xmlns:a16="http://schemas.microsoft.com/office/drawing/2014/main" id="{E18ADC07-2174-ECCC-6498-111C32777682}"/>
              </a:ext>
            </a:extLst>
          </p:cNvPr>
          <p:cNvSpPr txBox="1"/>
          <p:nvPr/>
        </p:nvSpPr>
        <p:spPr>
          <a:xfrm>
            <a:off x="5154724" y="3262653"/>
            <a:ext cx="763778"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Popularity</a:t>
            </a:r>
          </a:p>
        </p:txBody>
      </p:sp>
      <p:sp>
        <p:nvSpPr>
          <p:cNvPr id="25" name="TextBox 24">
            <a:extLst>
              <a:ext uri="{FF2B5EF4-FFF2-40B4-BE49-F238E27FC236}">
                <a16:creationId xmlns:a16="http://schemas.microsoft.com/office/drawing/2014/main" id="{0DCFFF0C-3F55-18FD-5D54-2D192305D4AD}"/>
              </a:ext>
            </a:extLst>
          </p:cNvPr>
          <p:cNvSpPr txBox="1"/>
          <p:nvPr/>
        </p:nvSpPr>
        <p:spPr>
          <a:xfrm>
            <a:off x="1620393" y="3554028"/>
            <a:ext cx="1148638" cy="215444"/>
          </a:xfrm>
          <a:prstGeom prst="rect">
            <a:avLst/>
          </a:prstGeom>
          <a:noFill/>
          <a:ln>
            <a:noFill/>
          </a:ln>
        </p:spPr>
        <p:txBody>
          <a:bodyPr wrap="square" lIns="0" tIns="0" rIns="0" bIns="0" anchor="t">
            <a:spAutoFit/>
          </a:bodyPr>
          <a:lstStyle/>
          <a:p>
            <a:pPr algn="ctr"/>
            <a:r>
              <a:rPr sz="1400" b="1" dirty="0">
                <a:latin typeface="Times New Roman" panose="02020603050405020304" pitchFamily="18" charset="0"/>
                <a:cs typeface="Times New Roman" panose="02020603050405020304" pitchFamily="18" charset="0"/>
              </a:rPr>
              <a:t>Key Insights</a:t>
            </a:r>
          </a:p>
        </p:txBody>
      </p:sp>
      <p:sp>
        <p:nvSpPr>
          <p:cNvPr id="26" name="TextBox 25">
            <a:extLst>
              <a:ext uri="{FF2B5EF4-FFF2-40B4-BE49-F238E27FC236}">
                <a16:creationId xmlns:a16="http://schemas.microsoft.com/office/drawing/2014/main" id="{0B528321-4E2F-F81E-5A77-079820867258}"/>
              </a:ext>
            </a:extLst>
          </p:cNvPr>
          <p:cNvSpPr txBox="1"/>
          <p:nvPr/>
        </p:nvSpPr>
        <p:spPr>
          <a:xfrm>
            <a:off x="5011797" y="1936765"/>
            <a:ext cx="1182660"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User Behavior</a:t>
            </a:r>
          </a:p>
        </p:txBody>
      </p:sp>
      <p:sp>
        <p:nvSpPr>
          <p:cNvPr id="27" name="TextBox 26">
            <a:extLst>
              <a:ext uri="{FF2B5EF4-FFF2-40B4-BE49-F238E27FC236}">
                <a16:creationId xmlns:a16="http://schemas.microsoft.com/office/drawing/2014/main" id="{F70D7449-71E0-FE07-3AC7-C6D2D573DB97}"/>
              </a:ext>
            </a:extLst>
          </p:cNvPr>
          <p:cNvSpPr txBox="1"/>
          <p:nvPr/>
        </p:nvSpPr>
        <p:spPr>
          <a:xfrm>
            <a:off x="5095924" y="3938720"/>
            <a:ext cx="794886"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Accuracy</a:t>
            </a:r>
          </a:p>
        </p:txBody>
      </p:sp>
      <p:sp>
        <p:nvSpPr>
          <p:cNvPr id="28" name="TextBox 27">
            <a:extLst>
              <a:ext uri="{FF2B5EF4-FFF2-40B4-BE49-F238E27FC236}">
                <a16:creationId xmlns:a16="http://schemas.microsoft.com/office/drawing/2014/main" id="{1E278458-2366-EBC8-D21E-0052F790848F}"/>
              </a:ext>
            </a:extLst>
          </p:cNvPr>
          <p:cNvSpPr txBox="1"/>
          <p:nvPr/>
        </p:nvSpPr>
        <p:spPr>
          <a:xfrm>
            <a:off x="3881890" y="4123798"/>
            <a:ext cx="1001877" cy="369332"/>
          </a:xfrm>
          <a:prstGeom prst="rect">
            <a:avLst/>
          </a:prstGeom>
          <a:noFill/>
          <a:ln>
            <a:noFill/>
          </a:ln>
        </p:spPr>
        <p:txBody>
          <a:bodyPr wrap="square" lIns="0" tIns="0" rIns="0" bIns="0" anchor="t">
            <a:spAutoFit/>
          </a:bodyPr>
          <a:lstStyle/>
          <a:p>
            <a:pPr algn="ctr"/>
            <a:r>
              <a:rPr sz="1200" b="1" dirty="0">
                <a:latin typeface="Times New Roman" panose="02020603050405020304" pitchFamily="18" charset="0"/>
                <a:cs typeface="Times New Roman" panose="02020603050405020304" pitchFamily="18" charset="0"/>
              </a:rPr>
              <a:t>Combined Features</a:t>
            </a:r>
          </a:p>
        </p:txBody>
      </p:sp>
      <p:sp>
        <p:nvSpPr>
          <p:cNvPr id="29" name="TextBox 28">
            <a:extLst>
              <a:ext uri="{FF2B5EF4-FFF2-40B4-BE49-F238E27FC236}">
                <a16:creationId xmlns:a16="http://schemas.microsoft.com/office/drawing/2014/main" id="{0E0C7798-B114-4250-D690-9E9DA201A4FE}"/>
              </a:ext>
            </a:extLst>
          </p:cNvPr>
          <p:cNvSpPr txBox="1"/>
          <p:nvPr/>
        </p:nvSpPr>
        <p:spPr>
          <a:xfrm>
            <a:off x="939672" y="998564"/>
            <a:ext cx="5888565" cy="369332"/>
          </a:xfrm>
          <a:prstGeom prst="rect">
            <a:avLst/>
          </a:prstGeom>
          <a:noFill/>
          <a:ln>
            <a:noFill/>
          </a:ln>
        </p:spPr>
        <p:txBody>
          <a:bodyPr wrap="square" lIns="0" tIns="0" rIns="0" bIns="0" anchor="t">
            <a:spAutoFit/>
          </a:bodyPr>
          <a:lstStyle/>
          <a:p>
            <a:pPr algn="ctr"/>
            <a:r>
              <a:rPr sz="2400" b="1" dirty="0">
                <a:latin typeface="Times New Roman" panose="02020603050405020304" pitchFamily="18" charset="0"/>
                <a:cs typeface="Times New Roman" panose="02020603050405020304" pitchFamily="18" charset="0"/>
              </a:rPr>
              <a:t>Key Insights from Movie Success Prediction</a:t>
            </a:r>
            <a:r>
              <a:rPr lang="en-IN"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D5AEA74-FE41-76D3-DF9F-AE92166914BD}"/>
              </a:ext>
            </a:extLst>
          </p:cNvPr>
          <p:cNvSpPr txBox="1"/>
          <p:nvPr/>
        </p:nvSpPr>
        <p:spPr>
          <a:xfrm>
            <a:off x="5028713" y="4304863"/>
            <a:ext cx="995679"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Reliability</a:t>
            </a:r>
          </a:p>
        </p:txBody>
      </p:sp>
      <p:sp>
        <p:nvSpPr>
          <p:cNvPr id="31" name="TextBox 30">
            <a:extLst>
              <a:ext uri="{FF2B5EF4-FFF2-40B4-BE49-F238E27FC236}">
                <a16:creationId xmlns:a16="http://schemas.microsoft.com/office/drawing/2014/main" id="{B415496D-D06C-9DC7-EA27-BF691554FAEB}"/>
              </a:ext>
            </a:extLst>
          </p:cNvPr>
          <p:cNvSpPr txBox="1"/>
          <p:nvPr/>
        </p:nvSpPr>
        <p:spPr>
          <a:xfrm>
            <a:off x="5108256" y="5278814"/>
            <a:ext cx="727554"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Real Data</a:t>
            </a:r>
          </a:p>
        </p:txBody>
      </p:sp>
      <p:sp>
        <p:nvSpPr>
          <p:cNvPr id="32" name="TextBox 31">
            <a:extLst>
              <a:ext uri="{FF2B5EF4-FFF2-40B4-BE49-F238E27FC236}">
                <a16:creationId xmlns:a16="http://schemas.microsoft.com/office/drawing/2014/main" id="{D261E1D1-66F3-6D52-F620-131BFA41CF4A}"/>
              </a:ext>
            </a:extLst>
          </p:cNvPr>
          <p:cNvSpPr txBox="1"/>
          <p:nvPr/>
        </p:nvSpPr>
        <p:spPr>
          <a:xfrm>
            <a:off x="5126097" y="4929091"/>
            <a:ext cx="898814" cy="169277"/>
          </a:xfrm>
          <a:prstGeom prst="rect">
            <a:avLst/>
          </a:prstGeom>
          <a:noFill/>
          <a:ln>
            <a:noFill/>
          </a:ln>
        </p:spPr>
        <p:txBody>
          <a:bodyPr wrap="square" lIns="0" tIns="0" rIns="0" bIns="0" anchor="t">
            <a:spAutoFit/>
          </a:bodyPr>
          <a:lstStyle/>
          <a:p>
            <a:pPr algn="ctr"/>
            <a:r>
              <a:rPr sz="1100" b="0" dirty="0">
                <a:latin typeface="Times New Roman" panose="02020603050405020304" pitchFamily="18" charset="0"/>
                <a:cs typeface="Times New Roman" panose="02020603050405020304" pitchFamily="18" charset="0"/>
              </a:rPr>
              <a:t>Assumptions</a:t>
            </a:r>
          </a:p>
        </p:txBody>
      </p:sp>
      <p:sp>
        <p:nvSpPr>
          <p:cNvPr id="33" name="TextBox 32">
            <a:extLst>
              <a:ext uri="{FF2B5EF4-FFF2-40B4-BE49-F238E27FC236}">
                <a16:creationId xmlns:a16="http://schemas.microsoft.com/office/drawing/2014/main" id="{421BBD48-9EBD-5995-1F67-C7BCE2CA15BB}"/>
              </a:ext>
            </a:extLst>
          </p:cNvPr>
          <p:cNvSpPr txBox="1"/>
          <p:nvPr/>
        </p:nvSpPr>
        <p:spPr>
          <a:xfrm>
            <a:off x="3883955" y="5098368"/>
            <a:ext cx="888561" cy="369332"/>
          </a:xfrm>
          <a:prstGeom prst="rect">
            <a:avLst/>
          </a:prstGeom>
          <a:noFill/>
          <a:ln>
            <a:noFill/>
          </a:ln>
        </p:spPr>
        <p:txBody>
          <a:bodyPr wrap="square" lIns="0" tIns="0" rIns="0" bIns="0" anchor="t">
            <a:spAutoFit/>
          </a:bodyPr>
          <a:lstStyle/>
          <a:p>
            <a:pPr algn="ctr"/>
            <a:r>
              <a:rPr sz="1200" b="1" dirty="0">
                <a:latin typeface="Times New Roman" panose="02020603050405020304" pitchFamily="18" charset="0"/>
                <a:cs typeface="Times New Roman" panose="02020603050405020304" pitchFamily="18" charset="0"/>
              </a:rPr>
              <a:t>Data-Driven
Decisions</a:t>
            </a:r>
          </a:p>
        </p:txBody>
      </p:sp>
      <p:pic>
        <p:nvPicPr>
          <p:cNvPr id="35" name="Picture 34">
            <a:extLst>
              <a:ext uri="{FF2B5EF4-FFF2-40B4-BE49-F238E27FC236}">
                <a16:creationId xmlns:a16="http://schemas.microsoft.com/office/drawing/2014/main" id="{7F0C1DAF-ECD2-D1FD-678F-68EF67CD4EB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97623" y="5022873"/>
            <a:ext cx="1148464" cy="1148464"/>
          </a:xfrm>
          <a:prstGeom prst="rect">
            <a:avLst/>
          </a:prstGeom>
        </p:spPr>
      </p:pic>
      <p:sp>
        <p:nvSpPr>
          <p:cNvPr id="34" name="Rounded Rectangle 4">
            <a:extLst>
              <a:ext uri="{FF2B5EF4-FFF2-40B4-BE49-F238E27FC236}">
                <a16:creationId xmlns:a16="http://schemas.microsoft.com/office/drawing/2014/main" id="{62120B11-1125-77FB-C5B0-9032181D5488}"/>
              </a:ext>
            </a:extLst>
          </p:cNvPr>
          <p:cNvSpPr/>
          <p:nvPr/>
        </p:nvSpPr>
        <p:spPr>
          <a:xfrm>
            <a:off x="5126097" y="3197704"/>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Rounded Rectangle 4">
            <a:extLst>
              <a:ext uri="{FF2B5EF4-FFF2-40B4-BE49-F238E27FC236}">
                <a16:creationId xmlns:a16="http://schemas.microsoft.com/office/drawing/2014/main" id="{D87A80C4-9E0B-6F85-F59B-70284793B99E}"/>
              </a:ext>
            </a:extLst>
          </p:cNvPr>
          <p:cNvSpPr/>
          <p:nvPr/>
        </p:nvSpPr>
        <p:spPr>
          <a:xfrm>
            <a:off x="5126097" y="2837129"/>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Rounded Rectangle 4">
            <a:extLst>
              <a:ext uri="{FF2B5EF4-FFF2-40B4-BE49-F238E27FC236}">
                <a16:creationId xmlns:a16="http://schemas.microsoft.com/office/drawing/2014/main" id="{73137EF9-E4DD-ABDE-21E3-D34EEF16EBD4}"/>
              </a:ext>
            </a:extLst>
          </p:cNvPr>
          <p:cNvSpPr/>
          <p:nvPr/>
        </p:nvSpPr>
        <p:spPr>
          <a:xfrm>
            <a:off x="5087634" y="3865583"/>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Rounded Rectangle 4">
            <a:extLst>
              <a:ext uri="{FF2B5EF4-FFF2-40B4-BE49-F238E27FC236}">
                <a16:creationId xmlns:a16="http://schemas.microsoft.com/office/drawing/2014/main" id="{24C25BCA-7C93-8891-8A0E-1D41EE4D8603}"/>
              </a:ext>
            </a:extLst>
          </p:cNvPr>
          <p:cNvSpPr/>
          <p:nvPr/>
        </p:nvSpPr>
        <p:spPr>
          <a:xfrm>
            <a:off x="5095924" y="4256785"/>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Rounded Rectangle 4">
            <a:extLst>
              <a:ext uri="{FF2B5EF4-FFF2-40B4-BE49-F238E27FC236}">
                <a16:creationId xmlns:a16="http://schemas.microsoft.com/office/drawing/2014/main" id="{0B3F892C-4996-E246-BE43-2702F243A7AA}"/>
              </a:ext>
            </a:extLst>
          </p:cNvPr>
          <p:cNvSpPr/>
          <p:nvPr/>
        </p:nvSpPr>
        <p:spPr>
          <a:xfrm>
            <a:off x="5087634" y="4860230"/>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Rounded Rectangle 4">
            <a:extLst>
              <a:ext uri="{FF2B5EF4-FFF2-40B4-BE49-F238E27FC236}">
                <a16:creationId xmlns:a16="http://schemas.microsoft.com/office/drawing/2014/main" id="{91CEBF52-06C0-060F-2473-C13367D06E94}"/>
              </a:ext>
            </a:extLst>
          </p:cNvPr>
          <p:cNvSpPr/>
          <p:nvPr/>
        </p:nvSpPr>
        <p:spPr>
          <a:xfrm>
            <a:off x="5087634" y="5217212"/>
            <a:ext cx="1328406" cy="297122"/>
          </a:xfrm>
          <a:custGeom>
            <a:avLst/>
            <a:gdLst/>
            <a:ahLst/>
            <a:cxnLst/>
            <a:rect l="0" t="0" r="0" b="0"/>
            <a:pathLst>
              <a:path w="1063228" h="228600">
                <a:moveTo>
                  <a:pt x="28575" y="0"/>
                </a:moveTo>
                <a:cubicBezTo>
                  <a:pt x="12793" y="0"/>
                  <a:pt x="0" y="12793"/>
                  <a:pt x="0" y="28575"/>
                </a:cubicBezTo>
                <a:moveTo>
                  <a:pt x="1034653" y="0"/>
                </a:moveTo>
                <a:lnTo>
                  <a:pt x="28575" y="0"/>
                </a:lnTo>
                <a:moveTo>
                  <a:pt x="1063228" y="200025"/>
                </a:moveTo>
                <a:cubicBezTo>
                  <a:pt x="1063228" y="215806"/>
                  <a:pt x="1050435" y="228600"/>
                  <a:pt x="1034653" y="228600"/>
                </a:cubicBezTo>
                <a:moveTo>
                  <a:pt x="1034653" y="0"/>
                </a:moveTo>
                <a:cubicBezTo>
                  <a:pt x="1050435" y="0"/>
                  <a:pt x="1063228" y="12793"/>
                  <a:pt x="1063228" y="28575"/>
                </a:cubicBezTo>
                <a:moveTo>
                  <a:pt x="0" y="200025"/>
                </a:moveTo>
                <a:lnTo>
                  <a:pt x="0" y="28575"/>
                </a:lnTo>
                <a:moveTo>
                  <a:pt x="1063228" y="200025"/>
                </a:moveTo>
                <a:lnTo>
                  <a:pt x="1063228" y="28575"/>
                </a:lnTo>
                <a:moveTo>
                  <a:pt x="28575" y="228600"/>
                </a:moveTo>
                <a:lnTo>
                  <a:pt x="1034653" y="228600"/>
                </a:lnTo>
                <a:moveTo>
                  <a:pt x="28575" y="228600"/>
                </a:moveTo>
                <a:cubicBezTo>
                  <a:pt x="12793" y="228600"/>
                  <a:pt x="0" y="215806"/>
                  <a:pt x="0" y="200025"/>
                </a:cubicBezTo>
              </a:path>
            </a:pathLst>
          </a:custGeom>
          <a:noFill/>
          <a:ln w="14287">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824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E86A81B2-94A8-5596-4E25-5248BD1FB415}"/>
              </a:ext>
            </a:extLst>
          </p:cNvPr>
          <p:cNvSpPr/>
          <p:nvPr/>
        </p:nvSpPr>
        <p:spPr>
          <a:xfrm>
            <a:off x="4945471" y="3638205"/>
            <a:ext cx="1656769" cy="1378248"/>
          </a:xfrm>
          <a:custGeom>
            <a:avLst/>
            <a:gdLst/>
            <a:ahLst/>
            <a:cxnLst/>
            <a:rect l="0" t="0" r="0" b="0"/>
            <a:pathLst>
              <a:path w="1656769" h="1378248">
                <a:moveTo>
                  <a:pt x="933945" y="765240"/>
                </a:moveTo>
                <a:cubicBezTo>
                  <a:pt x="917000" y="741960"/>
                  <a:pt x="884390" y="736824"/>
                  <a:pt x="861110" y="753770"/>
                </a:cubicBezTo>
                <a:lnTo>
                  <a:pt x="46156" y="1346958"/>
                </a:lnTo>
                <a:lnTo>
                  <a:pt x="235355" y="1376754"/>
                </a:lnTo>
                <a:cubicBezTo>
                  <a:pt x="244836" y="1378248"/>
                  <a:pt x="253733" y="1371772"/>
                  <a:pt x="255226" y="1362291"/>
                </a:cubicBezTo>
                <a:lnTo>
                  <a:pt x="269728" y="1270206"/>
                </a:lnTo>
                <a:lnTo>
                  <a:pt x="325396" y="1278973"/>
                </a:lnTo>
                <a:cubicBezTo>
                  <a:pt x="334877" y="1280466"/>
                  <a:pt x="343773" y="1273990"/>
                  <a:pt x="345267" y="1264509"/>
                </a:cubicBezTo>
                <a:lnTo>
                  <a:pt x="354034" y="1208842"/>
                </a:lnTo>
                <a:lnTo>
                  <a:pt x="396186" y="1178159"/>
                </a:lnTo>
                <a:lnTo>
                  <a:pt x="486189" y="1192333"/>
                </a:lnTo>
                <a:cubicBezTo>
                  <a:pt x="490742" y="1193050"/>
                  <a:pt x="495393" y="1191929"/>
                  <a:pt x="499119" y="1189217"/>
                </a:cubicBezTo>
                <a:lnTo>
                  <a:pt x="543683" y="1156780"/>
                </a:lnTo>
                <a:cubicBezTo>
                  <a:pt x="547409" y="1154068"/>
                  <a:pt x="549906" y="1149986"/>
                  <a:pt x="550623" y="1145433"/>
                </a:cubicBezTo>
                <a:lnTo>
                  <a:pt x="564797" y="1055431"/>
                </a:lnTo>
                <a:lnTo>
                  <a:pt x="630522" y="1065782"/>
                </a:lnTo>
                <a:cubicBezTo>
                  <a:pt x="635074" y="1066499"/>
                  <a:pt x="639726" y="1065378"/>
                  <a:pt x="643452" y="1062665"/>
                </a:cubicBezTo>
                <a:lnTo>
                  <a:pt x="673965" y="1040455"/>
                </a:lnTo>
                <a:cubicBezTo>
                  <a:pt x="677692" y="1037743"/>
                  <a:pt x="680188" y="1033661"/>
                  <a:pt x="680905" y="1029108"/>
                </a:cubicBezTo>
                <a:lnTo>
                  <a:pt x="685520" y="999802"/>
                </a:lnTo>
                <a:lnTo>
                  <a:pt x="714827" y="1004417"/>
                </a:lnTo>
                <a:cubicBezTo>
                  <a:pt x="719380" y="1005134"/>
                  <a:pt x="724032" y="1004013"/>
                  <a:pt x="727758" y="1001301"/>
                </a:cubicBezTo>
                <a:lnTo>
                  <a:pt x="758271" y="979091"/>
                </a:lnTo>
                <a:cubicBezTo>
                  <a:pt x="761997" y="976378"/>
                  <a:pt x="764493" y="972297"/>
                  <a:pt x="765210" y="967744"/>
                </a:cubicBezTo>
                <a:lnTo>
                  <a:pt x="775561" y="902020"/>
                </a:lnTo>
                <a:lnTo>
                  <a:pt x="831228" y="910787"/>
                </a:lnTo>
                <a:cubicBezTo>
                  <a:pt x="840710" y="912280"/>
                  <a:pt x="849607" y="905804"/>
                  <a:pt x="851100" y="896323"/>
                </a:cubicBezTo>
                <a:lnTo>
                  <a:pt x="859866" y="840656"/>
                </a:lnTo>
                <a:lnTo>
                  <a:pt x="925591" y="851006"/>
                </a:lnTo>
                <a:cubicBezTo>
                  <a:pt x="930143" y="851723"/>
                  <a:pt x="934795" y="850602"/>
                  <a:pt x="938522" y="847890"/>
                </a:cubicBezTo>
                <a:lnTo>
                  <a:pt x="974854" y="821444"/>
                </a:lnTo>
                <a:close/>
                <a:moveTo>
                  <a:pt x="810587" y="640078"/>
                </a:moveTo>
                <a:cubicBezTo>
                  <a:pt x="793642" y="616798"/>
                  <a:pt x="761032" y="611663"/>
                  <a:pt x="737752" y="628608"/>
                </a:cubicBezTo>
                <a:lnTo>
                  <a:pt x="28181" y="1145091"/>
                </a:lnTo>
                <a:lnTo>
                  <a:pt x="5240" y="1290762"/>
                </a:lnTo>
                <a:lnTo>
                  <a:pt x="799117" y="712913"/>
                </a:lnTo>
                <a:cubicBezTo>
                  <a:pt x="822396" y="695968"/>
                  <a:pt x="827533" y="663359"/>
                  <a:pt x="810587" y="640078"/>
                </a:cubicBezTo>
                <a:close/>
                <a:moveTo>
                  <a:pt x="1083981" y="794234"/>
                </a:moveTo>
                <a:lnTo>
                  <a:pt x="844167" y="464766"/>
                </a:lnTo>
                <a:cubicBezTo>
                  <a:pt x="826875" y="441851"/>
                  <a:pt x="794557" y="436786"/>
                  <a:pt x="771527" y="453549"/>
                </a:cubicBezTo>
                <a:cubicBezTo>
                  <a:pt x="748413" y="470374"/>
                  <a:pt x="743347" y="502862"/>
                  <a:pt x="760059" y="526382"/>
                </a:cubicBezTo>
                <a:lnTo>
                  <a:pt x="60921" y="1035271"/>
                </a:lnTo>
                <a:cubicBezTo>
                  <a:pt x="49741" y="1043409"/>
                  <a:pt x="42252" y="1055654"/>
                  <a:pt x="40101" y="1069313"/>
                </a:cubicBezTo>
                <a:lnTo>
                  <a:pt x="2986" y="1304986"/>
                </a:lnTo>
                <a:cubicBezTo>
                  <a:pt x="0" y="1323948"/>
                  <a:pt x="12951" y="1341740"/>
                  <a:pt x="31913" y="1344727"/>
                </a:cubicBezTo>
                <a:lnTo>
                  <a:pt x="46156" y="1346958"/>
                </a:lnTo>
                <a:lnTo>
                  <a:pt x="861110" y="753770"/>
                </a:lnTo>
                <a:cubicBezTo>
                  <a:pt x="884390" y="736824"/>
                  <a:pt x="917000" y="741960"/>
                  <a:pt x="933945" y="765240"/>
                </a:cubicBezTo>
                <a:lnTo>
                  <a:pt x="974854" y="821444"/>
                </a:lnTo>
                <a:lnTo>
                  <a:pt x="1010263" y="870130"/>
                </a:lnTo>
                <a:cubicBezTo>
                  <a:pt x="1027410" y="893687"/>
                  <a:pt x="1060182" y="899047"/>
                  <a:pt x="1083462" y="882102"/>
                </a:cubicBezTo>
                <a:cubicBezTo>
                  <a:pt x="1116188" y="858281"/>
                  <a:pt x="1103550" y="821118"/>
                  <a:pt x="1083981" y="794234"/>
                </a:cubicBezTo>
                <a:close/>
                <a:moveTo>
                  <a:pt x="799117" y="712913"/>
                </a:moveTo>
                <a:lnTo>
                  <a:pt x="5240" y="1290762"/>
                </a:lnTo>
                <a:lnTo>
                  <a:pt x="28181" y="1145091"/>
                </a:lnTo>
                <a:lnTo>
                  <a:pt x="737752" y="628608"/>
                </a:lnTo>
                <a:cubicBezTo>
                  <a:pt x="761032" y="611663"/>
                  <a:pt x="793642" y="616798"/>
                  <a:pt x="810587" y="640078"/>
                </a:cubicBezTo>
                <a:cubicBezTo>
                  <a:pt x="827533" y="663359"/>
                  <a:pt x="822396" y="695968"/>
                  <a:pt x="799117" y="712913"/>
                </a:cubicBezTo>
                <a:close/>
                <a:moveTo>
                  <a:pt x="1214272" y="13067"/>
                </a:moveTo>
                <a:cubicBezTo>
                  <a:pt x="1229378" y="2071"/>
                  <a:pt x="1249215" y="0"/>
                  <a:pt x="1266267" y="7638"/>
                </a:cubicBezTo>
                <a:lnTo>
                  <a:pt x="1586185" y="150943"/>
                </a:lnTo>
                <a:cubicBezTo>
                  <a:pt x="1603077" y="158510"/>
                  <a:pt x="1614691" y="174467"/>
                  <a:pt x="1616700" y="192867"/>
                </a:cubicBezTo>
                <a:lnTo>
                  <a:pt x="1654741" y="541344"/>
                </a:lnTo>
                <a:cubicBezTo>
                  <a:pt x="1656769" y="559919"/>
                  <a:pt x="1648701" y="578158"/>
                  <a:pt x="1633594" y="589155"/>
                </a:cubicBezTo>
                <a:lnTo>
                  <a:pt x="1352248" y="793941"/>
                </a:lnTo>
                <a:cubicBezTo>
                  <a:pt x="1337142" y="804937"/>
                  <a:pt x="1317305" y="807008"/>
                  <a:pt x="1300252" y="799369"/>
                </a:cubicBezTo>
                <a:lnTo>
                  <a:pt x="1174364" y="742978"/>
                </a:lnTo>
                <a:cubicBezTo>
                  <a:pt x="1173503" y="742593"/>
                  <a:pt x="1173381" y="741421"/>
                  <a:pt x="1174144" y="740866"/>
                </a:cubicBezTo>
                <a:cubicBezTo>
                  <a:pt x="1197425" y="723920"/>
                  <a:pt x="1202560" y="691311"/>
                  <a:pt x="1185615" y="668031"/>
                </a:cubicBezTo>
                <a:lnTo>
                  <a:pt x="1001521" y="415114"/>
                </a:lnTo>
                <a:cubicBezTo>
                  <a:pt x="984576" y="391834"/>
                  <a:pt x="951967" y="386698"/>
                  <a:pt x="928686" y="403644"/>
                </a:cubicBezTo>
                <a:cubicBezTo>
                  <a:pt x="927926" y="404197"/>
                  <a:pt x="926850" y="403722"/>
                  <a:pt x="926748" y="402786"/>
                </a:cubicBezTo>
                <a:lnTo>
                  <a:pt x="911779" y="265665"/>
                </a:lnTo>
                <a:cubicBezTo>
                  <a:pt x="909751" y="247089"/>
                  <a:pt x="917818" y="228850"/>
                  <a:pt x="932926" y="217853"/>
                </a:cubicBezTo>
                <a:close/>
                <a:moveTo>
                  <a:pt x="1525467" y="258999"/>
                </a:moveTo>
                <a:cubicBezTo>
                  <a:pt x="1523388" y="240790"/>
                  <a:pt x="1511903" y="225010"/>
                  <a:pt x="1495214" y="217435"/>
                </a:cubicBezTo>
                <a:lnTo>
                  <a:pt x="1416285" y="181613"/>
                </a:lnTo>
                <a:cubicBezTo>
                  <a:pt x="1397379" y="173033"/>
                  <a:pt x="1375321" y="175281"/>
                  <a:pt x="1358535" y="187498"/>
                </a:cubicBezTo>
                <a:cubicBezTo>
                  <a:pt x="1332794" y="206235"/>
                  <a:pt x="1327117" y="242291"/>
                  <a:pt x="1345852" y="268032"/>
                </a:cubicBezTo>
                <a:lnTo>
                  <a:pt x="1431414" y="385580"/>
                </a:lnTo>
                <a:cubicBezTo>
                  <a:pt x="1450150" y="411321"/>
                  <a:pt x="1486206" y="416999"/>
                  <a:pt x="1511946" y="398262"/>
                </a:cubicBezTo>
                <a:cubicBezTo>
                  <a:pt x="1528732" y="386045"/>
                  <a:pt x="1537651" y="365745"/>
                  <a:pt x="1535297" y="345118"/>
                </a:cubicBezTo>
                <a:close/>
              </a:path>
            </a:pathLst>
          </a:custGeom>
          <a:noFill/>
          <a:ln w="13033">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345CF291-B309-852C-EFCF-76B78BF3131D}"/>
              </a:ext>
            </a:extLst>
          </p:cNvPr>
          <p:cNvSpPr/>
          <p:nvPr/>
        </p:nvSpPr>
        <p:spPr>
          <a:xfrm>
            <a:off x="4554275" y="2825410"/>
            <a:ext cx="1059312" cy="1957509"/>
          </a:xfrm>
          <a:custGeom>
            <a:avLst/>
            <a:gdLst/>
            <a:ahLst/>
            <a:cxnLst/>
            <a:rect l="0" t="0" r="0" b="0"/>
            <a:pathLst>
              <a:path w="1059312" h="1957509">
                <a:moveTo>
                  <a:pt x="552862" y="950365"/>
                </a:moveTo>
                <a:lnTo>
                  <a:pt x="618965" y="971882"/>
                </a:lnTo>
                <a:lnTo>
                  <a:pt x="605055" y="1014614"/>
                </a:lnTo>
                <a:cubicBezTo>
                  <a:pt x="603629" y="1018997"/>
                  <a:pt x="600519" y="1022633"/>
                  <a:pt x="596411" y="1024723"/>
                </a:cubicBezTo>
                <a:lnTo>
                  <a:pt x="537113" y="1054898"/>
                </a:lnTo>
                <a:lnTo>
                  <a:pt x="562671" y="1105122"/>
                </a:lnTo>
                <a:cubicBezTo>
                  <a:pt x="567024" y="1113677"/>
                  <a:pt x="563618" y="1124140"/>
                  <a:pt x="555064" y="1128494"/>
                </a:cubicBezTo>
                <a:lnTo>
                  <a:pt x="504839" y="1154051"/>
                </a:lnTo>
                <a:lnTo>
                  <a:pt x="535013" y="1213349"/>
                </a:lnTo>
                <a:cubicBezTo>
                  <a:pt x="537104" y="1217457"/>
                  <a:pt x="537476" y="1222227"/>
                  <a:pt x="536050" y="1226610"/>
                </a:cubicBezTo>
                <a:lnTo>
                  <a:pt x="524368" y="1262497"/>
                </a:lnTo>
                <a:cubicBezTo>
                  <a:pt x="522942" y="1266880"/>
                  <a:pt x="519832" y="1270516"/>
                  <a:pt x="515725" y="1272606"/>
                </a:cubicBezTo>
                <a:lnTo>
                  <a:pt x="456426" y="1302781"/>
                </a:lnTo>
                <a:lnTo>
                  <a:pt x="481984" y="1353006"/>
                </a:lnTo>
                <a:cubicBezTo>
                  <a:pt x="486337" y="1361560"/>
                  <a:pt x="482931" y="1372023"/>
                  <a:pt x="474377" y="1376377"/>
                </a:cubicBezTo>
                <a:lnTo>
                  <a:pt x="424152" y="1401934"/>
                </a:lnTo>
                <a:lnTo>
                  <a:pt x="465473" y="1483137"/>
                </a:lnTo>
                <a:cubicBezTo>
                  <a:pt x="467563" y="1487245"/>
                  <a:pt x="467935" y="1492015"/>
                  <a:pt x="466510" y="1496397"/>
                </a:cubicBezTo>
                <a:lnTo>
                  <a:pt x="449449" y="1548810"/>
                </a:lnTo>
                <a:cubicBezTo>
                  <a:pt x="448023" y="1553193"/>
                  <a:pt x="444913" y="1556829"/>
                  <a:pt x="440805" y="1558919"/>
                </a:cubicBezTo>
                <a:lnTo>
                  <a:pt x="359602" y="1600240"/>
                </a:lnTo>
                <a:lnTo>
                  <a:pt x="389777" y="1659539"/>
                </a:lnTo>
                <a:cubicBezTo>
                  <a:pt x="391867" y="1663646"/>
                  <a:pt x="392240" y="1668417"/>
                  <a:pt x="390814" y="1672799"/>
                </a:cubicBezTo>
                <a:lnTo>
                  <a:pt x="379133" y="1708685"/>
                </a:lnTo>
                <a:cubicBezTo>
                  <a:pt x="377706" y="1713068"/>
                  <a:pt x="374597" y="1716705"/>
                  <a:pt x="370488" y="1718796"/>
                </a:cubicBezTo>
                <a:lnTo>
                  <a:pt x="311190" y="1748970"/>
                </a:lnTo>
                <a:lnTo>
                  <a:pt x="353467" y="1832052"/>
                </a:lnTo>
                <a:cubicBezTo>
                  <a:pt x="357821" y="1840606"/>
                  <a:pt x="354414" y="1851069"/>
                  <a:pt x="345861" y="1855423"/>
                </a:cubicBezTo>
                <a:lnTo>
                  <a:pt x="175159" y="1942285"/>
                </a:lnTo>
                <a:lnTo>
                  <a:pt x="175164" y="1942273"/>
                </a:lnTo>
                <a:lnTo>
                  <a:pt x="487149" y="983805"/>
                </a:lnTo>
                <a:cubicBezTo>
                  <a:pt x="496061" y="956425"/>
                  <a:pt x="525482" y="941454"/>
                  <a:pt x="552862" y="950365"/>
                </a:cubicBezTo>
                <a:close/>
                <a:moveTo>
                  <a:pt x="379539" y="921368"/>
                </a:moveTo>
                <a:cubicBezTo>
                  <a:pt x="406920" y="930281"/>
                  <a:pt x="421891" y="959701"/>
                  <a:pt x="412979" y="987082"/>
                </a:cubicBezTo>
                <a:lnTo>
                  <a:pt x="109062" y="1920763"/>
                </a:lnTo>
                <a:lnTo>
                  <a:pt x="42180" y="1789346"/>
                </a:lnTo>
                <a:lnTo>
                  <a:pt x="42183" y="1789336"/>
                </a:lnTo>
                <a:lnTo>
                  <a:pt x="313826" y="954808"/>
                </a:lnTo>
                <a:cubicBezTo>
                  <a:pt x="322738" y="927427"/>
                  <a:pt x="352160" y="912456"/>
                  <a:pt x="379539" y="921368"/>
                </a:cubicBezTo>
                <a:close/>
                <a:moveTo>
                  <a:pt x="487149" y="983805"/>
                </a:moveTo>
                <a:cubicBezTo>
                  <a:pt x="496061" y="956425"/>
                  <a:pt x="525482" y="941454"/>
                  <a:pt x="552862" y="950365"/>
                </a:cubicBezTo>
                <a:lnTo>
                  <a:pt x="618965" y="971882"/>
                </a:lnTo>
                <a:lnTo>
                  <a:pt x="676216" y="990507"/>
                </a:lnTo>
                <a:cubicBezTo>
                  <a:pt x="703922" y="999525"/>
                  <a:pt x="733607" y="984640"/>
                  <a:pt x="742519" y="957260"/>
                </a:cubicBezTo>
                <a:cubicBezTo>
                  <a:pt x="751431" y="929879"/>
                  <a:pt x="736196" y="900372"/>
                  <a:pt x="708491" y="891354"/>
                </a:cubicBezTo>
                <a:lnTo>
                  <a:pt x="298499" y="758312"/>
                </a:lnTo>
                <a:cubicBezTo>
                  <a:pt x="272727" y="753249"/>
                  <a:pt x="246731" y="767882"/>
                  <a:pt x="238492" y="793197"/>
                </a:cubicBezTo>
                <a:cubicBezTo>
                  <a:pt x="229642" y="820383"/>
                  <a:pt x="244599" y="849665"/>
                  <a:pt x="271931" y="858907"/>
                </a:cubicBezTo>
                <a:lnTo>
                  <a:pt x="4279" y="1681176"/>
                </a:lnTo>
                <a:cubicBezTo>
                  <a:pt x="0" y="1694325"/>
                  <a:pt x="1118" y="1708635"/>
                  <a:pt x="7389" y="1720959"/>
                </a:cubicBezTo>
                <a:lnTo>
                  <a:pt x="42183" y="1789336"/>
                </a:lnTo>
                <a:lnTo>
                  <a:pt x="313826" y="954808"/>
                </a:lnTo>
                <a:cubicBezTo>
                  <a:pt x="322738" y="927427"/>
                  <a:pt x="352160" y="912456"/>
                  <a:pt x="379539" y="921368"/>
                </a:cubicBezTo>
                <a:cubicBezTo>
                  <a:pt x="406920" y="930281"/>
                  <a:pt x="421891" y="959701"/>
                  <a:pt x="412979" y="987082"/>
                </a:cubicBezTo>
                <a:lnTo>
                  <a:pt x="109062" y="1920763"/>
                </a:lnTo>
                <a:lnTo>
                  <a:pt x="115589" y="1933589"/>
                </a:lnTo>
                <a:cubicBezTo>
                  <a:pt x="124295" y="1950698"/>
                  <a:pt x="145221" y="1957509"/>
                  <a:pt x="162330" y="1948803"/>
                </a:cubicBezTo>
                <a:lnTo>
                  <a:pt x="175164" y="1942273"/>
                </a:lnTo>
                <a:close/>
                <a:moveTo>
                  <a:pt x="352618" y="611034"/>
                </a:moveTo>
                <a:cubicBezTo>
                  <a:pt x="344834" y="634946"/>
                  <a:pt x="314066" y="640204"/>
                  <a:pt x="301492" y="618425"/>
                </a:cubicBezTo>
                <a:cubicBezTo>
                  <a:pt x="249317" y="528049"/>
                  <a:pt x="234240" y="416740"/>
                  <a:pt x="269083" y="309696"/>
                </a:cubicBezTo>
                <a:cubicBezTo>
                  <a:pt x="334255" y="109476"/>
                  <a:pt x="549397" y="0"/>
                  <a:pt x="749616" y="65171"/>
                </a:cubicBezTo>
                <a:cubicBezTo>
                  <a:pt x="949835" y="130343"/>
                  <a:pt x="1059312" y="345485"/>
                  <a:pt x="994140" y="545705"/>
                </a:cubicBezTo>
                <a:cubicBezTo>
                  <a:pt x="959297" y="652748"/>
                  <a:pt x="881587" y="733855"/>
                  <a:pt x="786210" y="776202"/>
                </a:cubicBezTo>
                <a:cubicBezTo>
                  <a:pt x="763226" y="786407"/>
                  <a:pt x="741447" y="764045"/>
                  <a:pt x="749231" y="740132"/>
                </a:cubicBezTo>
                <a:cubicBezTo>
                  <a:pt x="758143" y="712752"/>
                  <a:pt x="743172" y="683331"/>
                  <a:pt x="715791" y="674418"/>
                </a:cubicBezTo>
                <a:lnTo>
                  <a:pt x="418332" y="577594"/>
                </a:lnTo>
                <a:cubicBezTo>
                  <a:pt x="390952" y="568682"/>
                  <a:pt x="361531" y="583653"/>
                  <a:pt x="352618" y="611034"/>
                </a:cubicBezTo>
                <a:close/>
                <a:moveTo>
                  <a:pt x="669263" y="312032"/>
                </a:moveTo>
                <a:cubicBezTo>
                  <a:pt x="714897" y="326885"/>
                  <a:pt x="763932" y="301934"/>
                  <a:pt x="778787" y="256299"/>
                </a:cubicBezTo>
                <a:cubicBezTo>
                  <a:pt x="793640" y="210665"/>
                  <a:pt x="768689" y="161630"/>
                  <a:pt x="723054" y="146776"/>
                </a:cubicBezTo>
                <a:cubicBezTo>
                  <a:pt x="677420" y="131922"/>
                  <a:pt x="628385" y="156874"/>
                  <a:pt x="613531" y="202508"/>
                </a:cubicBezTo>
                <a:cubicBezTo>
                  <a:pt x="598677" y="248142"/>
                  <a:pt x="623629" y="297177"/>
                  <a:pt x="669263" y="312032"/>
                </a:cubicBezTo>
                <a:close/>
              </a:path>
            </a:pathLst>
          </a:custGeom>
          <a:noFill/>
          <a:ln w="13033">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2084247F-BEE2-7BB2-B4F0-16B97B1B6FCC}"/>
              </a:ext>
            </a:extLst>
          </p:cNvPr>
          <p:cNvSpPr/>
          <p:nvPr/>
        </p:nvSpPr>
        <p:spPr>
          <a:xfrm>
            <a:off x="3475619" y="2885711"/>
            <a:ext cx="992634" cy="1899960"/>
          </a:xfrm>
          <a:custGeom>
            <a:avLst/>
            <a:gdLst/>
            <a:ahLst/>
            <a:cxnLst/>
            <a:rect l="0" t="0" r="0" b="0"/>
            <a:pathLst>
              <a:path w="992634" h="1899960">
                <a:moveTo>
                  <a:pt x="638711" y="839258"/>
                </a:moveTo>
                <a:cubicBezTo>
                  <a:pt x="611340" y="848197"/>
                  <a:pt x="596398" y="877634"/>
                  <a:pt x="605338" y="905005"/>
                </a:cubicBezTo>
                <a:lnTo>
                  <a:pt x="918284" y="1863173"/>
                </a:lnTo>
                <a:lnTo>
                  <a:pt x="988289" y="1725260"/>
                </a:lnTo>
                <a:cubicBezTo>
                  <a:pt x="992634" y="1716701"/>
                  <a:pt x="989217" y="1706241"/>
                  <a:pt x="980659" y="1701896"/>
                </a:cubicBezTo>
                <a:lnTo>
                  <a:pt x="930408" y="1676389"/>
                </a:lnTo>
                <a:lnTo>
                  <a:pt x="960523" y="1617061"/>
                </a:lnTo>
                <a:cubicBezTo>
                  <a:pt x="962610" y="1612951"/>
                  <a:pt x="962977" y="1608180"/>
                  <a:pt x="961546" y="1603799"/>
                </a:cubicBezTo>
                <a:lnTo>
                  <a:pt x="949829" y="1567925"/>
                </a:lnTo>
                <a:cubicBezTo>
                  <a:pt x="948399" y="1563543"/>
                  <a:pt x="945286" y="1559909"/>
                  <a:pt x="941176" y="1557823"/>
                </a:cubicBezTo>
                <a:lnTo>
                  <a:pt x="881847" y="1527708"/>
                </a:lnTo>
                <a:lnTo>
                  <a:pt x="865661" y="1478148"/>
                </a:lnTo>
                <a:lnTo>
                  <a:pt x="895776" y="1418819"/>
                </a:lnTo>
                <a:cubicBezTo>
                  <a:pt x="897862" y="1414709"/>
                  <a:pt x="898230" y="1409939"/>
                  <a:pt x="896799" y="1405557"/>
                </a:cubicBezTo>
                <a:lnTo>
                  <a:pt x="885082" y="1369683"/>
                </a:lnTo>
                <a:cubicBezTo>
                  <a:pt x="883651" y="1365301"/>
                  <a:pt x="880538" y="1361668"/>
                  <a:pt x="876429" y="1359581"/>
                </a:cubicBezTo>
                <a:lnTo>
                  <a:pt x="817100" y="1329466"/>
                </a:lnTo>
                <a:lnTo>
                  <a:pt x="859294" y="1246342"/>
                </a:lnTo>
                <a:cubicBezTo>
                  <a:pt x="863638" y="1237784"/>
                  <a:pt x="860222" y="1227323"/>
                  <a:pt x="851664" y="1222979"/>
                </a:cubicBezTo>
                <a:lnTo>
                  <a:pt x="768539" y="1180785"/>
                </a:lnTo>
                <a:lnTo>
                  <a:pt x="794046" y="1130535"/>
                </a:lnTo>
                <a:cubicBezTo>
                  <a:pt x="798391" y="1121976"/>
                  <a:pt x="794975" y="1111516"/>
                  <a:pt x="786416" y="1107171"/>
                </a:cubicBezTo>
                <a:lnTo>
                  <a:pt x="769039" y="1098351"/>
                </a:lnTo>
                <a:lnTo>
                  <a:pt x="793592" y="1049981"/>
                </a:lnTo>
                <a:cubicBezTo>
                  <a:pt x="795678" y="1045871"/>
                  <a:pt x="796047" y="1041100"/>
                  <a:pt x="794615" y="1036719"/>
                </a:cubicBezTo>
                <a:lnTo>
                  <a:pt x="777503" y="984324"/>
                </a:lnTo>
                <a:cubicBezTo>
                  <a:pt x="776072" y="979943"/>
                  <a:pt x="772959" y="976309"/>
                  <a:pt x="768849" y="974222"/>
                </a:cubicBezTo>
                <a:lnTo>
                  <a:pt x="687605" y="932983"/>
                </a:lnTo>
                <a:lnTo>
                  <a:pt x="717720" y="873655"/>
                </a:lnTo>
                <a:cubicBezTo>
                  <a:pt x="719806" y="869545"/>
                  <a:pt x="720174" y="864774"/>
                  <a:pt x="718743" y="860393"/>
                </a:cubicBezTo>
                <a:lnTo>
                  <a:pt x="704791" y="817675"/>
                </a:lnTo>
                <a:close/>
                <a:moveTo>
                  <a:pt x="481607" y="917998"/>
                </a:moveTo>
                <a:cubicBezTo>
                  <a:pt x="508978" y="909058"/>
                  <a:pt x="538415" y="924000"/>
                  <a:pt x="547355" y="951372"/>
                </a:cubicBezTo>
                <a:lnTo>
                  <a:pt x="852207" y="1884759"/>
                </a:lnTo>
                <a:lnTo>
                  <a:pt x="720712" y="1818012"/>
                </a:lnTo>
                <a:lnTo>
                  <a:pt x="448234" y="983745"/>
                </a:lnTo>
                <a:cubicBezTo>
                  <a:pt x="439294" y="956373"/>
                  <a:pt x="454236" y="926938"/>
                  <a:pt x="481607" y="917998"/>
                </a:cubicBezTo>
                <a:close/>
                <a:moveTo>
                  <a:pt x="729649" y="699863"/>
                </a:moveTo>
                <a:lnTo>
                  <a:pt x="729411" y="699940"/>
                </a:lnTo>
                <a:lnTo>
                  <a:pt x="318062" y="834290"/>
                </a:lnTo>
                <a:lnTo>
                  <a:pt x="318808" y="834648"/>
                </a:lnTo>
                <a:cubicBezTo>
                  <a:pt x="295808" y="846097"/>
                  <a:pt x="283999" y="872742"/>
                  <a:pt x="292121" y="897610"/>
                </a:cubicBezTo>
                <a:cubicBezTo>
                  <a:pt x="300998" y="924787"/>
                  <a:pt x="330340" y="939625"/>
                  <a:pt x="357867" y="930980"/>
                </a:cubicBezTo>
                <a:lnTo>
                  <a:pt x="626340" y="1752982"/>
                </a:lnTo>
                <a:cubicBezTo>
                  <a:pt x="630633" y="1766126"/>
                  <a:pt x="639971" y="1777026"/>
                  <a:pt x="652302" y="1783285"/>
                </a:cubicBezTo>
                <a:lnTo>
                  <a:pt x="720712" y="1818012"/>
                </a:lnTo>
                <a:lnTo>
                  <a:pt x="448234" y="983745"/>
                </a:lnTo>
                <a:cubicBezTo>
                  <a:pt x="439294" y="956373"/>
                  <a:pt x="454236" y="926938"/>
                  <a:pt x="481607" y="917998"/>
                </a:cubicBezTo>
                <a:cubicBezTo>
                  <a:pt x="508978" y="909058"/>
                  <a:pt x="538415" y="924000"/>
                  <a:pt x="547355" y="951372"/>
                </a:cubicBezTo>
                <a:lnTo>
                  <a:pt x="852207" y="1884759"/>
                </a:lnTo>
                <a:lnTo>
                  <a:pt x="865040" y="1891271"/>
                </a:lnTo>
                <a:cubicBezTo>
                  <a:pt x="882157" y="1899960"/>
                  <a:pt x="903077" y="1893127"/>
                  <a:pt x="911766" y="1876011"/>
                </a:cubicBezTo>
                <a:lnTo>
                  <a:pt x="918284" y="1863173"/>
                </a:lnTo>
                <a:lnTo>
                  <a:pt x="605338" y="905005"/>
                </a:lnTo>
                <a:cubicBezTo>
                  <a:pt x="596398" y="877634"/>
                  <a:pt x="611340" y="848197"/>
                  <a:pt x="638711" y="839258"/>
                </a:cubicBezTo>
                <a:lnTo>
                  <a:pt x="704791" y="817675"/>
                </a:lnTo>
                <a:lnTo>
                  <a:pt x="762022" y="798984"/>
                </a:lnTo>
                <a:cubicBezTo>
                  <a:pt x="789719" y="789937"/>
                  <a:pt x="804925" y="760415"/>
                  <a:pt x="795985" y="733044"/>
                </a:cubicBezTo>
                <a:cubicBezTo>
                  <a:pt x="787045" y="705673"/>
                  <a:pt x="757345" y="690816"/>
                  <a:pt x="729649" y="699863"/>
                </a:cubicBezTo>
                <a:close/>
                <a:moveTo>
                  <a:pt x="29798" y="654203"/>
                </a:moveTo>
                <a:cubicBezTo>
                  <a:pt x="0" y="562965"/>
                  <a:pt x="49806" y="464845"/>
                  <a:pt x="141044" y="435046"/>
                </a:cubicBezTo>
                <a:cubicBezTo>
                  <a:pt x="154729" y="430576"/>
                  <a:pt x="162201" y="415858"/>
                  <a:pt x="157731" y="402172"/>
                </a:cubicBezTo>
                <a:lnTo>
                  <a:pt x="136148" y="336092"/>
                </a:lnTo>
                <a:cubicBezTo>
                  <a:pt x="95919" y="212920"/>
                  <a:pt x="163157" y="80458"/>
                  <a:pt x="286329" y="40228"/>
                </a:cubicBezTo>
                <a:cubicBezTo>
                  <a:pt x="409501" y="0"/>
                  <a:pt x="541963" y="67238"/>
                  <a:pt x="582192" y="190409"/>
                </a:cubicBezTo>
                <a:lnTo>
                  <a:pt x="603775" y="256490"/>
                </a:lnTo>
                <a:cubicBezTo>
                  <a:pt x="608244" y="270176"/>
                  <a:pt x="622963" y="277647"/>
                  <a:pt x="636648" y="273177"/>
                </a:cubicBezTo>
                <a:cubicBezTo>
                  <a:pt x="727886" y="243378"/>
                  <a:pt x="826006" y="293184"/>
                  <a:pt x="855806" y="384422"/>
                </a:cubicBezTo>
                <a:cubicBezTo>
                  <a:pt x="885605" y="475660"/>
                  <a:pt x="835799" y="573780"/>
                  <a:pt x="744561" y="603580"/>
                </a:cubicBezTo>
                <a:lnTo>
                  <a:pt x="248956" y="765448"/>
                </a:lnTo>
                <a:cubicBezTo>
                  <a:pt x="157718" y="795248"/>
                  <a:pt x="59598" y="745442"/>
                  <a:pt x="29798" y="654203"/>
                </a:cubicBezTo>
                <a:close/>
                <a:moveTo>
                  <a:pt x="430983" y="203236"/>
                </a:moveTo>
                <a:cubicBezTo>
                  <a:pt x="416084" y="157617"/>
                  <a:pt x="367024" y="132714"/>
                  <a:pt x="321405" y="147614"/>
                </a:cubicBezTo>
                <a:cubicBezTo>
                  <a:pt x="275786" y="162513"/>
                  <a:pt x="250883" y="211573"/>
                  <a:pt x="265782" y="257192"/>
                </a:cubicBezTo>
                <a:cubicBezTo>
                  <a:pt x="280682" y="302811"/>
                  <a:pt x="329742" y="327714"/>
                  <a:pt x="375361" y="312814"/>
                </a:cubicBezTo>
                <a:cubicBezTo>
                  <a:pt x="420980" y="297915"/>
                  <a:pt x="445883" y="248855"/>
                  <a:pt x="430983" y="203236"/>
                </a:cubicBezTo>
                <a:close/>
              </a:path>
            </a:pathLst>
          </a:custGeom>
          <a:noFill/>
          <a:ln w="13033">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0369B39C-F231-8310-25FC-544B064902C4}"/>
              </a:ext>
            </a:extLst>
          </p:cNvPr>
          <p:cNvSpPr/>
          <p:nvPr/>
        </p:nvSpPr>
        <p:spPr>
          <a:xfrm>
            <a:off x="2495970" y="3702303"/>
            <a:ext cx="1620968" cy="1316023"/>
          </a:xfrm>
          <a:custGeom>
            <a:avLst/>
            <a:gdLst/>
            <a:ahLst/>
            <a:cxnLst/>
            <a:rect l="0" t="0" r="0" b="0"/>
            <a:pathLst>
              <a:path w="1620968" h="1316023">
                <a:moveTo>
                  <a:pt x="786048" y="559377"/>
                </a:moveTo>
                <a:lnTo>
                  <a:pt x="826693" y="502981"/>
                </a:lnTo>
                <a:lnTo>
                  <a:pt x="863150" y="529256"/>
                </a:lnTo>
                <a:cubicBezTo>
                  <a:pt x="866889" y="531952"/>
                  <a:pt x="869405" y="536021"/>
                  <a:pt x="870143" y="540571"/>
                </a:cubicBezTo>
                <a:lnTo>
                  <a:pt x="880802" y="606246"/>
                </a:lnTo>
                <a:lnTo>
                  <a:pt x="946476" y="595587"/>
                </a:lnTo>
                <a:cubicBezTo>
                  <a:pt x="951026" y="594849"/>
                  <a:pt x="955683" y="595948"/>
                  <a:pt x="959422" y="598643"/>
                </a:cubicBezTo>
                <a:lnTo>
                  <a:pt x="990038" y="620709"/>
                </a:lnTo>
                <a:cubicBezTo>
                  <a:pt x="993777" y="623404"/>
                  <a:pt x="996293" y="627473"/>
                  <a:pt x="997031" y="632023"/>
                </a:cubicBezTo>
                <a:lnTo>
                  <a:pt x="1007691" y="697698"/>
                </a:lnTo>
                <a:lnTo>
                  <a:pt x="1063316" y="688670"/>
                </a:lnTo>
                <a:cubicBezTo>
                  <a:pt x="1072791" y="687133"/>
                  <a:pt x="1081717" y="693566"/>
                  <a:pt x="1083254" y="703040"/>
                </a:cubicBezTo>
                <a:lnTo>
                  <a:pt x="1092283" y="758666"/>
                </a:lnTo>
                <a:lnTo>
                  <a:pt x="1184299" y="743732"/>
                </a:lnTo>
                <a:cubicBezTo>
                  <a:pt x="1193773" y="742194"/>
                  <a:pt x="1202700" y="748628"/>
                  <a:pt x="1204237" y="758102"/>
                </a:cubicBezTo>
                <a:lnTo>
                  <a:pt x="1219172" y="850119"/>
                </a:lnTo>
                <a:lnTo>
                  <a:pt x="1274797" y="841090"/>
                </a:lnTo>
                <a:cubicBezTo>
                  <a:pt x="1284272" y="839553"/>
                  <a:pt x="1293198" y="845987"/>
                  <a:pt x="1294736" y="855461"/>
                </a:cubicBezTo>
                <a:lnTo>
                  <a:pt x="1303764" y="911086"/>
                </a:lnTo>
                <a:lnTo>
                  <a:pt x="1369439" y="900428"/>
                </a:lnTo>
                <a:cubicBezTo>
                  <a:pt x="1373989" y="899689"/>
                  <a:pt x="1378645" y="900789"/>
                  <a:pt x="1382384" y="903483"/>
                </a:cubicBezTo>
                <a:lnTo>
                  <a:pt x="1413001" y="925550"/>
                </a:lnTo>
                <a:cubicBezTo>
                  <a:pt x="1416740" y="928245"/>
                  <a:pt x="1419256" y="932315"/>
                  <a:pt x="1419993" y="936865"/>
                </a:cubicBezTo>
                <a:lnTo>
                  <a:pt x="1430653" y="1002539"/>
                </a:lnTo>
                <a:lnTo>
                  <a:pt x="1520588" y="987943"/>
                </a:lnTo>
                <a:cubicBezTo>
                  <a:pt x="1525137" y="987205"/>
                  <a:pt x="1529794" y="988304"/>
                  <a:pt x="1533533" y="990998"/>
                </a:cubicBezTo>
                <a:lnTo>
                  <a:pt x="1578249" y="1023226"/>
                </a:lnTo>
                <a:cubicBezTo>
                  <a:pt x="1581988" y="1025920"/>
                  <a:pt x="1584503" y="1029991"/>
                  <a:pt x="1585241" y="1034540"/>
                </a:cubicBezTo>
                <a:lnTo>
                  <a:pt x="1615587" y="1221515"/>
                </a:lnTo>
                <a:lnTo>
                  <a:pt x="797860" y="632157"/>
                </a:lnTo>
                <a:cubicBezTo>
                  <a:pt x="774500" y="615321"/>
                  <a:pt x="769212" y="582736"/>
                  <a:pt x="786048" y="559377"/>
                </a:cubicBezTo>
                <a:close/>
                <a:moveTo>
                  <a:pt x="705578" y="715599"/>
                </a:moveTo>
                <a:cubicBezTo>
                  <a:pt x="722414" y="692239"/>
                  <a:pt x="754998" y="686951"/>
                  <a:pt x="778358" y="703787"/>
                </a:cubicBezTo>
                <a:lnTo>
                  <a:pt x="1574926" y="1277896"/>
                </a:lnTo>
                <a:lnTo>
                  <a:pt x="1574937" y="1277904"/>
                </a:lnTo>
                <a:lnTo>
                  <a:pt x="1429376" y="1301528"/>
                </a:lnTo>
                <a:lnTo>
                  <a:pt x="1429366" y="1301520"/>
                </a:lnTo>
                <a:lnTo>
                  <a:pt x="717390" y="788379"/>
                </a:lnTo>
                <a:cubicBezTo>
                  <a:pt x="694030" y="771543"/>
                  <a:pt x="688742" y="738958"/>
                  <a:pt x="705578" y="715599"/>
                </a:cubicBezTo>
                <a:close/>
                <a:moveTo>
                  <a:pt x="777303" y="393154"/>
                </a:moveTo>
                <a:lnTo>
                  <a:pt x="528695" y="738100"/>
                </a:lnTo>
                <a:cubicBezTo>
                  <a:pt x="512116" y="761695"/>
                  <a:pt x="517340" y="794140"/>
                  <a:pt x="540525" y="810850"/>
                </a:cubicBezTo>
                <a:cubicBezTo>
                  <a:pt x="563718" y="827566"/>
                  <a:pt x="596166" y="822250"/>
                  <a:pt x="613302" y="799037"/>
                </a:cubicBezTo>
                <a:lnTo>
                  <a:pt x="1314820" y="1304641"/>
                </a:lnTo>
                <a:cubicBezTo>
                  <a:pt x="1326038" y="1312726"/>
                  <a:pt x="1340008" y="1316023"/>
                  <a:pt x="1353657" y="1313808"/>
                </a:cubicBezTo>
                <a:lnTo>
                  <a:pt x="1429366" y="1301520"/>
                </a:lnTo>
                <a:lnTo>
                  <a:pt x="717390" y="788379"/>
                </a:lnTo>
                <a:cubicBezTo>
                  <a:pt x="694030" y="771543"/>
                  <a:pt x="688742" y="738958"/>
                  <a:pt x="705578" y="715599"/>
                </a:cubicBezTo>
                <a:cubicBezTo>
                  <a:pt x="722414" y="692239"/>
                  <a:pt x="754998" y="686951"/>
                  <a:pt x="778358" y="703787"/>
                </a:cubicBezTo>
                <a:lnTo>
                  <a:pt x="1574926" y="1277896"/>
                </a:lnTo>
                <a:lnTo>
                  <a:pt x="1589151" y="1275587"/>
                </a:lnTo>
                <a:cubicBezTo>
                  <a:pt x="1608100" y="1272512"/>
                  <a:pt x="1620968" y="1254658"/>
                  <a:pt x="1617893" y="1235710"/>
                </a:cubicBezTo>
                <a:lnTo>
                  <a:pt x="1615587" y="1221515"/>
                </a:lnTo>
                <a:lnTo>
                  <a:pt x="797860" y="632157"/>
                </a:lnTo>
                <a:cubicBezTo>
                  <a:pt x="774500" y="615321"/>
                  <a:pt x="769212" y="582736"/>
                  <a:pt x="786048" y="559377"/>
                </a:cubicBezTo>
                <a:lnTo>
                  <a:pt x="796218" y="545267"/>
                </a:lnTo>
                <a:lnTo>
                  <a:pt x="796215" y="545252"/>
                </a:lnTo>
                <a:lnTo>
                  <a:pt x="861895" y="454122"/>
                </a:lnTo>
                <a:cubicBezTo>
                  <a:pt x="878932" y="430485"/>
                  <a:pt x="873805" y="397675"/>
                  <a:pt x="850446" y="380839"/>
                </a:cubicBezTo>
                <a:cubicBezTo>
                  <a:pt x="827086" y="364003"/>
                  <a:pt x="794339" y="369517"/>
                  <a:pt x="777303" y="393154"/>
                </a:cubicBezTo>
                <a:close/>
                <a:moveTo>
                  <a:pt x="164834" y="708636"/>
                </a:moveTo>
                <a:cubicBezTo>
                  <a:pt x="126937" y="714787"/>
                  <a:pt x="91230" y="689051"/>
                  <a:pt x="85079" y="651155"/>
                </a:cubicBezTo>
                <a:lnTo>
                  <a:pt x="6150" y="164834"/>
                </a:lnTo>
                <a:cubicBezTo>
                  <a:pt x="0" y="126937"/>
                  <a:pt x="25735" y="91229"/>
                  <a:pt x="63632" y="85079"/>
                </a:cubicBezTo>
                <a:lnTo>
                  <a:pt x="549953" y="6150"/>
                </a:lnTo>
                <a:cubicBezTo>
                  <a:pt x="587849" y="0"/>
                  <a:pt x="623556" y="25735"/>
                  <a:pt x="629707" y="63632"/>
                </a:cubicBezTo>
                <a:lnTo>
                  <a:pt x="672427" y="326854"/>
                </a:lnTo>
                <a:cubicBezTo>
                  <a:pt x="676858" y="354151"/>
                  <a:pt x="670286" y="382059"/>
                  <a:pt x="654116" y="404495"/>
                </a:cubicBezTo>
                <a:cubicBezTo>
                  <a:pt x="607614" y="469016"/>
                  <a:pt x="544571" y="556487"/>
                  <a:pt x="495928" y="623978"/>
                </a:cubicBezTo>
                <a:cubicBezTo>
                  <a:pt x="479758" y="646414"/>
                  <a:pt x="455354" y="661485"/>
                  <a:pt x="428056" y="665916"/>
                </a:cubicBezTo>
                <a:close/>
                <a:moveTo>
                  <a:pt x="301953" y="214572"/>
                </a:moveTo>
                <a:cubicBezTo>
                  <a:pt x="263020" y="186512"/>
                  <a:pt x="208712" y="195327"/>
                  <a:pt x="180653" y="234259"/>
                </a:cubicBezTo>
                <a:cubicBezTo>
                  <a:pt x="152593" y="273191"/>
                  <a:pt x="161406" y="327500"/>
                  <a:pt x="200340" y="355560"/>
                </a:cubicBezTo>
                <a:cubicBezTo>
                  <a:pt x="239272" y="383619"/>
                  <a:pt x="293580" y="374805"/>
                  <a:pt x="321639" y="335873"/>
                </a:cubicBezTo>
                <a:cubicBezTo>
                  <a:pt x="349700" y="296940"/>
                  <a:pt x="340886" y="242632"/>
                  <a:pt x="301953" y="214572"/>
                </a:cubicBezTo>
                <a:close/>
              </a:path>
            </a:pathLst>
          </a:custGeom>
          <a:noFill/>
          <a:ln w="13033">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18C1F940-C6B1-BEDA-67C5-8FA0C10A2E04}"/>
              </a:ext>
            </a:extLst>
          </p:cNvPr>
          <p:cNvSpPr/>
          <p:nvPr/>
        </p:nvSpPr>
        <p:spPr>
          <a:xfrm>
            <a:off x="5762349" y="3539740"/>
            <a:ext cx="927596" cy="996919"/>
          </a:xfrm>
          <a:custGeom>
            <a:avLst/>
            <a:gdLst/>
            <a:ahLst/>
            <a:cxnLst/>
            <a:rect l="0" t="0" r="0" b="0"/>
            <a:pathLst>
              <a:path w="927596" h="996919">
                <a:moveTo>
                  <a:pt x="881262" y="258761"/>
                </a:moveTo>
                <a:cubicBezTo>
                  <a:pt x="877251" y="221939"/>
                  <a:pt x="854010" y="190008"/>
                  <a:pt x="820202" y="174874"/>
                </a:cubicBezTo>
                <a:lnTo>
                  <a:pt x="463625" y="15263"/>
                </a:lnTo>
                <a:cubicBezTo>
                  <a:pt x="429525" y="0"/>
                  <a:pt x="389865" y="4145"/>
                  <a:pt x="359659" y="26131"/>
                </a:cubicBezTo>
                <a:lnTo>
                  <a:pt x="46340" y="254191"/>
                </a:lnTo>
                <a:cubicBezTo>
                  <a:pt x="16134" y="276177"/>
                  <a:pt x="0" y="312643"/>
                  <a:pt x="4044" y="349784"/>
                </a:cubicBezTo>
                <a:lnTo>
                  <a:pt x="27285" y="563219"/>
                </a:lnTo>
                <a:lnTo>
                  <a:pt x="268025" y="893946"/>
                </a:lnTo>
                <a:lnTo>
                  <a:pt x="463970" y="981655"/>
                </a:lnTo>
                <a:cubicBezTo>
                  <a:pt x="498071" y="996919"/>
                  <a:pt x="537731" y="992774"/>
                  <a:pt x="567937" y="970787"/>
                </a:cubicBezTo>
                <a:lnTo>
                  <a:pt x="881256" y="742729"/>
                </a:lnTo>
                <a:cubicBezTo>
                  <a:pt x="911462" y="720742"/>
                  <a:pt x="927596" y="684276"/>
                  <a:pt x="923552" y="647135"/>
                </a:cubicBezTo>
                <a:lnTo>
                  <a:pt x="881262" y="258761"/>
                </a:lnTo>
                <a:close/>
                <a:moveTo>
                  <a:pt x="449385" y="106092"/>
                </a:moveTo>
                <a:lnTo>
                  <a:pt x="769302" y="249397"/>
                </a:lnTo>
                <a:cubicBezTo>
                  <a:pt x="786194" y="256964"/>
                  <a:pt x="797809" y="272920"/>
                  <a:pt x="799817" y="291320"/>
                </a:cubicBezTo>
                <a:lnTo>
                  <a:pt x="837859" y="639798"/>
                </a:lnTo>
                <a:cubicBezTo>
                  <a:pt x="839887" y="658372"/>
                  <a:pt x="831819" y="676612"/>
                  <a:pt x="816713" y="687608"/>
                </a:cubicBezTo>
                <a:lnTo>
                  <a:pt x="535367" y="892395"/>
                </a:lnTo>
                <a:cubicBezTo>
                  <a:pt x="520259" y="903390"/>
                  <a:pt x="500423" y="905462"/>
                  <a:pt x="483371" y="897823"/>
                </a:cubicBezTo>
                <a:lnTo>
                  <a:pt x="357483" y="841433"/>
                </a:lnTo>
                <a:cubicBezTo>
                  <a:pt x="356622" y="841047"/>
                  <a:pt x="356499" y="839874"/>
                  <a:pt x="357262" y="839319"/>
                </a:cubicBezTo>
                <a:cubicBezTo>
                  <a:pt x="380542" y="822374"/>
                  <a:pt x="385677" y="789765"/>
                  <a:pt x="368732" y="766484"/>
                </a:cubicBezTo>
                <a:lnTo>
                  <a:pt x="184640" y="513567"/>
                </a:lnTo>
                <a:cubicBezTo>
                  <a:pt x="167694" y="490287"/>
                  <a:pt x="135084" y="485152"/>
                  <a:pt x="111804" y="502097"/>
                </a:cubicBezTo>
                <a:cubicBezTo>
                  <a:pt x="111043" y="502651"/>
                  <a:pt x="109967" y="502175"/>
                  <a:pt x="109866" y="501240"/>
                </a:cubicBezTo>
                <a:lnTo>
                  <a:pt x="94896" y="364118"/>
                </a:lnTo>
                <a:cubicBezTo>
                  <a:pt x="92868" y="345543"/>
                  <a:pt x="100936" y="327303"/>
                  <a:pt x="116043" y="316307"/>
                </a:cubicBezTo>
                <a:lnTo>
                  <a:pt x="397389" y="111520"/>
                </a:lnTo>
                <a:cubicBezTo>
                  <a:pt x="412496" y="100525"/>
                  <a:pt x="432332" y="98454"/>
                  <a:pt x="449385" y="106092"/>
                </a:cubicBezTo>
                <a:close/>
              </a:path>
            </a:pathLst>
          </a:custGeom>
          <a:noFill/>
          <a:ln w="1303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6AFACD43-D49F-8869-09BB-EE85B3D7F108}"/>
              </a:ext>
            </a:extLst>
          </p:cNvPr>
          <p:cNvSpPr/>
          <p:nvPr/>
        </p:nvSpPr>
        <p:spPr>
          <a:xfrm>
            <a:off x="4683394" y="2726699"/>
            <a:ext cx="1028889" cy="989615"/>
          </a:xfrm>
          <a:custGeom>
            <a:avLst/>
            <a:gdLst/>
            <a:ahLst/>
            <a:cxnLst/>
            <a:rect l="0" t="0" r="0" b="0"/>
            <a:pathLst>
              <a:path w="1028889" h="989615">
                <a:moveTo>
                  <a:pt x="578002" y="989615"/>
                </a:moveTo>
                <a:cubicBezTo>
                  <a:pt x="745639" y="962145"/>
                  <a:pt x="892472" y="844309"/>
                  <a:pt x="948677" y="671637"/>
                </a:cubicBezTo>
                <a:cubicBezTo>
                  <a:pt x="1028889" y="425214"/>
                  <a:pt x="894148" y="160424"/>
                  <a:pt x="647724" y="80212"/>
                </a:cubicBezTo>
                <a:cubicBezTo>
                  <a:pt x="401301" y="0"/>
                  <a:pt x="136511" y="134741"/>
                  <a:pt x="56299" y="381165"/>
                </a:cubicBezTo>
                <a:cubicBezTo>
                  <a:pt x="0" y="554125"/>
                  <a:pt x="49596" y="736134"/>
                  <a:pt x="169376" y="857018"/>
                </a:cubicBezTo>
                <a:close/>
                <a:moveTo>
                  <a:pt x="223496" y="709739"/>
                </a:moveTo>
                <a:cubicBezTo>
                  <a:pt x="215712" y="733653"/>
                  <a:pt x="184944" y="738911"/>
                  <a:pt x="172370" y="717131"/>
                </a:cubicBezTo>
                <a:cubicBezTo>
                  <a:pt x="120195" y="626755"/>
                  <a:pt x="105117" y="515446"/>
                  <a:pt x="139961" y="408402"/>
                </a:cubicBezTo>
                <a:cubicBezTo>
                  <a:pt x="205133" y="208183"/>
                  <a:pt x="420275" y="98706"/>
                  <a:pt x="620493" y="163878"/>
                </a:cubicBezTo>
                <a:cubicBezTo>
                  <a:pt x="820712" y="229050"/>
                  <a:pt x="930189" y="444191"/>
                  <a:pt x="865017" y="644411"/>
                </a:cubicBezTo>
                <a:cubicBezTo>
                  <a:pt x="830174" y="751455"/>
                  <a:pt x="752465" y="832561"/>
                  <a:pt x="657087" y="874909"/>
                </a:cubicBezTo>
                <a:cubicBezTo>
                  <a:pt x="634103" y="885114"/>
                  <a:pt x="612325" y="862751"/>
                  <a:pt x="620109" y="838839"/>
                </a:cubicBezTo>
                <a:cubicBezTo>
                  <a:pt x="629021" y="811458"/>
                  <a:pt x="614050" y="782037"/>
                  <a:pt x="586669" y="773125"/>
                </a:cubicBezTo>
                <a:lnTo>
                  <a:pt x="289210" y="676300"/>
                </a:lnTo>
                <a:cubicBezTo>
                  <a:pt x="261830" y="667388"/>
                  <a:pt x="232408" y="682360"/>
                  <a:pt x="223496" y="709739"/>
                </a:cubicBezTo>
                <a:close/>
              </a:path>
            </a:pathLst>
          </a:custGeom>
          <a:noFill/>
          <a:ln w="1303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E913B040-1715-48E8-0F47-810D9E613AA7}"/>
              </a:ext>
            </a:extLst>
          </p:cNvPr>
          <p:cNvSpPr/>
          <p:nvPr/>
        </p:nvSpPr>
        <p:spPr>
          <a:xfrm>
            <a:off x="3383668" y="2789700"/>
            <a:ext cx="1075062" cy="988758"/>
          </a:xfrm>
          <a:custGeom>
            <a:avLst/>
            <a:gdLst/>
            <a:ahLst/>
            <a:cxnLst/>
            <a:rect l="0" t="0" r="0" b="0"/>
            <a:pathLst>
              <a:path w="1075062" h="988758">
                <a:moveTo>
                  <a:pt x="752807" y="275357"/>
                </a:moveTo>
                <a:lnTo>
                  <a:pt x="745792" y="253879"/>
                </a:lnTo>
                <a:cubicBezTo>
                  <a:pt x="692153" y="89651"/>
                  <a:pt x="515537" y="0"/>
                  <a:pt x="351308" y="53638"/>
                </a:cubicBezTo>
                <a:cubicBezTo>
                  <a:pt x="187080" y="107276"/>
                  <a:pt x="97428" y="283893"/>
                  <a:pt x="151067" y="448122"/>
                </a:cubicBezTo>
                <a:lnTo>
                  <a:pt x="158082" y="469599"/>
                </a:lnTo>
                <a:cubicBezTo>
                  <a:pt x="52472" y="529501"/>
                  <a:pt x="0" y="657307"/>
                  <a:pt x="39155" y="777191"/>
                </a:cubicBezTo>
                <a:cubicBezTo>
                  <a:pt x="83854" y="914049"/>
                  <a:pt x="231034" y="988758"/>
                  <a:pt x="367892" y="944060"/>
                </a:cubicBezTo>
                <a:lnTo>
                  <a:pt x="863496" y="782190"/>
                </a:lnTo>
                <a:cubicBezTo>
                  <a:pt x="1000353" y="737492"/>
                  <a:pt x="1075062" y="590312"/>
                  <a:pt x="1030363" y="453454"/>
                </a:cubicBezTo>
                <a:cubicBezTo>
                  <a:pt x="991209" y="333569"/>
                  <a:pt x="873414" y="261374"/>
                  <a:pt x="752807" y="275357"/>
                </a:cubicBezTo>
                <a:close/>
                <a:moveTo>
                  <a:pt x="121756" y="750214"/>
                </a:moveTo>
                <a:cubicBezTo>
                  <a:pt x="91957" y="658975"/>
                  <a:pt x="141763" y="560855"/>
                  <a:pt x="233001" y="531056"/>
                </a:cubicBezTo>
                <a:cubicBezTo>
                  <a:pt x="246687" y="526586"/>
                  <a:pt x="254158" y="511868"/>
                  <a:pt x="249688" y="498182"/>
                </a:cubicBezTo>
                <a:lnTo>
                  <a:pt x="228105" y="432102"/>
                </a:lnTo>
                <a:cubicBezTo>
                  <a:pt x="187876" y="308930"/>
                  <a:pt x="255115" y="176468"/>
                  <a:pt x="378286" y="136239"/>
                </a:cubicBezTo>
                <a:cubicBezTo>
                  <a:pt x="501458" y="96009"/>
                  <a:pt x="633920" y="163249"/>
                  <a:pt x="674149" y="286420"/>
                </a:cubicBezTo>
                <a:lnTo>
                  <a:pt x="695732" y="352500"/>
                </a:lnTo>
                <a:cubicBezTo>
                  <a:pt x="700202" y="366186"/>
                  <a:pt x="714920" y="373657"/>
                  <a:pt x="728605" y="369187"/>
                </a:cubicBezTo>
                <a:cubicBezTo>
                  <a:pt x="819844" y="339388"/>
                  <a:pt x="917963" y="389194"/>
                  <a:pt x="947763" y="480433"/>
                </a:cubicBezTo>
                <a:cubicBezTo>
                  <a:pt x="977562" y="571670"/>
                  <a:pt x="927756" y="669791"/>
                  <a:pt x="836518" y="699590"/>
                </a:cubicBezTo>
                <a:lnTo>
                  <a:pt x="340914" y="861459"/>
                </a:lnTo>
                <a:cubicBezTo>
                  <a:pt x="249675" y="891258"/>
                  <a:pt x="151555" y="841452"/>
                  <a:pt x="121756" y="750214"/>
                </a:cubicBezTo>
                <a:close/>
              </a:path>
            </a:pathLst>
          </a:custGeom>
          <a:noFill/>
          <a:ln w="1303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97CD46B4-8E3C-F412-82C9-C7BFECEABD3B}"/>
              </a:ext>
            </a:extLst>
          </p:cNvPr>
          <p:cNvSpPr/>
          <p:nvPr/>
        </p:nvSpPr>
        <p:spPr>
          <a:xfrm>
            <a:off x="2392760" y="3600021"/>
            <a:ext cx="875804" cy="915579"/>
          </a:xfrm>
          <a:custGeom>
            <a:avLst/>
            <a:gdLst/>
            <a:ahLst/>
            <a:cxnLst/>
            <a:rect l="0" t="0" r="0" b="0"/>
            <a:pathLst>
              <a:path w="875804" h="915579">
                <a:moveTo>
                  <a:pt x="95447" y="105751"/>
                </a:moveTo>
                <a:cubicBezTo>
                  <a:pt x="38602" y="114978"/>
                  <a:pt x="0" y="168539"/>
                  <a:pt x="9225" y="225384"/>
                </a:cubicBezTo>
                <a:lnTo>
                  <a:pt x="105751" y="820131"/>
                </a:lnTo>
                <a:cubicBezTo>
                  <a:pt x="114978" y="876976"/>
                  <a:pt x="168539" y="915579"/>
                  <a:pt x="225384" y="906352"/>
                </a:cubicBezTo>
                <a:lnTo>
                  <a:pt x="631908" y="840375"/>
                </a:lnTo>
                <a:lnTo>
                  <a:pt x="875804" y="501966"/>
                </a:lnTo>
                <a:lnTo>
                  <a:pt x="809826" y="95447"/>
                </a:lnTo>
                <a:cubicBezTo>
                  <a:pt x="800601" y="38602"/>
                  <a:pt x="747040" y="0"/>
                  <a:pt x="690195" y="9225"/>
                </a:cubicBezTo>
                <a:lnTo>
                  <a:pt x="95447" y="105751"/>
                </a:lnTo>
                <a:close/>
                <a:moveTo>
                  <a:pt x="188292" y="753429"/>
                </a:moveTo>
                <a:lnTo>
                  <a:pt x="109363" y="267109"/>
                </a:lnTo>
                <a:cubicBezTo>
                  <a:pt x="103212" y="229212"/>
                  <a:pt x="128948" y="193505"/>
                  <a:pt x="166844" y="187354"/>
                </a:cubicBezTo>
                <a:lnTo>
                  <a:pt x="653165" y="108425"/>
                </a:lnTo>
                <a:cubicBezTo>
                  <a:pt x="691062" y="102275"/>
                  <a:pt x="726769" y="128009"/>
                  <a:pt x="732919" y="165906"/>
                </a:cubicBezTo>
                <a:lnTo>
                  <a:pt x="775640" y="429128"/>
                </a:lnTo>
                <a:cubicBezTo>
                  <a:pt x="780070" y="456426"/>
                  <a:pt x="773496" y="484337"/>
                  <a:pt x="757326" y="506772"/>
                </a:cubicBezTo>
                <a:cubicBezTo>
                  <a:pt x="712534" y="568922"/>
                  <a:pt x="643773" y="664326"/>
                  <a:pt x="599138" y="726256"/>
                </a:cubicBezTo>
                <a:cubicBezTo>
                  <a:pt x="582968" y="748692"/>
                  <a:pt x="558567" y="763760"/>
                  <a:pt x="531269" y="768190"/>
                </a:cubicBezTo>
                <a:lnTo>
                  <a:pt x="268046" y="810911"/>
                </a:lnTo>
                <a:cubicBezTo>
                  <a:pt x="230150" y="817061"/>
                  <a:pt x="194442" y="791326"/>
                  <a:pt x="188292" y="753429"/>
                </a:cubicBezTo>
                <a:close/>
              </a:path>
            </a:pathLst>
          </a:custGeom>
          <a:noFill/>
          <a:ln w="13033">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98480BD-C945-2A43-00E7-06C4C9FFDB48}"/>
              </a:ext>
            </a:extLst>
          </p:cNvPr>
          <p:cNvSpPr txBox="1"/>
          <p:nvPr/>
        </p:nvSpPr>
        <p:spPr>
          <a:xfrm>
            <a:off x="1020180" y="884081"/>
            <a:ext cx="1574149"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Conclusion:</a:t>
            </a:r>
            <a:endParaRPr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6BBCF9-154B-AD7E-BB8D-C559EE68484A}"/>
              </a:ext>
            </a:extLst>
          </p:cNvPr>
          <p:cNvSpPr txBox="1"/>
          <p:nvPr/>
        </p:nvSpPr>
        <p:spPr>
          <a:xfrm>
            <a:off x="2543033" y="1379719"/>
            <a:ext cx="1450205" cy="246221"/>
          </a:xfrm>
          <a:prstGeom prst="rect">
            <a:avLst/>
          </a:prstGeom>
          <a:noFill/>
          <a:ln>
            <a:noFill/>
          </a:ln>
        </p:spPr>
        <p:txBody>
          <a:bodyPr wrap="none" lIns="0" tIns="0" rIns="0" bIns="0" anchor="t">
            <a:spAutoFit/>
          </a:bodyPr>
          <a:lstStyle/>
          <a:p>
            <a:pPr algn="r"/>
            <a:r>
              <a:rPr sz="1600" b="1" dirty="0">
                <a:latin typeface="Times New Roman" panose="02020603050405020304" pitchFamily="18" charset="0"/>
                <a:cs typeface="Times New Roman" panose="02020603050405020304" pitchFamily="18" charset="0"/>
              </a:rPr>
              <a:t>Production Data</a:t>
            </a:r>
          </a:p>
        </p:txBody>
      </p:sp>
      <p:sp>
        <p:nvSpPr>
          <p:cNvPr id="12" name="TextBox 11">
            <a:extLst>
              <a:ext uri="{FF2B5EF4-FFF2-40B4-BE49-F238E27FC236}">
                <a16:creationId xmlns:a16="http://schemas.microsoft.com/office/drawing/2014/main" id="{077C6D5C-53E6-AABF-AB36-156C585E2769}"/>
              </a:ext>
            </a:extLst>
          </p:cNvPr>
          <p:cNvSpPr txBox="1"/>
          <p:nvPr/>
        </p:nvSpPr>
        <p:spPr>
          <a:xfrm>
            <a:off x="5127993" y="1397369"/>
            <a:ext cx="1522853"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Combined Model</a:t>
            </a:r>
          </a:p>
        </p:txBody>
      </p:sp>
      <p:sp>
        <p:nvSpPr>
          <p:cNvPr id="13" name="TextBox 12">
            <a:extLst>
              <a:ext uri="{FF2B5EF4-FFF2-40B4-BE49-F238E27FC236}">
                <a16:creationId xmlns:a16="http://schemas.microsoft.com/office/drawing/2014/main" id="{2F83C70D-2F24-7FB1-F262-8517D5F0E0FE}"/>
              </a:ext>
            </a:extLst>
          </p:cNvPr>
          <p:cNvSpPr txBox="1"/>
          <p:nvPr/>
        </p:nvSpPr>
        <p:spPr>
          <a:xfrm>
            <a:off x="2543033" y="1674298"/>
            <a:ext cx="1620968" cy="1000274"/>
          </a:xfrm>
          <a:prstGeom prst="rect">
            <a:avLst/>
          </a:prstGeom>
          <a:noFill/>
          <a:ln>
            <a:noFill/>
          </a:ln>
        </p:spPr>
        <p:txBody>
          <a:bodyPr wrap="square" lIns="0" tIns="0" rIns="0" bIns="0" anchor="t">
            <a:spAutoFit/>
          </a:bodyPr>
          <a:lstStyle/>
          <a:p>
            <a:r>
              <a:rPr sz="1300" b="0" dirty="0">
                <a:latin typeface="Times New Roman" panose="02020603050405020304" pitchFamily="18" charset="0"/>
                <a:cs typeface="Times New Roman" panose="02020603050405020304" pitchFamily="18" charset="0"/>
              </a:rPr>
              <a:t>Production features
have some predictive
power but are less
effective than audience
signals.</a:t>
            </a:r>
          </a:p>
        </p:txBody>
      </p:sp>
      <p:sp>
        <p:nvSpPr>
          <p:cNvPr id="14" name="TextBox 13">
            <a:extLst>
              <a:ext uri="{FF2B5EF4-FFF2-40B4-BE49-F238E27FC236}">
                <a16:creationId xmlns:a16="http://schemas.microsoft.com/office/drawing/2014/main" id="{F00D67CE-D91A-62EA-573A-CBDB8D17D160}"/>
              </a:ext>
            </a:extLst>
          </p:cNvPr>
          <p:cNvSpPr txBox="1"/>
          <p:nvPr/>
        </p:nvSpPr>
        <p:spPr>
          <a:xfrm>
            <a:off x="5123029" y="1665454"/>
            <a:ext cx="3133831" cy="1000274"/>
          </a:xfrm>
          <a:prstGeom prst="rect">
            <a:avLst/>
          </a:prstGeom>
          <a:noFill/>
          <a:ln>
            <a:noFill/>
          </a:ln>
        </p:spPr>
        <p:txBody>
          <a:bodyPr wrap="square" lIns="0" tIns="0" rIns="0" bIns="0" anchor="t">
            <a:spAutoFit/>
          </a:bodyPr>
          <a:lstStyle/>
          <a:p>
            <a:pPr algn="l"/>
            <a:r>
              <a:rPr sz="1300" b="0" dirty="0">
                <a:latin typeface="Times New Roman" panose="02020603050405020304" pitchFamily="18" charset="0"/>
                <a:cs typeface="Times New Roman" panose="02020603050405020304" pitchFamily="18" charset="0"/>
              </a:rPr>
              <a:t>A model that integrates
both audience and
production data
achieves the highest
accuracy.</a:t>
            </a:r>
          </a:p>
        </p:txBody>
      </p:sp>
      <p:sp>
        <p:nvSpPr>
          <p:cNvPr id="15" name="TextBox 14">
            <a:extLst>
              <a:ext uri="{FF2B5EF4-FFF2-40B4-BE49-F238E27FC236}">
                <a16:creationId xmlns:a16="http://schemas.microsoft.com/office/drawing/2014/main" id="{2C4F9DFF-3814-A513-A4A7-F6FD09FF888F}"/>
              </a:ext>
            </a:extLst>
          </p:cNvPr>
          <p:cNvSpPr txBox="1"/>
          <p:nvPr/>
        </p:nvSpPr>
        <p:spPr>
          <a:xfrm>
            <a:off x="864520" y="3490873"/>
            <a:ext cx="1500412" cy="246221"/>
          </a:xfrm>
          <a:prstGeom prst="rect">
            <a:avLst/>
          </a:prstGeom>
          <a:noFill/>
          <a:ln>
            <a:noFill/>
          </a:ln>
        </p:spPr>
        <p:txBody>
          <a:bodyPr wrap="none" lIns="0" tIns="0" rIns="0" bIns="0" anchor="t">
            <a:spAutoFit/>
          </a:bodyPr>
          <a:lstStyle/>
          <a:p>
            <a:pPr algn="r"/>
            <a:r>
              <a:rPr sz="1600" b="1" dirty="0">
                <a:latin typeface="Times New Roman" panose="02020603050405020304" pitchFamily="18" charset="0"/>
                <a:cs typeface="Times New Roman" panose="02020603050405020304" pitchFamily="18" charset="0"/>
              </a:rPr>
              <a:t>Audience Signals</a:t>
            </a:r>
          </a:p>
        </p:txBody>
      </p:sp>
      <p:sp>
        <p:nvSpPr>
          <p:cNvPr id="16" name="TextBox 15">
            <a:extLst>
              <a:ext uri="{FF2B5EF4-FFF2-40B4-BE49-F238E27FC236}">
                <a16:creationId xmlns:a16="http://schemas.microsoft.com/office/drawing/2014/main" id="{430B08FE-6FFA-F23A-1C42-DB92853AD472}"/>
              </a:ext>
            </a:extLst>
          </p:cNvPr>
          <p:cNvSpPr txBox="1"/>
          <p:nvPr/>
        </p:nvSpPr>
        <p:spPr>
          <a:xfrm>
            <a:off x="6843429" y="3449534"/>
            <a:ext cx="1477969" cy="246221"/>
          </a:xfrm>
          <a:prstGeom prst="rect">
            <a:avLst/>
          </a:prstGeom>
          <a:noFill/>
          <a:ln>
            <a:noFill/>
          </a:ln>
        </p:spPr>
        <p:txBody>
          <a:bodyPr wrap="none" lIns="0" tIns="0" rIns="0" bIns="0" anchor="t">
            <a:spAutoFit/>
          </a:bodyPr>
          <a:lstStyle/>
          <a:p>
            <a:pPr algn="l"/>
            <a:r>
              <a:rPr sz="1600" b="1" dirty="0">
                <a:latin typeface="Times New Roman" panose="02020603050405020304" pitchFamily="18" charset="0"/>
                <a:cs typeface="Times New Roman" panose="02020603050405020304" pitchFamily="18" charset="0"/>
              </a:rPr>
              <a:t>Early Popularity</a:t>
            </a:r>
          </a:p>
        </p:txBody>
      </p:sp>
      <p:sp>
        <p:nvSpPr>
          <p:cNvPr id="17" name="TextBox 16">
            <a:extLst>
              <a:ext uri="{FF2B5EF4-FFF2-40B4-BE49-F238E27FC236}">
                <a16:creationId xmlns:a16="http://schemas.microsoft.com/office/drawing/2014/main" id="{9CE11DCF-C433-42D1-65EA-DA6E25BFC3A1}"/>
              </a:ext>
            </a:extLst>
          </p:cNvPr>
          <p:cNvSpPr txBox="1"/>
          <p:nvPr/>
        </p:nvSpPr>
        <p:spPr>
          <a:xfrm>
            <a:off x="832428" y="3799350"/>
            <a:ext cx="1500411" cy="600164"/>
          </a:xfrm>
          <a:prstGeom prst="rect">
            <a:avLst/>
          </a:prstGeom>
          <a:noFill/>
          <a:ln>
            <a:noFill/>
          </a:ln>
        </p:spPr>
        <p:txBody>
          <a:bodyPr wrap="none" lIns="0" tIns="0" rIns="0" bIns="0" anchor="t">
            <a:spAutoFit/>
          </a:bodyPr>
          <a:lstStyle/>
          <a:p>
            <a:r>
              <a:rPr sz="1300" b="0" dirty="0">
                <a:latin typeface="Times New Roman" panose="02020603050405020304" pitchFamily="18" charset="0"/>
                <a:cs typeface="Times New Roman" panose="02020603050405020304" pitchFamily="18" charset="0"/>
              </a:rPr>
              <a:t>Audience engagement
is a strong indicator of
movie success.</a:t>
            </a:r>
          </a:p>
        </p:txBody>
      </p:sp>
      <p:sp>
        <p:nvSpPr>
          <p:cNvPr id="18" name="TextBox 17">
            <a:extLst>
              <a:ext uri="{FF2B5EF4-FFF2-40B4-BE49-F238E27FC236}">
                <a16:creationId xmlns:a16="http://schemas.microsoft.com/office/drawing/2014/main" id="{436914CE-3FA1-A231-0BD6-5E3135D72E73}"/>
              </a:ext>
            </a:extLst>
          </p:cNvPr>
          <p:cNvSpPr txBox="1"/>
          <p:nvPr/>
        </p:nvSpPr>
        <p:spPr>
          <a:xfrm>
            <a:off x="6843429" y="3799350"/>
            <a:ext cx="1476366" cy="600164"/>
          </a:xfrm>
          <a:prstGeom prst="rect">
            <a:avLst/>
          </a:prstGeom>
          <a:noFill/>
          <a:ln>
            <a:noFill/>
          </a:ln>
        </p:spPr>
        <p:txBody>
          <a:bodyPr wrap="none" lIns="0" tIns="0" rIns="0" bIns="0" anchor="t">
            <a:spAutoFit/>
          </a:bodyPr>
          <a:lstStyle/>
          <a:p>
            <a:pPr algn="l"/>
            <a:r>
              <a:rPr sz="1300" b="0" dirty="0">
                <a:latin typeface="Times New Roman" panose="02020603050405020304" pitchFamily="18" charset="0"/>
                <a:cs typeface="Times New Roman" panose="02020603050405020304" pitchFamily="18" charset="0"/>
              </a:rPr>
              <a:t>Early audience
engagement is crucial
for long-term success.</a:t>
            </a:r>
          </a:p>
        </p:txBody>
      </p:sp>
      <p:sp>
        <p:nvSpPr>
          <p:cNvPr id="19" name="TextBox 18">
            <a:extLst>
              <a:ext uri="{FF2B5EF4-FFF2-40B4-BE49-F238E27FC236}">
                <a16:creationId xmlns:a16="http://schemas.microsoft.com/office/drawing/2014/main" id="{7B828DE9-223A-9620-CDEF-A3EF1C450E30}"/>
              </a:ext>
            </a:extLst>
          </p:cNvPr>
          <p:cNvSpPr txBox="1"/>
          <p:nvPr/>
        </p:nvSpPr>
        <p:spPr>
          <a:xfrm>
            <a:off x="3417818" y="5329298"/>
            <a:ext cx="2185207" cy="492443"/>
          </a:xfrm>
          <a:prstGeom prst="rect">
            <a:avLst/>
          </a:prstGeom>
          <a:noFill/>
          <a:ln>
            <a:noFill/>
          </a:ln>
        </p:spPr>
        <p:txBody>
          <a:bodyPr wrap="square" lIns="0" tIns="0" rIns="0" bIns="0" anchor="t">
            <a:spAutoFit/>
          </a:bodyPr>
          <a:lstStyle/>
          <a:p>
            <a:pPr algn="ctr"/>
            <a:r>
              <a:rPr sz="1600" b="1" dirty="0">
                <a:latin typeface="Times New Roman" panose="02020603050405020304" pitchFamily="18" charset="0"/>
                <a:cs typeface="Times New Roman" panose="02020603050405020304" pitchFamily="18" charset="0"/>
              </a:rPr>
              <a:t>Movie Success
Prediction</a:t>
            </a:r>
          </a:p>
        </p:txBody>
      </p:sp>
      <p:pic>
        <p:nvPicPr>
          <p:cNvPr id="20" name="Picture 19">
            <a:extLst>
              <a:ext uri="{FF2B5EF4-FFF2-40B4-BE49-F238E27FC236}">
                <a16:creationId xmlns:a16="http://schemas.microsoft.com/office/drawing/2014/main" id="{053E5616-641C-94C7-D719-9D51D1BAED58}"/>
              </a:ext>
            </a:extLst>
          </p:cNvPr>
          <p:cNvPicPr>
            <a:picLocks noChangeAspect="1"/>
          </p:cNvPicPr>
          <p:nvPr/>
        </p:nvPicPr>
        <p:blipFill>
          <a:blip r:embed="rId2"/>
          <a:stretch>
            <a:fillRect/>
          </a:stretch>
        </p:blipFill>
        <p:spPr>
          <a:xfrm>
            <a:off x="4206704" y="4902995"/>
            <a:ext cx="580446" cy="327781"/>
          </a:xfrm>
          <a:prstGeom prst="rect">
            <a:avLst/>
          </a:prstGeom>
        </p:spPr>
      </p:pic>
      <p:pic>
        <p:nvPicPr>
          <p:cNvPr id="22" name="Picture 21">
            <a:extLst>
              <a:ext uri="{FF2B5EF4-FFF2-40B4-BE49-F238E27FC236}">
                <a16:creationId xmlns:a16="http://schemas.microsoft.com/office/drawing/2014/main" id="{47F736D6-32CA-0B12-CB97-7B2C9EDE6CF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54787" y="5230776"/>
            <a:ext cx="1148464" cy="1148464"/>
          </a:xfrm>
          <a:prstGeom prst="rect">
            <a:avLst/>
          </a:prstGeom>
        </p:spPr>
      </p:pic>
    </p:spTree>
    <p:extLst>
      <p:ext uri="{BB962C8B-B14F-4D97-AF65-F5344CB8AC3E}">
        <p14:creationId xmlns:p14="http://schemas.microsoft.com/office/powerpoint/2010/main" val="1590608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DBE9-FCF8-10B7-4047-E30D6C22D236}"/>
            </a:ext>
          </a:extLst>
        </p:cNvPr>
        <p:cNvGrpSpPr/>
        <p:nvPr/>
      </p:nvGrpSpPr>
      <p:grpSpPr>
        <a:xfrm>
          <a:off x="0" y="0"/>
          <a:ext cx="0" cy="0"/>
          <a:chOff x="0" y="0"/>
          <a:chExt cx="0" cy="0"/>
        </a:xfrm>
      </p:grpSpPr>
      <p:sp>
        <p:nvSpPr>
          <p:cNvPr id="36" name="Rounded Rectangle 1">
            <a:extLst>
              <a:ext uri="{FF2B5EF4-FFF2-40B4-BE49-F238E27FC236}">
                <a16:creationId xmlns:a16="http://schemas.microsoft.com/office/drawing/2014/main" id="{23F7DFE8-5BD2-0FE1-E593-1A157DD4D0AB}"/>
              </a:ext>
            </a:extLst>
          </p:cNvPr>
          <p:cNvSpPr/>
          <p:nvPr/>
        </p:nvSpPr>
        <p:spPr>
          <a:xfrm>
            <a:off x="2315155" y="1635153"/>
            <a:ext cx="2153478" cy="878619"/>
          </a:xfrm>
          <a:custGeom>
            <a:avLst/>
            <a:gdLst/>
            <a:ahLst/>
            <a:cxnLst/>
            <a:rect l="0" t="0" r="0" b="0"/>
            <a:pathLst>
              <a:path w="2153478" h="878619">
                <a:moveTo>
                  <a:pt x="1946744" y="0"/>
                </a:moveTo>
                <a:cubicBezTo>
                  <a:pt x="2060920" y="0"/>
                  <a:pt x="2153478" y="92558"/>
                  <a:pt x="2153478" y="206733"/>
                </a:cubicBezTo>
                <a:moveTo>
                  <a:pt x="206733" y="0"/>
                </a:moveTo>
                <a:cubicBezTo>
                  <a:pt x="92558" y="0"/>
                  <a:pt x="0" y="92558"/>
                  <a:pt x="0" y="206733"/>
                </a:cubicBezTo>
                <a:moveTo>
                  <a:pt x="0" y="671885"/>
                </a:moveTo>
                <a:lnTo>
                  <a:pt x="0" y="206733"/>
                </a:lnTo>
                <a:moveTo>
                  <a:pt x="2153478" y="671885"/>
                </a:moveTo>
                <a:lnTo>
                  <a:pt x="2153478" y="206733"/>
                </a:lnTo>
                <a:moveTo>
                  <a:pt x="2153478" y="671885"/>
                </a:moveTo>
                <a:cubicBezTo>
                  <a:pt x="2153478" y="786060"/>
                  <a:pt x="2060920" y="878619"/>
                  <a:pt x="1946744" y="878619"/>
                </a:cubicBezTo>
                <a:moveTo>
                  <a:pt x="206733" y="878619"/>
                </a:moveTo>
                <a:lnTo>
                  <a:pt x="1946744" y="878619"/>
                </a:lnTo>
                <a:moveTo>
                  <a:pt x="206733" y="878619"/>
                </a:moveTo>
                <a:cubicBezTo>
                  <a:pt x="92558" y="878619"/>
                  <a:pt x="0" y="786060"/>
                  <a:pt x="0" y="671885"/>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Rounded Rectangle 2">
            <a:extLst>
              <a:ext uri="{FF2B5EF4-FFF2-40B4-BE49-F238E27FC236}">
                <a16:creationId xmlns:a16="http://schemas.microsoft.com/office/drawing/2014/main" id="{E270FB37-B89B-BF0E-C160-23D29B98B042}"/>
              </a:ext>
            </a:extLst>
          </p:cNvPr>
          <p:cNvSpPr/>
          <p:nvPr/>
        </p:nvSpPr>
        <p:spPr>
          <a:xfrm>
            <a:off x="2521889" y="1635153"/>
            <a:ext cx="152493" cy="8613"/>
          </a:xfrm>
          <a:custGeom>
            <a:avLst/>
            <a:gdLst/>
            <a:ahLst/>
            <a:cxnLst/>
            <a:rect l="0" t="0" r="0" b="0"/>
            <a:pathLst>
              <a:path w="152493" h="8613">
                <a:moveTo>
                  <a:pt x="152493"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Rounded Rectangle 3">
            <a:extLst>
              <a:ext uri="{FF2B5EF4-FFF2-40B4-BE49-F238E27FC236}">
                <a16:creationId xmlns:a16="http://schemas.microsoft.com/office/drawing/2014/main" id="{5DB5EE34-4C0B-1A8E-F222-8B32FF1CAE4D}"/>
              </a:ext>
            </a:extLst>
          </p:cNvPr>
          <p:cNvSpPr/>
          <p:nvPr/>
        </p:nvSpPr>
        <p:spPr>
          <a:xfrm>
            <a:off x="2674382" y="1428419"/>
            <a:ext cx="1435024" cy="413467"/>
          </a:xfrm>
          <a:custGeom>
            <a:avLst/>
            <a:gdLst/>
            <a:ahLst/>
            <a:cxnLst/>
            <a:rect l="0" t="0" r="0" b="0"/>
            <a:pathLst>
              <a:path w="1435024" h="413467">
                <a:moveTo>
                  <a:pt x="1236904" y="0"/>
                </a:moveTo>
                <a:cubicBezTo>
                  <a:pt x="1346322" y="0"/>
                  <a:pt x="1435024" y="88701"/>
                  <a:pt x="1435024" y="198120"/>
                </a:cubicBezTo>
                <a:moveTo>
                  <a:pt x="1236904" y="0"/>
                </a:moveTo>
                <a:lnTo>
                  <a:pt x="198120" y="0"/>
                </a:lnTo>
                <a:moveTo>
                  <a:pt x="198120" y="0"/>
                </a:moveTo>
                <a:cubicBezTo>
                  <a:pt x="88701" y="0"/>
                  <a:pt x="0" y="88701"/>
                  <a:pt x="0" y="198120"/>
                </a:cubicBezTo>
                <a:moveTo>
                  <a:pt x="0" y="215347"/>
                </a:moveTo>
                <a:lnTo>
                  <a:pt x="0" y="198120"/>
                </a:lnTo>
                <a:moveTo>
                  <a:pt x="1435024" y="215347"/>
                </a:moveTo>
                <a:lnTo>
                  <a:pt x="1435024" y="198120"/>
                </a:lnTo>
                <a:moveTo>
                  <a:pt x="1435024" y="215347"/>
                </a:moveTo>
                <a:cubicBezTo>
                  <a:pt x="1435024" y="324766"/>
                  <a:pt x="1346322" y="413467"/>
                  <a:pt x="1236904" y="413467"/>
                </a:cubicBezTo>
                <a:moveTo>
                  <a:pt x="198120" y="413467"/>
                </a:moveTo>
                <a:lnTo>
                  <a:pt x="1236904" y="413467"/>
                </a:lnTo>
                <a:moveTo>
                  <a:pt x="198120" y="413467"/>
                </a:moveTo>
                <a:cubicBezTo>
                  <a:pt x="88701" y="413467"/>
                  <a:pt x="0" y="324766"/>
                  <a:pt x="0" y="215347"/>
                </a:cubicBezTo>
              </a:path>
            </a:pathLst>
          </a:custGeom>
          <a:noFill/>
          <a:ln w="12920">
            <a:solidFill>
              <a:schemeClr val="tx1"/>
            </a:solidFill>
          </a:ln>
        </p:spPr>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40" name="Rounded Rectangle 4">
            <a:extLst>
              <a:ext uri="{FF2B5EF4-FFF2-40B4-BE49-F238E27FC236}">
                <a16:creationId xmlns:a16="http://schemas.microsoft.com/office/drawing/2014/main" id="{FB7928BB-5E2C-3B14-94C9-CACE648B6161}"/>
              </a:ext>
            </a:extLst>
          </p:cNvPr>
          <p:cNvSpPr/>
          <p:nvPr/>
        </p:nvSpPr>
        <p:spPr>
          <a:xfrm>
            <a:off x="4109406" y="1635153"/>
            <a:ext cx="152493" cy="8613"/>
          </a:xfrm>
          <a:custGeom>
            <a:avLst/>
            <a:gdLst/>
            <a:ahLst/>
            <a:cxnLst/>
            <a:rect l="0" t="0" r="0" b="0"/>
            <a:pathLst>
              <a:path w="152493" h="8613">
                <a:moveTo>
                  <a:pt x="152493"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Rounded Rectangle 5">
            <a:extLst>
              <a:ext uri="{FF2B5EF4-FFF2-40B4-BE49-F238E27FC236}">
                <a16:creationId xmlns:a16="http://schemas.microsoft.com/office/drawing/2014/main" id="{9795A6D1-BE4C-E5D4-5DD8-18F483B89448}"/>
              </a:ext>
            </a:extLst>
          </p:cNvPr>
          <p:cNvSpPr/>
          <p:nvPr/>
        </p:nvSpPr>
        <p:spPr>
          <a:xfrm>
            <a:off x="4675367" y="1635153"/>
            <a:ext cx="2153478" cy="1085353"/>
          </a:xfrm>
          <a:custGeom>
            <a:avLst/>
            <a:gdLst/>
            <a:ahLst/>
            <a:cxnLst/>
            <a:rect l="0" t="0" r="0" b="0"/>
            <a:pathLst>
              <a:path w="2153478" h="1085353">
                <a:moveTo>
                  <a:pt x="1946744" y="0"/>
                </a:moveTo>
                <a:cubicBezTo>
                  <a:pt x="2060920" y="0"/>
                  <a:pt x="2153478" y="92558"/>
                  <a:pt x="2153478" y="206733"/>
                </a:cubicBezTo>
                <a:moveTo>
                  <a:pt x="206733" y="0"/>
                </a:moveTo>
                <a:cubicBezTo>
                  <a:pt x="92558" y="0"/>
                  <a:pt x="0" y="92558"/>
                  <a:pt x="0" y="206733"/>
                </a:cubicBezTo>
                <a:moveTo>
                  <a:pt x="0" y="878619"/>
                </a:moveTo>
                <a:lnTo>
                  <a:pt x="0" y="206733"/>
                </a:lnTo>
                <a:moveTo>
                  <a:pt x="2153478" y="878619"/>
                </a:moveTo>
                <a:lnTo>
                  <a:pt x="2153478" y="206733"/>
                </a:lnTo>
                <a:moveTo>
                  <a:pt x="2153478" y="878619"/>
                </a:moveTo>
                <a:cubicBezTo>
                  <a:pt x="2153478" y="992794"/>
                  <a:pt x="2060920" y="1085353"/>
                  <a:pt x="1946744" y="1085353"/>
                </a:cubicBezTo>
                <a:moveTo>
                  <a:pt x="206733" y="1085353"/>
                </a:moveTo>
                <a:lnTo>
                  <a:pt x="1946744" y="1085353"/>
                </a:lnTo>
                <a:moveTo>
                  <a:pt x="206733" y="1085353"/>
                </a:moveTo>
                <a:cubicBezTo>
                  <a:pt x="92558" y="1085353"/>
                  <a:pt x="0" y="992794"/>
                  <a:pt x="0" y="878619"/>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Rounded Rectangle 6">
            <a:extLst>
              <a:ext uri="{FF2B5EF4-FFF2-40B4-BE49-F238E27FC236}">
                <a16:creationId xmlns:a16="http://schemas.microsoft.com/office/drawing/2014/main" id="{80FF0A74-7F46-5C18-EB96-89C43DE4DE3D}"/>
              </a:ext>
            </a:extLst>
          </p:cNvPr>
          <p:cNvSpPr/>
          <p:nvPr/>
        </p:nvSpPr>
        <p:spPr>
          <a:xfrm>
            <a:off x="4882101" y="1635152"/>
            <a:ext cx="335336" cy="8613"/>
          </a:xfrm>
          <a:custGeom>
            <a:avLst/>
            <a:gdLst/>
            <a:ahLst/>
            <a:cxnLst/>
            <a:rect l="0" t="0" r="0" b="0"/>
            <a:pathLst>
              <a:path w="335336" h="8613">
                <a:moveTo>
                  <a:pt x="335336"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3" name="Rounded Rectangle 7">
            <a:extLst>
              <a:ext uri="{FF2B5EF4-FFF2-40B4-BE49-F238E27FC236}">
                <a16:creationId xmlns:a16="http://schemas.microsoft.com/office/drawing/2014/main" id="{DB635BA0-E134-A9F9-DDEF-4B138F963D17}"/>
              </a:ext>
            </a:extLst>
          </p:cNvPr>
          <p:cNvSpPr/>
          <p:nvPr/>
        </p:nvSpPr>
        <p:spPr>
          <a:xfrm>
            <a:off x="5217438" y="1428419"/>
            <a:ext cx="1069336" cy="620201"/>
          </a:xfrm>
          <a:custGeom>
            <a:avLst/>
            <a:gdLst/>
            <a:ahLst/>
            <a:cxnLst/>
            <a:rect l="0" t="0" r="0" b="0"/>
            <a:pathLst>
              <a:path w="1069336" h="620201">
                <a:moveTo>
                  <a:pt x="871216" y="0"/>
                </a:moveTo>
                <a:cubicBezTo>
                  <a:pt x="980634" y="0"/>
                  <a:pt x="1069336" y="88701"/>
                  <a:pt x="1069336" y="198120"/>
                </a:cubicBezTo>
                <a:moveTo>
                  <a:pt x="871216" y="0"/>
                </a:moveTo>
                <a:lnTo>
                  <a:pt x="198120" y="0"/>
                </a:lnTo>
                <a:moveTo>
                  <a:pt x="198120" y="0"/>
                </a:moveTo>
                <a:cubicBezTo>
                  <a:pt x="88701" y="0"/>
                  <a:pt x="0" y="88701"/>
                  <a:pt x="0" y="198120"/>
                </a:cubicBezTo>
                <a:moveTo>
                  <a:pt x="0" y="422081"/>
                </a:moveTo>
                <a:lnTo>
                  <a:pt x="0" y="198120"/>
                </a:lnTo>
                <a:moveTo>
                  <a:pt x="1069336" y="422081"/>
                </a:moveTo>
                <a:lnTo>
                  <a:pt x="1069336" y="198120"/>
                </a:lnTo>
                <a:moveTo>
                  <a:pt x="1069336" y="422081"/>
                </a:moveTo>
                <a:cubicBezTo>
                  <a:pt x="1069336" y="531499"/>
                  <a:pt x="980634" y="620201"/>
                  <a:pt x="871216" y="620201"/>
                </a:cubicBezTo>
                <a:moveTo>
                  <a:pt x="198120" y="620201"/>
                </a:moveTo>
                <a:lnTo>
                  <a:pt x="871216" y="620201"/>
                </a:lnTo>
                <a:moveTo>
                  <a:pt x="198120" y="620201"/>
                </a:moveTo>
                <a:cubicBezTo>
                  <a:pt x="88701" y="620201"/>
                  <a:pt x="0" y="531499"/>
                  <a:pt x="0" y="422081"/>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Rounded Rectangle 8">
            <a:extLst>
              <a:ext uri="{FF2B5EF4-FFF2-40B4-BE49-F238E27FC236}">
                <a16:creationId xmlns:a16="http://schemas.microsoft.com/office/drawing/2014/main" id="{D664BCE8-EABB-CC81-8E40-E095CF805D53}"/>
              </a:ext>
            </a:extLst>
          </p:cNvPr>
          <p:cNvSpPr/>
          <p:nvPr/>
        </p:nvSpPr>
        <p:spPr>
          <a:xfrm>
            <a:off x="6286775" y="1635152"/>
            <a:ext cx="335336" cy="8613"/>
          </a:xfrm>
          <a:custGeom>
            <a:avLst/>
            <a:gdLst/>
            <a:ahLst/>
            <a:cxnLst/>
            <a:rect l="0" t="0" r="0" b="0"/>
            <a:pathLst>
              <a:path w="335336" h="8613">
                <a:moveTo>
                  <a:pt x="335336"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Rounded Rectangle 9">
            <a:extLst>
              <a:ext uri="{FF2B5EF4-FFF2-40B4-BE49-F238E27FC236}">
                <a16:creationId xmlns:a16="http://schemas.microsoft.com/office/drawing/2014/main" id="{C42549FD-846E-0D4F-5456-AC83AF094C96}"/>
              </a:ext>
            </a:extLst>
          </p:cNvPr>
          <p:cNvSpPr/>
          <p:nvPr/>
        </p:nvSpPr>
        <p:spPr>
          <a:xfrm>
            <a:off x="3105280" y="3340707"/>
            <a:ext cx="2933441" cy="723568"/>
          </a:xfrm>
          <a:custGeom>
            <a:avLst/>
            <a:gdLst/>
            <a:ahLst/>
            <a:cxnLst/>
            <a:rect l="0" t="0" r="0" b="0"/>
            <a:pathLst>
              <a:path w="2933441" h="723568">
                <a:moveTo>
                  <a:pt x="2580270" y="0"/>
                </a:moveTo>
                <a:cubicBezTo>
                  <a:pt x="2775321" y="0"/>
                  <a:pt x="2933441" y="158119"/>
                  <a:pt x="2933441" y="353170"/>
                </a:cubicBezTo>
                <a:moveTo>
                  <a:pt x="2580270" y="0"/>
                </a:moveTo>
                <a:lnTo>
                  <a:pt x="353170" y="0"/>
                </a:lnTo>
                <a:moveTo>
                  <a:pt x="353170" y="0"/>
                </a:moveTo>
                <a:cubicBezTo>
                  <a:pt x="158119" y="0"/>
                  <a:pt x="0" y="158119"/>
                  <a:pt x="0" y="353170"/>
                </a:cubicBezTo>
                <a:moveTo>
                  <a:pt x="0" y="370398"/>
                </a:moveTo>
                <a:lnTo>
                  <a:pt x="0" y="353170"/>
                </a:lnTo>
                <a:moveTo>
                  <a:pt x="2933441" y="370398"/>
                </a:moveTo>
                <a:lnTo>
                  <a:pt x="2933441" y="353170"/>
                </a:lnTo>
                <a:moveTo>
                  <a:pt x="2933441" y="370398"/>
                </a:moveTo>
                <a:cubicBezTo>
                  <a:pt x="2933441" y="565449"/>
                  <a:pt x="2775321" y="723568"/>
                  <a:pt x="2580270" y="723568"/>
                </a:cubicBezTo>
                <a:moveTo>
                  <a:pt x="353170" y="723568"/>
                </a:moveTo>
                <a:lnTo>
                  <a:pt x="2580270" y="723568"/>
                </a:lnTo>
                <a:moveTo>
                  <a:pt x="353170" y="723568"/>
                </a:moveTo>
                <a:cubicBezTo>
                  <a:pt x="158119" y="723568"/>
                  <a:pt x="0" y="565449"/>
                  <a:pt x="0" y="370398"/>
                </a:cubicBezTo>
              </a:path>
            </a:pathLst>
          </a:custGeom>
          <a:noFill/>
          <a:ln w="12920">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Rounded Rectangle 10">
            <a:extLst>
              <a:ext uri="{FF2B5EF4-FFF2-40B4-BE49-F238E27FC236}">
                <a16:creationId xmlns:a16="http://schemas.microsoft.com/office/drawing/2014/main" id="{EE0C28A8-6905-BDE2-0E58-9592D892A51B}"/>
              </a:ext>
            </a:extLst>
          </p:cNvPr>
          <p:cNvSpPr/>
          <p:nvPr/>
        </p:nvSpPr>
        <p:spPr>
          <a:xfrm>
            <a:off x="2315155" y="4891212"/>
            <a:ext cx="2153478" cy="1085353"/>
          </a:xfrm>
          <a:custGeom>
            <a:avLst/>
            <a:gdLst/>
            <a:ahLst/>
            <a:cxnLst/>
            <a:rect l="0" t="0" r="0" b="0"/>
            <a:pathLst>
              <a:path w="2153478" h="1085353">
                <a:moveTo>
                  <a:pt x="1946744" y="0"/>
                </a:moveTo>
                <a:cubicBezTo>
                  <a:pt x="2060920" y="0"/>
                  <a:pt x="2153478" y="92558"/>
                  <a:pt x="2153478" y="206733"/>
                </a:cubicBezTo>
                <a:moveTo>
                  <a:pt x="206733" y="0"/>
                </a:moveTo>
                <a:cubicBezTo>
                  <a:pt x="92558" y="0"/>
                  <a:pt x="0" y="92558"/>
                  <a:pt x="0" y="206733"/>
                </a:cubicBezTo>
                <a:moveTo>
                  <a:pt x="0" y="878619"/>
                </a:moveTo>
                <a:lnTo>
                  <a:pt x="0" y="206733"/>
                </a:lnTo>
                <a:moveTo>
                  <a:pt x="2153478" y="878619"/>
                </a:moveTo>
                <a:lnTo>
                  <a:pt x="2153478" y="206733"/>
                </a:lnTo>
                <a:moveTo>
                  <a:pt x="2153478" y="878619"/>
                </a:moveTo>
                <a:cubicBezTo>
                  <a:pt x="2153478" y="992794"/>
                  <a:pt x="2060920" y="1085353"/>
                  <a:pt x="1946744" y="1085353"/>
                </a:cubicBezTo>
                <a:moveTo>
                  <a:pt x="206733" y="1085353"/>
                </a:moveTo>
                <a:lnTo>
                  <a:pt x="1946744" y="1085353"/>
                </a:lnTo>
                <a:moveTo>
                  <a:pt x="206733" y="1085353"/>
                </a:moveTo>
                <a:cubicBezTo>
                  <a:pt x="92558" y="1085353"/>
                  <a:pt x="0" y="992794"/>
                  <a:pt x="0" y="878619"/>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Rounded Rectangle 11">
            <a:extLst>
              <a:ext uri="{FF2B5EF4-FFF2-40B4-BE49-F238E27FC236}">
                <a16:creationId xmlns:a16="http://schemas.microsoft.com/office/drawing/2014/main" id="{3FFBE575-191F-0F09-9DAD-28479D8F9AA0}"/>
              </a:ext>
            </a:extLst>
          </p:cNvPr>
          <p:cNvSpPr/>
          <p:nvPr/>
        </p:nvSpPr>
        <p:spPr>
          <a:xfrm>
            <a:off x="2521889" y="4891212"/>
            <a:ext cx="342066" cy="8613"/>
          </a:xfrm>
          <a:custGeom>
            <a:avLst/>
            <a:gdLst/>
            <a:ahLst/>
            <a:cxnLst/>
            <a:rect l="0" t="0" r="0" b="0"/>
            <a:pathLst>
              <a:path w="342066" h="8613">
                <a:moveTo>
                  <a:pt x="342066"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Rounded Rectangle 12">
            <a:extLst>
              <a:ext uri="{FF2B5EF4-FFF2-40B4-BE49-F238E27FC236}">
                <a16:creationId xmlns:a16="http://schemas.microsoft.com/office/drawing/2014/main" id="{FA1D2381-5A8F-022C-AB44-AC99BEA0CBD5}"/>
              </a:ext>
            </a:extLst>
          </p:cNvPr>
          <p:cNvSpPr/>
          <p:nvPr/>
        </p:nvSpPr>
        <p:spPr>
          <a:xfrm>
            <a:off x="2863956" y="4684478"/>
            <a:ext cx="1055877" cy="620201"/>
          </a:xfrm>
          <a:custGeom>
            <a:avLst/>
            <a:gdLst/>
            <a:ahLst/>
            <a:cxnLst/>
            <a:rect l="0" t="0" r="0" b="0"/>
            <a:pathLst>
              <a:path w="1055877" h="620201">
                <a:moveTo>
                  <a:pt x="857757" y="0"/>
                </a:moveTo>
                <a:cubicBezTo>
                  <a:pt x="967175" y="0"/>
                  <a:pt x="1055877" y="88701"/>
                  <a:pt x="1055877" y="198120"/>
                </a:cubicBezTo>
                <a:moveTo>
                  <a:pt x="857757" y="0"/>
                </a:moveTo>
                <a:lnTo>
                  <a:pt x="198120" y="0"/>
                </a:lnTo>
                <a:moveTo>
                  <a:pt x="198120" y="0"/>
                </a:moveTo>
                <a:cubicBezTo>
                  <a:pt x="88701" y="0"/>
                  <a:pt x="0" y="88701"/>
                  <a:pt x="0" y="198120"/>
                </a:cubicBezTo>
                <a:moveTo>
                  <a:pt x="0" y="422081"/>
                </a:moveTo>
                <a:lnTo>
                  <a:pt x="0" y="198120"/>
                </a:lnTo>
                <a:moveTo>
                  <a:pt x="1055877" y="422081"/>
                </a:moveTo>
                <a:lnTo>
                  <a:pt x="1055877" y="198120"/>
                </a:lnTo>
                <a:moveTo>
                  <a:pt x="1055877" y="422081"/>
                </a:moveTo>
                <a:cubicBezTo>
                  <a:pt x="1055877" y="531499"/>
                  <a:pt x="967175" y="620201"/>
                  <a:pt x="857757" y="620201"/>
                </a:cubicBezTo>
                <a:moveTo>
                  <a:pt x="198120" y="620201"/>
                </a:moveTo>
                <a:lnTo>
                  <a:pt x="857757" y="620201"/>
                </a:lnTo>
                <a:moveTo>
                  <a:pt x="198120" y="620201"/>
                </a:moveTo>
                <a:cubicBezTo>
                  <a:pt x="88701" y="620201"/>
                  <a:pt x="0" y="531499"/>
                  <a:pt x="0" y="422081"/>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Rounded Rectangle 13">
            <a:extLst>
              <a:ext uri="{FF2B5EF4-FFF2-40B4-BE49-F238E27FC236}">
                <a16:creationId xmlns:a16="http://schemas.microsoft.com/office/drawing/2014/main" id="{8D871696-D91C-3F19-4622-87285D1D1C61}"/>
              </a:ext>
            </a:extLst>
          </p:cNvPr>
          <p:cNvSpPr/>
          <p:nvPr/>
        </p:nvSpPr>
        <p:spPr>
          <a:xfrm>
            <a:off x="3919833" y="4891212"/>
            <a:ext cx="342066" cy="8613"/>
          </a:xfrm>
          <a:custGeom>
            <a:avLst/>
            <a:gdLst/>
            <a:ahLst/>
            <a:cxnLst/>
            <a:rect l="0" t="0" r="0" b="0"/>
            <a:pathLst>
              <a:path w="342066" h="8613">
                <a:moveTo>
                  <a:pt x="342066"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Rounded Rectangle 14">
            <a:extLst>
              <a:ext uri="{FF2B5EF4-FFF2-40B4-BE49-F238E27FC236}">
                <a16:creationId xmlns:a16="http://schemas.microsoft.com/office/drawing/2014/main" id="{D0013167-FAA8-EBF2-DD32-6A53FBAE88C4}"/>
              </a:ext>
            </a:extLst>
          </p:cNvPr>
          <p:cNvSpPr/>
          <p:nvPr/>
        </p:nvSpPr>
        <p:spPr>
          <a:xfrm>
            <a:off x="4675367" y="4891212"/>
            <a:ext cx="2153478" cy="1085353"/>
          </a:xfrm>
          <a:custGeom>
            <a:avLst/>
            <a:gdLst/>
            <a:ahLst/>
            <a:cxnLst/>
            <a:rect l="0" t="0" r="0" b="0"/>
            <a:pathLst>
              <a:path w="2153478" h="1085353">
                <a:moveTo>
                  <a:pt x="1946744" y="0"/>
                </a:moveTo>
                <a:cubicBezTo>
                  <a:pt x="2060920" y="0"/>
                  <a:pt x="2153478" y="92558"/>
                  <a:pt x="2153478" y="206733"/>
                </a:cubicBezTo>
                <a:moveTo>
                  <a:pt x="206733" y="0"/>
                </a:moveTo>
                <a:cubicBezTo>
                  <a:pt x="92558" y="0"/>
                  <a:pt x="0" y="92558"/>
                  <a:pt x="0" y="206733"/>
                </a:cubicBezTo>
                <a:moveTo>
                  <a:pt x="0" y="878619"/>
                </a:moveTo>
                <a:lnTo>
                  <a:pt x="0" y="206733"/>
                </a:lnTo>
                <a:moveTo>
                  <a:pt x="2153478" y="878619"/>
                </a:moveTo>
                <a:lnTo>
                  <a:pt x="2153478" y="206733"/>
                </a:lnTo>
                <a:moveTo>
                  <a:pt x="2153478" y="878619"/>
                </a:moveTo>
                <a:cubicBezTo>
                  <a:pt x="2153478" y="992794"/>
                  <a:pt x="2060920" y="1085353"/>
                  <a:pt x="1946744" y="1085353"/>
                </a:cubicBezTo>
                <a:moveTo>
                  <a:pt x="206733" y="1085353"/>
                </a:moveTo>
                <a:lnTo>
                  <a:pt x="1946744" y="1085353"/>
                </a:lnTo>
                <a:moveTo>
                  <a:pt x="206733" y="1085353"/>
                </a:moveTo>
                <a:cubicBezTo>
                  <a:pt x="92558" y="1085353"/>
                  <a:pt x="0" y="992794"/>
                  <a:pt x="0" y="878619"/>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Rounded Rectangle 15">
            <a:extLst>
              <a:ext uri="{FF2B5EF4-FFF2-40B4-BE49-F238E27FC236}">
                <a16:creationId xmlns:a16="http://schemas.microsoft.com/office/drawing/2014/main" id="{9268AF1F-CD74-4F24-8959-5F7ACB14E195}"/>
              </a:ext>
            </a:extLst>
          </p:cNvPr>
          <p:cNvSpPr/>
          <p:nvPr/>
        </p:nvSpPr>
        <p:spPr>
          <a:xfrm>
            <a:off x="4882101" y="4891212"/>
            <a:ext cx="284662" cy="8613"/>
          </a:xfrm>
          <a:custGeom>
            <a:avLst/>
            <a:gdLst/>
            <a:ahLst/>
            <a:cxnLst/>
            <a:rect l="0" t="0" r="0" b="0"/>
            <a:pathLst>
              <a:path w="284662" h="8613">
                <a:moveTo>
                  <a:pt x="284662"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2" name="Rounded Rectangle 16">
            <a:extLst>
              <a:ext uri="{FF2B5EF4-FFF2-40B4-BE49-F238E27FC236}">
                <a16:creationId xmlns:a16="http://schemas.microsoft.com/office/drawing/2014/main" id="{E6512477-6FB9-3275-AB24-655303176C66}"/>
              </a:ext>
            </a:extLst>
          </p:cNvPr>
          <p:cNvSpPr/>
          <p:nvPr/>
        </p:nvSpPr>
        <p:spPr>
          <a:xfrm>
            <a:off x="5166764" y="4684478"/>
            <a:ext cx="1170684" cy="620201"/>
          </a:xfrm>
          <a:custGeom>
            <a:avLst/>
            <a:gdLst/>
            <a:ahLst/>
            <a:cxnLst/>
            <a:rect l="0" t="0" r="0" b="0"/>
            <a:pathLst>
              <a:path w="1170684" h="620201">
                <a:moveTo>
                  <a:pt x="972564" y="0"/>
                </a:moveTo>
                <a:cubicBezTo>
                  <a:pt x="1081982" y="0"/>
                  <a:pt x="1170684" y="88701"/>
                  <a:pt x="1170684" y="198120"/>
                </a:cubicBezTo>
                <a:moveTo>
                  <a:pt x="972564" y="0"/>
                </a:moveTo>
                <a:lnTo>
                  <a:pt x="198120" y="0"/>
                </a:lnTo>
                <a:moveTo>
                  <a:pt x="198120" y="0"/>
                </a:moveTo>
                <a:cubicBezTo>
                  <a:pt x="88701" y="0"/>
                  <a:pt x="0" y="88701"/>
                  <a:pt x="0" y="198120"/>
                </a:cubicBezTo>
                <a:moveTo>
                  <a:pt x="0" y="422081"/>
                </a:moveTo>
                <a:lnTo>
                  <a:pt x="0" y="198120"/>
                </a:lnTo>
                <a:moveTo>
                  <a:pt x="1170684" y="422081"/>
                </a:moveTo>
                <a:lnTo>
                  <a:pt x="1170684" y="198120"/>
                </a:lnTo>
                <a:moveTo>
                  <a:pt x="1170684" y="422081"/>
                </a:moveTo>
                <a:cubicBezTo>
                  <a:pt x="1170684" y="531499"/>
                  <a:pt x="1081982" y="620201"/>
                  <a:pt x="972564" y="620201"/>
                </a:cubicBezTo>
                <a:moveTo>
                  <a:pt x="198120" y="620201"/>
                </a:moveTo>
                <a:lnTo>
                  <a:pt x="972564" y="620201"/>
                </a:lnTo>
                <a:moveTo>
                  <a:pt x="198120" y="620201"/>
                </a:moveTo>
                <a:cubicBezTo>
                  <a:pt x="88701" y="620201"/>
                  <a:pt x="0" y="531499"/>
                  <a:pt x="0" y="422081"/>
                </a:cubicBez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Rounded Rectangle 17">
            <a:extLst>
              <a:ext uri="{FF2B5EF4-FFF2-40B4-BE49-F238E27FC236}">
                <a16:creationId xmlns:a16="http://schemas.microsoft.com/office/drawing/2014/main" id="{AFBC8350-A3C9-2717-EDA0-7DC89A7D8F17}"/>
              </a:ext>
            </a:extLst>
          </p:cNvPr>
          <p:cNvSpPr/>
          <p:nvPr/>
        </p:nvSpPr>
        <p:spPr>
          <a:xfrm>
            <a:off x="6337449" y="4891212"/>
            <a:ext cx="284662" cy="8613"/>
          </a:xfrm>
          <a:custGeom>
            <a:avLst/>
            <a:gdLst/>
            <a:ahLst/>
            <a:cxnLst/>
            <a:rect l="0" t="0" r="0" b="0"/>
            <a:pathLst>
              <a:path w="284662" h="8613">
                <a:moveTo>
                  <a:pt x="284662" y="0"/>
                </a:moveTo>
                <a:lnTo>
                  <a:pt x="0" y="0"/>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4" name="Rounded Rectangle 18">
            <a:extLst>
              <a:ext uri="{FF2B5EF4-FFF2-40B4-BE49-F238E27FC236}">
                <a16:creationId xmlns:a16="http://schemas.microsoft.com/office/drawing/2014/main" id="{21D0FA67-FCB0-2155-DC63-B44DD32CCD05}"/>
              </a:ext>
            </a:extLst>
          </p:cNvPr>
          <p:cNvSpPr/>
          <p:nvPr/>
        </p:nvSpPr>
        <p:spPr>
          <a:xfrm>
            <a:off x="3391894" y="2513772"/>
            <a:ext cx="2360212" cy="826935"/>
          </a:xfrm>
          <a:custGeom>
            <a:avLst/>
            <a:gdLst/>
            <a:ahLst/>
            <a:cxnLst/>
            <a:rect l="0" t="0" r="0" b="0"/>
            <a:pathLst>
              <a:path w="2360212" h="826935">
                <a:moveTo>
                  <a:pt x="1180106" y="826935"/>
                </a:moveTo>
                <a:lnTo>
                  <a:pt x="1180106" y="516834"/>
                </a:lnTo>
                <a:moveTo>
                  <a:pt x="0" y="0"/>
                </a:moveTo>
                <a:lnTo>
                  <a:pt x="0" y="413467"/>
                </a:lnTo>
                <a:cubicBezTo>
                  <a:pt x="0" y="470555"/>
                  <a:pt x="46278" y="516834"/>
                  <a:pt x="103366" y="516834"/>
                </a:cubicBezTo>
                <a:lnTo>
                  <a:pt x="2256845" y="516834"/>
                </a:lnTo>
                <a:cubicBezTo>
                  <a:pt x="2313933" y="516834"/>
                  <a:pt x="2360212" y="470555"/>
                  <a:pt x="2360212" y="413467"/>
                </a:cubicBezTo>
                <a:lnTo>
                  <a:pt x="2360212" y="206733"/>
                </a:lnTo>
              </a:path>
            </a:pathLst>
          </a:custGeom>
          <a:noFill/>
          <a:ln w="12920">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Rounded Rectangle 19">
            <a:extLst>
              <a:ext uri="{FF2B5EF4-FFF2-40B4-BE49-F238E27FC236}">
                <a16:creationId xmlns:a16="http://schemas.microsoft.com/office/drawing/2014/main" id="{00121C27-4B9D-1696-81E6-A8C8590493C6}"/>
              </a:ext>
            </a:extLst>
          </p:cNvPr>
          <p:cNvSpPr/>
          <p:nvPr/>
        </p:nvSpPr>
        <p:spPr>
          <a:xfrm>
            <a:off x="3391894" y="4064276"/>
            <a:ext cx="2360212" cy="620201"/>
          </a:xfrm>
          <a:custGeom>
            <a:avLst/>
            <a:gdLst/>
            <a:ahLst/>
            <a:cxnLst/>
            <a:rect l="0" t="0" r="0" b="0"/>
            <a:pathLst>
              <a:path w="2360212" h="620201">
                <a:moveTo>
                  <a:pt x="1180106" y="0"/>
                </a:moveTo>
                <a:lnTo>
                  <a:pt x="1180106" y="310100"/>
                </a:lnTo>
                <a:moveTo>
                  <a:pt x="2360212" y="620201"/>
                </a:moveTo>
                <a:lnTo>
                  <a:pt x="2360212" y="413467"/>
                </a:lnTo>
                <a:cubicBezTo>
                  <a:pt x="2360212" y="356379"/>
                  <a:pt x="2313933" y="310100"/>
                  <a:pt x="2256845" y="310100"/>
                </a:cubicBezTo>
                <a:lnTo>
                  <a:pt x="103366" y="310100"/>
                </a:lnTo>
                <a:cubicBezTo>
                  <a:pt x="46278" y="310100"/>
                  <a:pt x="0" y="356379"/>
                  <a:pt x="0" y="413467"/>
                </a:cubicBezTo>
                <a:lnTo>
                  <a:pt x="0" y="620201"/>
                </a:lnTo>
              </a:path>
            </a:pathLst>
          </a:custGeom>
          <a:noFill/>
          <a:ln w="12920">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7C064DB3-3B77-2BCC-9490-11BF5DF3AF39}"/>
              </a:ext>
            </a:extLst>
          </p:cNvPr>
          <p:cNvSpPr txBox="1"/>
          <p:nvPr/>
        </p:nvSpPr>
        <p:spPr>
          <a:xfrm>
            <a:off x="3366443" y="3573283"/>
            <a:ext cx="2411174" cy="307777"/>
          </a:xfrm>
          <a:prstGeom prst="rect">
            <a:avLst/>
          </a:prstGeom>
          <a:noFill/>
          <a:ln>
            <a:noFill/>
          </a:ln>
        </p:spPr>
        <p:txBody>
          <a:bodyPr wrap="none" lIns="0" tIns="0" rIns="0" bIns="0" anchor="t">
            <a:spAutoFit/>
          </a:bodyPr>
          <a:lstStyle/>
          <a:p>
            <a:pPr algn="ctr"/>
            <a:r>
              <a:rPr sz="2000" b="1" dirty="0">
                <a:latin typeface="Times New Roman" panose="02020603050405020304" pitchFamily="18" charset="0"/>
                <a:cs typeface="Times New Roman" panose="02020603050405020304" pitchFamily="18" charset="0"/>
              </a:rPr>
              <a:t>Practical Applications</a:t>
            </a:r>
          </a:p>
        </p:txBody>
      </p:sp>
      <p:sp>
        <p:nvSpPr>
          <p:cNvPr id="57" name="TextBox 56">
            <a:extLst>
              <a:ext uri="{FF2B5EF4-FFF2-40B4-BE49-F238E27FC236}">
                <a16:creationId xmlns:a16="http://schemas.microsoft.com/office/drawing/2014/main" id="{DD1DD0D3-0235-8870-8C98-94259081EEB1}"/>
              </a:ext>
            </a:extLst>
          </p:cNvPr>
          <p:cNvSpPr txBox="1"/>
          <p:nvPr/>
        </p:nvSpPr>
        <p:spPr>
          <a:xfrm>
            <a:off x="4732595" y="2052501"/>
            <a:ext cx="2039021"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Provides insights for Netflix
and IMDb</a:t>
            </a:r>
          </a:p>
        </p:txBody>
      </p:sp>
      <p:sp>
        <p:nvSpPr>
          <p:cNvPr id="58" name="TextBox 57">
            <a:extLst>
              <a:ext uri="{FF2B5EF4-FFF2-40B4-BE49-F238E27FC236}">
                <a16:creationId xmlns:a16="http://schemas.microsoft.com/office/drawing/2014/main" id="{BEC343CA-E837-B3EC-907C-1EC5118DAAA6}"/>
              </a:ext>
            </a:extLst>
          </p:cNvPr>
          <p:cNvSpPr txBox="1"/>
          <p:nvPr/>
        </p:nvSpPr>
        <p:spPr>
          <a:xfrm>
            <a:off x="2983118" y="4805073"/>
            <a:ext cx="817533" cy="430887"/>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Marketing
Strategies</a:t>
            </a:r>
          </a:p>
        </p:txBody>
      </p:sp>
      <p:sp>
        <p:nvSpPr>
          <p:cNvPr id="59" name="TextBox 58">
            <a:extLst>
              <a:ext uri="{FF2B5EF4-FFF2-40B4-BE49-F238E27FC236}">
                <a16:creationId xmlns:a16="http://schemas.microsoft.com/office/drawing/2014/main" id="{3C320C32-E5F9-A31D-E1CF-349016A7D783}"/>
              </a:ext>
            </a:extLst>
          </p:cNvPr>
          <p:cNvSpPr txBox="1"/>
          <p:nvPr/>
        </p:nvSpPr>
        <p:spPr>
          <a:xfrm>
            <a:off x="2459358" y="1905000"/>
            <a:ext cx="1787349" cy="430887"/>
          </a:xfrm>
          <a:prstGeom prst="rect">
            <a:avLst/>
          </a:prstGeom>
          <a:noFill/>
          <a:ln>
            <a:noFill/>
          </a:ln>
        </p:spPr>
        <p:txBody>
          <a:bodyPr wrap="none" lIns="0" tIns="0" rIns="0" bIns="0" anchor="t">
            <a:spAutoFit/>
          </a:bodyPr>
          <a:lstStyle/>
          <a:p>
            <a:r>
              <a:rPr sz="1400" b="0" dirty="0">
                <a:latin typeface="Times New Roman" panose="02020603050405020304" pitchFamily="18" charset="0"/>
                <a:cs typeface="Times New Roman" panose="02020603050405020304" pitchFamily="18" charset="0"/>
              </a:rPr>
              <a:t>Helps producers forecast
movie performance</a:t>
            </a:r>
          </a:p>
        </p:txBody>
      </p:sp>
      <p:sp>
        <p:nvSpPr>
          <p:cNvPr id="60" name="TextBox 59">
            <a:extLst>
              <a:ext uri="{FF2B5EF4-FFF2-40B4-BE49-F238E27FC236}">
                <a16:creationId xmlns:a16="http://schemas.microsoft.com/office/drawing/2014/main" id="{1417B2BA-C44B-6406-E0FB-22CE027CC2EA}"/>
              </a:ext>
            </a:extLst>
          </p:cNvPr>
          <p:cNvSpPr txBox="1"/>
          <p:nvPr/>
        </p:nvSpPr>
        <p:spPr>
          <a:xfrm>
            <a:off x="5355399" y="1515747"/>
            <a:ext cx="793423" cy="430887"/>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Streaming
Platforms</a:t>
            </a:r>
          </a:p>
        </p:txBody>
      </p:sp>
      <p:sp>
        <p:nvSpPr>
          <p:cNvPr id="61" name="TextBox 60">
            <a:extLst>
              <a:ext uri="{FF2B5EF4-FFF2-40B4-BE49-F238E27FC236}">
                <a16:creationId xmlns:a16="http://schemas.microsoft.com/office/drawing/2014/main" id="{EEA143DE-C5E0-82C5-FB14-B469EDF924E7}"/>
              </a:ext>
            </a:extLst>
          </p:cNvPr>
          <p:cNvSpPr txBox="1"/>
          <p:nvPr/>
        </p:nvSpPr>
        <p:spPr>
          <a:xfrm>
            <a:off x="2757913" y="1515359"/>
            <a:ext cx="1267911" cy="215444"/>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Early Prediction</a:t>
            </a:r>
          </a:p>
        </p:txBody>
      </p:sp>
      <p:sp>
        <p:nvSpPr>
          <p:cNvPr id="62" name="TextBox 61">
            <a:extLst>
              <a:ext uri="{FF2B5EF4-FFF2-40B4-BE49-F238E27FC236}">
                <a16:creationId xmlns:a16="http://schemas.microsoft.com/office/drawing/2014/main" id="{BADF3434-BBE5-6E5C-8837-8EDFF93FC298}"/>
              </a:ext>
            </a:extLst>
          </p:cNvPr>
          <p:cNvSpPr txBox="1"/>
          <p:nvPr/>
        </p:nvSpPr>
        <p:spPr>
          <a:xfrm>
            <a:off x="963512" y="791979"/>
            <a:ext cx="3359574"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Real-World Applications:</a:t>
            </a:r>
            <a:endParaRPr sz="2400" b="1"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EAA8A100-92EB-E474-E876-58A130ED6980}"/>
              </a:ext>
            </a:extLst>
          </p:cNvPr>
          <p:cNvSpPr txBox="1"/>
          <p:nvPr/>
        </p:nvSpPr>
        <p:spPr>
          <a:xfrm>
            <a:off x="5273636" y="4805073"/>
            <a:ext cx="956993" cy="430887"/>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Data-Driven
Decisions</a:t>
            </a:r>
          </a:p>
        </p:txBody>
      </p:sp>
      <p:sp>
        <p:nvSpPr>
          <p:cNvPr id="64" name="TextBox 63">
            <a:extLst>
              <a:ext uri="{FF2B5EF4-FFF2-40B4-BE49-F238E27FC236}">
                <a16:creationId xmlns:a16="http://schemas.microsoft.com/office/drawing/2014/main" id="{00AE53AF-BB1D-BAD0-9A37-FBDD74743252}"/>
              </a:ext>
            </a:extLst>
          </p:cNvPr>
          <p:cNvSpPr txBox="1"/>
          <p:nvPr/>
        </p:nvSpPr>
        <p:spPr>
          <a:xfrm>
            <a:off x="2341966" y="5356555"/>
            <a:ext cx="2099870"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Supports effective promotion
and release plans</a:t>
            </a:r>
          </a:p>
        </p:txBody>
      </p:sp>
      <p:sp>
        <p:nvSpPr>
          <p:cNvPr id="65" name="TextBox 64">
            <a:extLst>
              <a:ext uri="{FF2B5EF4-FFF2-40B4-BE49-F238E27FC236}">
                <a16:creationId xmlns:a16="http://schemas.microsoft.com/office/drawing/2014/main" id="{3C78CC66-3CCB-DDD2-55C4-8EF431C523A3}"/>
              </a:ext>
            </a:extLst>
          </p:cNvPr>
          <p:cNvSpPr txBox="1"/>
          <p:nvPr/>
        </p:nvSpPr>
        <p:spPr>
          <a:xfrm>
            <a:off x="4823988" y="5376406"/>
            <a:ext cx="1856278" cy="430887"/>
          </a:xfrm>
          <a:prstGeom prst="rect">
            <a:avLst/>
          </a:prstGeom>
          <a:noFill/>
          <a:ln>
            <a:noFill/>
          </a:ln>
        </p:spPr>
        <p:txBody>
          <a:bodyPr wrap="none" lIns="0" tIns="0" rIns="0" bIns="0" anchor="t">
            <a:spAutoFit/>
          </a:bodyPr>
          <a:lstStyle/>
          <a:p>
            <a:pPr algn="ctr"/>
            <a:r>
              <a:rPr sz="1400" b="0" dirty="0">
                <a:latin typeface="Times New Roman" panose="02020603050405020304" pitchFamily="18" charset="0"/>
                <a:cs typeface="Times New Roman" panose="02020603050405020304" pitchFamily="18" charset="0"/>
              </a:rPr>
              <a:t>Enables informed choices
based on analytics</a:t>
            </a:r>
          </a:p>
        </p:txBody>
      </p:sp>
      <p:pic>
        <p:nvPicPr>
          <p:cNvPr id="66" name="Picture 65">
            <a:extLst>
              <a:ext uri="{FF2B5EF4-FFF2-40B4-BE49-F238E27FC236}">
                <a16:creationId xmlns:a16="http://schemas.microsoft.com/office/drawing/2014/main" id="{4D50DD82-E6C2-1169-92B9-9EB261FCDA3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42313" y="5165789"/>
            <a:ext cx="1148464" cy="1148464"/>
          </a:xfrm>
          <a:prstGeom prst="rect">
            <a:avLst/>
          </a:prstGeom>
        </p:spPr>
      </p:pic>
    </p:spTree>
    <p:extLst>
      <p:ext uri="{BB962C8B-B14F-4D97-AF65-F5344CB8AC3E}">
        <p14:creationId xmlns:p14="http://schemas.microsoft.com/office/powerpoint/2010/main" val="2744275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9E53F81-8399-D0FE-172B-B51A3C6246E0}"/>
              </a:ext>
            </a:extLst>
          </p:cNvPr>
          <p:cNvSpPr/>
          <p:nvPr/>
        </p:nvSpPr>
        <p:spPr>
          <a:xfrm>
            <a:off x="2486401" y="1618370"/>
            <a:ext cx="1178010" cy="856735"/>
          </a:xfrm>
          <a:custGeom>
            <a:avLst/>
            <a:gdLst/>
            <a:ahLst/>
            <a:cxnLst/>
            <a:rect l="0" t="0" r="0" b="0"/>
            <a:pathLst>
              <a:path w="1178010" h="856735">
                <a:moveTo>
                  <a:pt x="0" y="0"/>
                </a:moveTo>
                <a:lnTo>
                  <a:pt x="1178010" y="0"/>
                </a:lnTo>
                <a:moveTo>
                  <a:pt x="1178010" y="856735"/>
                </a:moveTo>
                <a:lnTo>
                  <a:pt x="0" y="856735"/>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A67E60A4-9EDF-8667-794C-18772B406412}"/>
              </a:ext>
            </a:extLst>
          </p:cNvPr>
          <p:cNvSpPr/>
          <p:nvPr/>
        </p:nvSpPr>
        <p:spPr>
          <a:xfrm>
            <a:off x="2325763" y="1618370"/>
            <a:ext cx="160637" cy="856735"/>
          </a:xfrm>
          <a:custGeom>
            <a:avLst/>
            <a:gdLst/>
            <a:ahLst/>
            <a:cxnLst/>
            <a:rect l="0" t="0" r="0" b="0"/>
            <a:pathLst>
              <a:path w="160637" h="856735">
                <a:moveTo>
                  <a:pt x="160637" y="0"/>
                </a:moveTo>
                <a:lnTo>
                  <a:pt x="142789" y="0"/>
                </a:lnTo>
                <a:cubicBezTo>
                  <a:pt x="63928" y="0"/>
                  <a:pt x="0" y="63928"/>
                  <a:pt x="0" y="142789"/>
                </a:cubicBezTo>
                <a:moveTo>
                  <a:pt x="160637" y="856735"/>
                </a:moveTo>
                <a:lnTo>
                  <a:pt x="142789" y="856735"/>
                </a:lnTo>
                <a:cubicBezTo>
                  <a:pt x="63928" y="856735"/>
                  <a:pt x="0" y="792806"/>
                  <a:pt x="0" y="713945"/>
                </a:cubicBezTo>
                <a:moveTo>
                  <a:pt x="0" y="713945"/>
                </a:moveTo>
                <a:lnTo>
                  <a:pt x="0"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59A7710A-C9E7-D9E8-CC43-AED5534FE54B}"/>
              </a:ext>
            </a:extLst>
          </p:cNvPr>
          <p:cNvSpPr/>
          <p:nvPr/>
        </p:nvSpPr>
        <p:spPr>
          <a:xfrm>
            <a:off x="3664412" y="1618370"/>
            <a:ext cx="160637" cy="856735"/>
          </a:xfrm>
          <a:custGeom>
            <a:avLst/>
            <a:gdLst/>
            <a:ahLst/>
            <a:cxnLst/>
            <a:rect l="0" t="0" r="0" b="0"/>
            <a:pathLst>
              <a:path w="160637" h="856735">
                <a:moveTo>
                  <a:pt x="0" y="0"/>
                </a:moveTo>
                <a:lnTo>
                  <a:pt x="17848" y="0"/>
                </a:lnTo>
                <a:cubicBezTo>
                  <a:pt x="96709" y="0"/>
                  <a:pt x="160637" y="63928"/>
                  <a:pt x="160637" y="142789"/>
                </a:cubicBezTo>
                <a:moveTo>
                  <a:pt x="0" y="856735"/>
                </a:moveTo>
                <a:lnTo>
                  <a:pt x="17848" y="856735"/>
                </a:lnTo>
                <a:cubicBezTo>
                  <a:pt x="96709" y="856735"/>
                  <a:pt x="160637" y="792806"/>
                  <a:pt x="160637" y="713945"/>
                </a:cubicBezTo>
                <a:moveTo>
                  <a:pt x="160637" y="713945"/>
                </a:moveTo>
                <a:lnTo>
                  <a:pt x="160637"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DCEFD504-0CE0-70C0-ACA4-1514520310A5}"/>
              </a:ext>
            </a:extLst>
          </p:cNvPr>
          <p:cNvSpPr/>
          <p:nvPr/>
        </p:nvSpPr>
        <p:spPr>
          <a:xfrm>
            <a:off x="4985212" y="1618370"/>
            <a:ext cx="1178010" cy="856735"/>
          </a:xfrm>
          <a:custGeom>
            <a:avLst/>
            <a:gdLst/>
            <a:ahLst/>
            <a:cxnLst/>
            <a:rect l="0" t="0" r="0" b="0"/>
            <a:pathLst>
              <a:path w="1178010" h="856735">
                <a:moveTo>
                  <a:pt x="0" y="0"/>
                </a:moveTo>
                <a:lnTo>
                  <a:pt x="1178010" y="0"/>
                </a:lnTo>
                <a:moveTo>
                  <a:pt x="1178010" y="856735"/>
                </a:moveTo>
                <a:lnTo>
                  <a:pt x="0" y="856735"/>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C02BEC5B-7266-1B02-09A7-37AF97D98062}"/>
              </a:ext>
            </a:extLst>
          </p:cNvPr>
          <p:cNvSpPr/>
          <p:nvPr/>
        </p:nvSpPr>
        <p:spPr>
          <a:xfrm>
            <a:off x="4824574" y="1618370"/>
            <a:ext cx="160637" cy="856735"/>
          </a:xfrm>
          <a:custGeom>
            <a:avLst/>
            <a:gdLst/>
            <a:ahLst/>
            <a:cxnLst/>
            <a:rect l="0" t="0" r="0" b="0"/>
            <a:pathLst>
              <a:path w="160637" h="856735">
                <a:moveTo>
                  <a:pt x="160637" y="0"/>
                </a:moveTo>
                <a:lnTo>
                  <a:pt x="142789" y="0"/>
                </a:lnTo>
                <a:cubicBezTo>
                  <a:pt x="63928" y="0"/>
                  <a:pt x="0" y="63928"/>
                  <a:pt x="0" y="142789"/>
                </a:cubicBezTo>
                <a:moveTo>
                  <a:pt x="160637" y="856735"/>
                </a:moveTo>
                <a:lnTo>
                  <a:pt x="142789" y="856735"/>
                </a:lnTo>
                <a:cubicBezTo>
                  <a:pt x="63928" y="856735"/>
                  <a:pt x="0" y="792806"/>
                  <a:pt x="0" y="713945"/>
                </a:cubicBezTo>
                <a:moveTo>
                  <a:pt x="0" y="713945"/>
                </a:moveTo>
                <a:lnTo>
                  <a:pt x="0"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035D6A13-66F8-CCE4-8238-E343B6A1B651}"/>
              </a:ext>
            </a:extLst>
          </p:cNvPr>
          <p:cNvSpPr/>
          <p:nvPr/>
        </p:nvSpPr>
        <p:spPr>
          <a:xfrm>
            <a:off x="6163222" y="1618370"/>
            <a:ext cx="160637" cy="856735"/>
          </a:xfrm>
          <a:custGeom>
            <a:avLst/>
            <a:gdLst/>
            <a:ahLst/>
            <a:cxnLst/>
            <a:rect l="0" t="0" r="0" b="0"/>
            <a:pathLst>
              <a:path w="160637" h="856735">
                <a:moveTo>
                  <a:pt x="0" y="0"/>
                </a:moveTo>
                <a:lnTo>
                  <a:pt x="17848" y="0"/>
                </a:lnTo>
                <a:cubicBezTo>
                  <a:pt x="96709" y="0"/>
                  <a:pt x="160637" y="63928"/>
                  <a:pt x="160637" y="142789"/>
                </a:cubicBezTo>
                <a:moveTo>
                  <a:pt x="0" y="856735"/>
                </a:moveTo>
                <a:lnTo>
                  <a:pt x="17848" y="856735"/>
                </a:lnTo>
                <a:cubicBezTo>
                  <a:pt x="96709" y="856735"/>
                  <a:pt x="160637" y="792806"/>
                  <a:pt x="160637" y="713945"/>
                </a:cubicBezTo>
                <a:moveTo>
                  <a:pt x="160637" y="713945"/>
                </a:moveTo>
                <a:lnTo>
                  <a:pt x="160637"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DAABDC5C-3647-E52D-E027-02CB5366B5AD}"/>
              </a:ext>
            </a:extLst>
          </p:cNvPr>
          <p:cNvSpPr/>
          <p:nvPr/>
        </p:nvSpPr>
        <p:spPr>
          <a:xfrm>
            <a:off x="2040185" y="2260921"/>
            <a:ext cx="2070443" cy="1178010"/>
          </a:xfrm>
          <a:custGeom>
            <a:avLst/>
            <a:gdLst/>
            <a:ahLst/>
            <a:cxnLst/>
            <a:rect l="0" t="0" r="0" b="0"/>
            <a:pathLst>
              <a:path w="2070443" h="1178010">
                <a:moveTo>
                  <a:pt x="2070443" y="321275"/>
                </a:moveTo>
                <a:lnTo>
                  <a:pt x="2070443" y="1017372"/>
                </a:lnTo>
                <a:moveTo>
                  <a:pt x="0" y="1017372"/>
                </a:moveTo>
                <a:lnTo>
                  <a:pt x="0" y="321275"/>
                </a:lnTo>
                <a:moveTo>
                  <a:pt x="2070443" y="1017372"/>
                </a:moveTo>
                <a:lnTo>
                  <a:pt x="2070443" y="1035221"/>
                </a:lnTo>
                <a:cubicBezTo>
                  <a:pt x="2070443" y="1114082"/>
                  <a:pt x="2006514" y="1178010"/>
                  <a:pt x="1927654" y="1178010"/>
                </a:cubicBezTo>
                <a:lnTo>
                  <a:pt x="142789" y="1178010"/>
                </a:lnTo>
                <a:cubicBezTo>
                  <a:pt x="63928" y="1178010"/>
                  <a:pt x="0" y="1114082"/>
                  <a:pt x="0" y="1035221"/>
                </a:cubicBezTo>
                <a:lnTo>
                  <a:pt x="0" y="1017372"/>
                </a:lnTo>
                <a:moveTo>
                  <a:pt x="0" y="321275"/>
                </a:moveTo>
                <a:lnTo>
                  <a:pt x="0" y="142789"/>
                </a:lnTo>
                <a:cubicBezTo>
                  <a:pt x="0" y="63928"/>
                  <a:pt x="63928" y="0"/>
                  <a:pt x="142789" y="0"/>
                </a:cubicBezTo>
                <a:lnTo>
                  <a:pt x="285578" y="0"/>
                </a:lnTo>
                <a:moveTo>
                  <a:pt x="2070443" y="321275"/>
                </a:moveTo>
                <a:lnTo>
                  <a:pt x="2070443" y="142789"/>
                </a:lnTo>
                <a:cubicBezTo>
                  <a:pt x="2070443" y="63928"/>
                  <a:pt x="2006514" y="0"/>
                  <a:pt x="1927654" y="0"/>
                </a:cubicBezTo>
                <a:lnTo>
                  <a:pt x="1784864" y="0"/>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D845C79C-106E-4E88-4BC5-C39965CBF74C}"/>
              </a:ext>
            </a:extLst>
          </p:cNvPr>
          <p:cNvSpPr/>
          <p:nvPr/>
        </p:nvSpPr>
        <p:spPr>
          <a:xfrm>
            <a:off x="4538995" y="2260921"/>
            <a:ext cx="2070443" cy="1178010"/>
          </a:xfrm>
          <a:custGeom>
            <a:avLst/>
            <a:gdLst/>
            <a:ahLst/>
            <a:cxnLst/>
            <a:rect l="0" t="0" r="0" b="0"/>
            <a:pathLst>
              <a:path w="2070443" h="1178010">
                <a:moveTo>
                  <a:pt x="2070443" y="321275"/>
                </a:moveTo>
                <a:lnTo>
                  <a:pt x="2070443" y="1017372"/>
                </a:lnTo>
                <a:moveTo>
                  <a:pt x="0" y="1017372"/>
                </a:moveTo>
                <a:lnTo>
                  <a:pt x="0" y="321275"/>
                </a:lnTo>
                <a:moveTo>
                  <a:pt x="2070443" y="1017372"/>
                </a:moveTo>
                <a:lnTo>
                  <a:pt x="2070443" y="1035221"/>
                </a:lnTo>
                <a:cubicBezTo>
                  <a:pt x="2070443" y="1114082"/>
                  <a:pt x="2006514" y="1178010"/>
                  <a:pt x="1927654" y="1178010"/>
                </a:cubicBezTo>
                <a:lnTo>
                  <a:pt x="142789" y="1178010"/>
                </a:lnTo>
                <a:cubicBezTo>
                  <a:pt x="63928" y="1178010"/>
                  <a:pt x="0" y="1114082"/>
                  <a:pt x="0" y="1035221"/>
                </a:cubicBezTo>
                <a:lnTo>
                  <a:pt x="0" y="1017372"/>
                </a:lnTo>
                <a:moveTo>
                  <a:pt x="0" y="321275"/>
                </a:moveTo>
                <a:lnTo>
                  <a:pt x="0" y="142789"/>
                </a:lnTo>
                <a:cubicBezTo>
                  <a:pt x="0" y="63928"/>
                  <a:pt x="63928" y="0"/>
                  <a:pt x="142789" y="0"/>
                </a:cubicBezTo>
                <a:lnTo>
                  <a:pt x="285578" y="0"/>
                </a:lnTo>
                <a:moveTo>
                  <a:pt x="2070443" y="321275"/>
                </a:moveTo>
                <a:lnTo>
                  <a:pt x="2070443" y="142789"/>
                </a:lnTo>
                <a:cubicBezTo>
                  <a:pt x="2070443" y="63928"/>
                  <a:pt x="2006514" y="0"/>
                  <a:pt x="1927654" y="0"/>
                </a:cubicBezTo>
                <a:lnTo>
                  <a:pt x="1784864" y="0"/>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D423501C-B8B7-6DAD-4E54-A78DD6416F0C}"/>
              </a:ext>
            </a:extLst>
          </p:cNvPr>
          <p:cNvGrpSpPr/>
          <p:nvPr/>
        </p:nvGrpSpPr>
        <p:grpSpPr>
          <a:xfrm>
            <a:off x="5516209" y="3447857"/>
            <a:ext cx="116016" cy="361435"/>
            <a:chOff x="3699132" y="3221681"/>
            <a:chExt cx="116016" cy="361435"/>
          </a:xfrm>
        </p:grpSpPr>
        <p:sp>
          <p:nvSpPr>
            <p:cNvPr id="11" name="Rounded Rectangle 9">
              <a:extLst>
                <a:ext uri="{FF2B5EF4-FFF2-40B4-BE49-F238E27FC236}">
                  <a16:creationId xmlns:a16="http://schemas.microsoft.com/office/drawing/2014/main" id="{1BC4E707-9C59-1C39-70EC-606CD9A25F67}"/>
                </a:ext>
              </a:extLst>
            </p:cNvPr>
            <p:cNvSpPr/>
            <p:nvPr/>
          </p:nvSpPr>
          <p:spPr>
            <a:xfrm>
              <a:off x="3757140" y="3221681"/>
              <a:ext cx="8924" cy="356972"/>
            </a:xfrm>
            <a:custGeom>
              <a:avLst/>
              <a:gdLst/>
              <a:ahLst/>
              <a:cxnLst/>
              <a:rect l="0" t="0" r="0" b="0"/>
              <a:pathLst>
                <a:path w="8924" h="356972">
                  <a:moveTo>
                    <a:pt x="0" y="356972"/>
                  </a:moveTo>
                  <a:lnTo>
                    <a:pt x="0" y="0"/>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0">
              <a:extLst>
                <a:ext uri="{FF2B5EF4-FFF2-40B4-BE49-F238E27FC236}">
                  <a16:creationId xmlns:a16="http://schemas.microsoft.com/office/drawing/2014/main" id="{1C496949-CDFC-7CA9-7C71-7EA9987C52BF}"/>
                </a:ext>
              </a:extLst>
            </p:cNvPr>
            <p:cNvSpPr/>
            <p:nvPr/>
          </p:nvSpPr>
          <p:spPr>
            <a:xfrm>
              <a:off x="3699132" y="3525108"/>
              <a:ext cx="116016" cy="58008"/>
            </a:xfrm>
            <a:custGeom>
              <a:avLst/>
              <a:gdLst/>
              <a:ahLst/>
              <a:cxnLst/>
              <a:rect l="0" t="0" r="0" b="0"/>
              <a:pathLst>
                <a:path w="116016" h="58008">
                  <a:moveTo>
                    <a:pt x="0" y="0"/>
                  </a:moveTo>
                  <a:lnTo>
                    <a:pt x="58008" y="58008"/>
                  </a:lnTo>
                  <a:lnTo>
                    <a:pt x="116016" y="0"/>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D4943BB3-E30A-4352-2574-149F8A8D5C8B}"/>
              </a:ext>
            </a:extLst>
          </p:cNvPr>
          <p:cNvGrpSpPr/>
          <p:nvPr/>
        </p:nvGrpSpPr>
        <p:grpSpPr>
          <a:xfrm>
            <a:off x="4119552" y="2872238"/>
            <a:ext cx="361435" cy="116016"/>
            <a:chOff x="2302475" y="2646062"/>
            <a:chExt cx="361435" cy="116016"/>
          </a:xfrm>
        </p:grpSpPr>
        <p:sp>
          <p:nvSpPr>
            <p:cNvPr id="14" name="Rounded Rectangle 12">
              <a:extLst>
                <a:ext uri="{FF2B5EF4-FFF2-40B4-BE49-F238E27FC236}">
                  <a16:creationId xmlns:a16="http://schemas.microsoft.com/office/drawing/2014/main" id="{C47AFB01-2342-7358-F34A-2EC928DC9CE5}"/>
                </a:ext>
              </a:extLst>
            </p:cNvPr>
            <p:cNvSpPr/>
            <p:nvPr/>
          </p:nvSpPr>
          <p:spPr>
            <a:xfrm>
              <a:off x="2302475" y="2704070"/>
              <a:ext cx="356972" cy="8924"/>
            </a:xfrm>
            <a:custGeom>
              <a:avLst/>
              <a:gdLst/>
              <a:ahLst/>
              <a:cxnLst/>
              <a:rect l="0" t="0" r="0" b="0"/>
              <a:pathLst>
                <a:path w="356972" h="8924">
                  <a:moveTo>
                    <a:pt x="356972" y="0"/>
                  </a:moveTo>
                  <a:lnTo>
                    <a:pt x="0" y="0"/>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ounded Rectangle 13">
              <a:extLst>
                <a:ext uri="{FF2B5EF4-FFF2-40B4-BE49-F238E27FC236}">
                  <a16:creationId xmlns:a16="http://schemas.microsoft.com/office/drawing/2014/main" id="{A7F4674E-BCF6-76DD-300D-DC92A12B9860}"/>
                </a:ext>
              </a:extLst>
            </p:cNvPr>
            <p:cNvSpPr/>
            <p:nvPr/>
          </p:nvSpPr>
          <p:spPr>
            <a:xfrm>
              <a:off x="2605902" y="2646062"/>
              <a:ext cx="58008" cy="116016"/>
            </a:xfrm>
            <a:custGeom>
              <a:avLst/>
              <a:gdLst/>
              <a:ahLst/>
              <a:cxnLst/>
              <a:rect l="0" t="0" r="0" b="0"/>
              <a:pathLst>
                <a:path w="58008" h="116016">
                  <a:moveTo>
                    <a:pt x="0" y="116016"/>
                  </a:moveTo>
                  <a:lnTo>
                    <a:pt x="58008" y="58008"/>
                  </a:lnTo>
                  <a:lnTo>
                    <a:pt x="0" y="0"/>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16" name="Rounded Rectangle 15">
            <a:extLst>
              <a:ext uri="{FF2B5EF4-FFF2-40B4-BE49-F238E27FC236}">
                <a16:creationId xmlns:a16="http://schemas.microsoft.com/office/drawing/2014/main" id="{DC027DC6-4999-3B25-7C00-AE4E087A6B85}"/>
              </a:ext>
            </a:extLst>
          </p:cNvPr>
          <p:cNvSpPr/>
          <p:nvPr/>
        </p:nvSpPr>
        <p:spPr>
          <a:xfrm>
            <a:off x="2486401" y="3867300"/>
            <a:ext cx="1178010" cy="1070918"/>
          </a:xfrm>
          <a:custGeom>
            <a:avLst/>
            <a:gdLst/>
            <a:ahLst/>
            <a:cxnLst/>
            <a:rect l="0" t="0" r="0" b="0"/>
            <a:pathLst>
              <a:path w="1178010" h="1070918">
                <a:moveTo>
                  <a:pt x="0" y="0"/>
                </a:moveTo>
                <a:lnTo>
                  <a:pt x="1178010" y="0"/>
                </a:lnTo>
                <a:moveTo>
                  <a:pt x="1178010" y="1070918"/>
                </a:moveTo>
                <a:lnTo>
                  <a:pt x="0" y="1070918"/>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5E6EE498-A3A9-65C8-E954-75AB90D79752}"/>
              </a:ext>
            </a:extLst>
          </p:cNvPr>
          <p:cNvSpPr/>
          <p:nvPr/>
        </p:nvSpPr>
        <p:spPr>
          <a:xfrm>
            <a:off x="2325763" y="3867300"/>
            <a:ext cx="160637" cy="1070918"/>
          </a:xfrm>
          <a:custGeom>
            <a:avLst/>
            <a:gdLst/>
            <a:ahLst/>
            <a:cxnLst/>
            <a:rect l="0" t="0" r="0" b="0"/>
            <a:pathLst>
              <a:path w="160637" h="1070918">
                <a:moveTo>
                  <a:pt x="160637" y="0"/>
                </a:moveTo>
                <a:lnTo>
                  <a:pt x="142789" y="0"/>
                </a:lnTo>
                <a:cubicBezTo>
                  <a:pt x="63928" y="0"/>
                  <a:pt x="0" y="63928"/>
                  <a:pt x="0" y="142789"/>
                </a:cubicBezTo>
                <a:moveTo>
                  <a:pt x="160637" y="1070918"/>
                </a:moveTo>
                <a:lnTo>
                  <a:pt x="142789" y="1070918"/>
                </a:lnTo>
                <a:cubicBezTo>
                  <a:pt x="63928" y="1070918"/>
                  <a:pt x="0" y="1006990"/>
                  <a:pt x="0" y="928129"/>
                </a:cubicBezTo>
                <a:moveTo>
                  <a:pt x="0" y="928129"/>
                </a:moveTo>
                <a:lnTo>
                  <a:pt x="0"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C8314361-CED0-6994-EE8E-367A8BC72CAA}"/>
              </a:ext>
            </a:extLst>
          </p:cNvPr>
          <p:cNvSpPr/>
          <p:nvPr/>
        </p:nvSpPr>
        <p:spPr>
          <a:xfrm>
            <a:off x="3664412" y="3867300"/>
            <a:ext cx="160637" cy="1070918"/>
          </a:xfrm>
          <a:custGeom>
            <a:avLst/>
            <a:gdLst/>
            <a:ahLst/>
            <a:cxnLst/>
            <a:rect l="0" t="0" r="0" b="0"/>
            <a:pathLst>
              <a:path w="160637" h="1070918">
                <a:moveTo>
                  <a:pt x="0" y="0"/>
                </a:moveTo>
                <a:lnTo>
                  <a:pt x="17848" y="0"/>
                </a:lnTo>
                <a:cubicBezTo>
                  <a:pt x="96709" y="0"/>
                  <a:pt x="160637" y="63928"/>
                  <a:pt x="160637" y="142789"/>
                </a:cubicBezTo>
                <a:moveTo>
                  <a:pt x="0" y="1070918"/>
                </a:moveTo>
                <a:lnTo>
                  <a:pt x="17848" y="1070918"/>
                </a:lnTo>
                <a:cubicBezTo>
                  <a:pt x="96709" y="1070918"/>
                  <a:pt x="160637" y="1006990"/>
                  <a:pt x="160637" y="928129"/>
                </a:cubicBezTo>
                <a:moveTo>
                  <a:pt x="160637" y="928129"/>
                </a:moveTo>
                <a:lnTo>
                  <a:pt x="160637"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ounded Rectangle 18">
            <a:extLst>
              <a:ext uri="{FF2B5EF4-FFF2-40B4-BE49-F238E27FC236}">
                <a16:creationId xmlns:a16="http://schemas.microsoft.com/office/drawing/2014/main" id="{2F6CC47E-A5E0-F71E-88C0-6E42568F3A04}"/>
              </a:ext>
            </a:extLst>
          </p:cNvPr>
          <p:cNvSpPr/>
          <p:nvPr/>
        </p:nvSpPr>
        <p:spPr>
          <a:xfrm>
            <a:off x="4985212" y="3867300"/>
            <a:ext cx="1178010" cy="1070918"/>
          </a:xfrm>
          <a:custGeom>
            <a:avLst/>
            <a:gdLst/>
            <a:ahLst/>
            <a:cxnLst/>
            <a:rect l="0" t="0" r="0" b="0"/>
            <a:pathLst>
              <a:path w="1178010" h="1070918">
                <a:moveTo>
                  <a:pt x="0" y="0"/>
                </a:moveTo>
                <a:lnTo>
                  <a:pt x="1178010" y="0"/>
                </a:lnTo>
                <a:moveTo>
                  <a:pt x="1178010" y="1070918"/>
                </a:moveTo>
                <a:lnTo>
                  <a:pt x="0" y="1070918"/>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a:extLst>
              <a:ext uri="{FF2B5EF4-FFF2-40B4-BE49-F238E27FC236}">
                <a16:creationId xmlns:a16="http://schemas.microsoft.com/office/drawing/2014/main" id="{1CED63A7-78C9-824D-2179-951DA62B1907}"/>
              </a:ext>
            </a:extLst>
          </p:cNvPr>
          <p:cNvSpPr/>
          <p:nvPr/>
        </p:nvSpPr>
        <p:spPr>
          <a:xfrm>
            <a:off x="4824574" y="3867300"/>
            <a:ext cx="160637" cy="1070918"/>
          </a:xfrm>
          <a:custGeom>
            <a:avLst/>
            <a:gdLst/>
            <a:ahLst/>
            <a:cxnLst/>
            <a:rect l="0" t="0" r="0" b="0"/>
            <a:pathLst>
              <a:path w="160637" h="1070918">
                <a:moveTo>
                  <a:pt x="160637" y="0"/>
                </a:moveTo>
                <a:lnTo>
                  <a:pt x="142789" y="0"/>
                </a:lnTo>
                <a:cubicBezTo>
                  <a:pt x="63928" y="0"/>
                  <a:pt x="0" y="63928"/>
                  <a:pt x="0" y="142789"/>
                </a:cubicBezTo>
                <a:moveTo>
                  <a:pt x="160637" y="1070918"/>
                </a:moveTo>
                <a:lnTo>
                  <a:pt x="142789" y="1070918"/>
                </a:lnTo>
                <a:cubicBezTo>
                  <a:pt x="63928" y="1070918"/>
                  <a:pt x="0" y="1006990"/>
                  <a:pt x="0" y="928129"/>
                </a:cubicBezTo>
                <a:moveTo>
                  <a:pt x="0" y="928129"/>
                </a:moveTo>
                <a:lnTo>
                  <a:pt x="0"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ounded Rectangle 20">
            <a:extLst>
              <a:ext uri="{FF2B5EF4-FFF2-40B4-BE49-F238E27FC236}">
                <a16:creationId xmlns:a16="http://schemas.microsoft.com/office/drawing/2014/main" id="{0E992C91-9844-B707-51C5-F848F8145A04}"/>
              </a:ext>
            </a:extLst>
          </p:cNvPr>
          <p:cNvSpPr/>
          <p:nvPr/>
        </p:nvSpPr>
        <p:spPr>
          <a:xfrm>
            <a:off x="6163222" y="3867300"/>
            <a:ext cx="160637" cy="1070918"/>
          </a:xfrm>
          <a:custGeom>
            <a:avLst/>
            <a:gdLst/>
            <a:ahLst/>
            <a:cxnLst/>
            <a:rect l="0" t="0" r="0" b="0"/>
            <a:pathLst>
              <a:path w="160637" h="1070918">
                <a:moveTo>
                  <a:pt x="0" y="0"/>
                </a:moveTo>
                <a:lnTo>
                  <a:pt x="17848" y="0"/>
                </a:lnTo>
                <a:cubicBezTo>
                  <a:pt x="96709" y="0"/>
                  <a:pt x="160637" y="63928"/>
                  <a:pt x="160637" y="142789"/>
                </a:cubicBezTo>
                <a:moveTo>
                  <a:pt x="0" y="1070918"/>
                </a:moveTo>
                <a:lnTo>
                  <a:pt x="17848" y="1070918"/>
                </a:lnTo>
                <a:cubicBezTo>
                  <a:pt x="96709" y="1070918"/>
                  <a:pt x="160637" y="1006990"/>
                  <a:pt x="160637" y="928129"/>
                </a:cubicBezTo>
                <a:moveTo>
                  <a:pt x="160637" y="928129"/>
                </a:moveTo>
                <a:lnTo>
                  <a:pt x="160637" y="142789"/>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ounded Rectangle 21">
            <a:extLst>
              <a:ext uri="{FF2B5EF4-FFF2-40B4-BE49-F238E27FC236}">
                <a16:creationId xmlns:a16="http://schemas.microsoft.com/office/drawing/2014/main" id="{FEE49D57-A9D4-AE99-60B3-140DDF290005}"/>
              </a:ext>
            </a:extLst>
          </p:cNvPr>
          <p:cNvSpPr/>
          <p:nvPr/>
        </p:nvSpPr>
        <p:spPr>
          <a:xfrm>
            <a:off x="2040185" y="4724035"/>
            <a:ext cx="2070443" cy="1017372"/>
          </a:xfrm>
          <a:custGeom>
            <a:avLst/>
            <a:gdLst/>
            <a:ahLst/>
            <a:cxnLst/>
            <a:rect l="0" t="0" r="0" b="0"/>
            <a:pathLst>
              <a:path w="2070443" h="1017372">
                <a:moveTo>
                  <a:pt x="2070443" y="321275"/>
                </a:moveTo>
                <a:lnTo>
                  <a:pt x="2070443" y="856735"/>
                </a:lnTo>
                <a:moveTo>
                  <a:pt x="0" y="856735"/>
                </a:moveTo>
                <a:lnTo>
                  <a:pt x="0" y="321275"/>
                </a:lnTo>
                <a:moveTo>
                  <a:pt x="2070443" y="856735"/>
                </a:moveTo>
                <a:lnTo>
                  <a:pt x="2070443" y="874583"/>
                </a:lnTo>
                <a:cubicBezTo>
                  <a:pt x="2070443" y="953444"/>
                  <a:pt x="2006514" y="1017372"/>
                  <a:pt x="1927654" y="1017372"/>
                </a:cubicBezTo>
                <a:lnTo>
                  <a:pt x="142789" y="1017372"/>
                </a:lnTo>
                <a:cubicBezTo>
                  <a:pt x="63928" y="1017372"/>
                  <a:pt x="0" y="953444"/>
                  <a:pt x="0" y="874583"/>
                </a:cubicBezTo>
                <a:lnTo>
                  <a:pt x="0" y="856735"/>
                </a:lnTo>
                <a:moveTo>
                  <a:pt x="0" y="321275"/>
                </a:moveTo>
                <a:lnTo>
                  <a:pt x="0" y="142789"/>
                </a:lnTo>
                <a:cubicBezTo>
                  <a:pt x="0" y="63928"/>
                  <a:pt x="63928" y="0"/>
                  <a:pt x="142789" y="0"/>
                </a:cubicBezTo>
                <a:lnTo>
                  <a:pt x="285578" y="0"/>
                </a:lnTo>
                <a:moveTo>
                  <a:pt x="2070443" y="321275"/>
                </a:moveTo>
                <a:lnTo>
                  <a:pt x="2070443" y="142789"/>
                </a:lnTo>
                <a:cubicBezTo>
                  <a:pt x="2070443" y="63928"/>
                  <a:pt x="2006514" y="0"/>
                  <a:pt x="1927654" y="0"/>
                </a:cubicBezTo>
                <a:lnTo>
                  <a:pt x="1784864" y="0"/>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ounded Rectangle 22">
            <a:extLst>
              <a:ext uri="{FF2B5EF4-FFF2-40B4-BE49-F238E27FC236}">
                <a16:creationId xmlns:a16="http://schemas.microsoft.com/office/drawing/2014/main" id="{805C84F3-308B-44EB-E1FC-419EE3563B84}"/>
              </a:ext>
            </a:extLst>
          </p:cNvPr>
          <p:cNvSpPr/>
          <p:nvPr/>
        </p:nvSpPr>
        <p:spPr>
          <a:xfrm>
            <a:off x="4538995" y="4724035"/>
            <a:ext cx="2070443" cy="1017372"/>
          </a:xfrm>
          <a:custGeom>
            <a:avLst/>
            <a:gdLst/>
            <a:ahLst/>
            <a:cxnLst/>
            <a:rect l="0" t="0" r="0" b="0"/>
            <a:pathLst>
              <a:path w="2070443" h="1017372">
                <a:moveTo>
                  <a:pt x="2070443" y="321275"/>
                </a:moveTo>
                <a:lnTo>
                  <a:pt x="2070443" y="856735"/>
                </a:lnTo>
                <a:moveTo>
                  <a:pt x="0" y="856735"/>
                </a:moveTo>
                <a:lnTo>
                  <a:pt x="0" y="321275"/>
                </a:lnTo>
                <a:moveTo>
                  <a:pt x="2070443" y="856735"/>
                </a:moveTo>
                <a:lnTo>
                  <a:pt x="2070443" y="874583"/>
                </a:lnTo>
                <a:cubicBezTo>
                  <a:pt x="2070443" y="953444"/>
                  <a:pt x="2006514" y="1017372"/>
                  <a:pt x="1927654" y="1017372"/>
                </a:cubicBezTo>
                <a:lnTo>
                  <a:pt x="142789" y="1017372"/>
                </a:lnTo>
                <a:cubicBezTo>
                  <a:pt x="63928" y="1017372"/>
                  <a:pt x="0" y="953444"/>
                  <a:pt x="0" y="874583"/>
                </a:cubicBezTo>
                <a:lnTo>
                  <a:pt x="0" y="856735"/>
                </a:lnTo>
                <a:moveTo>
                  <a:pt x="0" y="321275"/>
                </a:moveTo>
                <a:lnTo>
                  <a:pt x="0" y="142789"/>
                </a:lnTo>
                <a:cubicBezTo>
                  <a:pt x="0" y="63928"/>
                  <a:pt x="63928" y="0"/>
                  <a:pt x="142789" y="0"/>
                </a:cubicBezTo>
                <a:lnTo>
                  <a:pt x="285578" y="0"/>
                </a:lnTo>
                <a:moveTo>
                  <a:pt x="2070443" y="321275"/>
                </a:moveTo>
                <a:lnTo>
                  <a:pt x="2070443" y="142789"/>
                </a:lnTo>
                <a:cubicBezTo>
                  <a:pt x="2070443" y="63928"/>
                  <a:pt x="2006514" y="0"/>
                  <a:pt x="1927654" y="0"/>
                </a:cubicBezTo>
                <a:lnTo>
                  <a:pt x="1784864" y="0"/>
                </a:lnTo>
              </a:path>
            </a:pathLst>
          </a:custGeom>
          <a:noFill/>
          <a:ln w="13386">
            <a:solidFill>
              <a:schemeClr val="tx1"/>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104FD8AB-CC0F-162F-3CB4-8E98060E19A3}"/>
              </a:ext>
            </a:extLst>
          </p:cNvPr>
          <p:cNvGrpSpPr/>
          <p:nvPr/>
        </p:nvGrpSpPr>
        <p:grpSpPr>
          <a:xfrm>
            <a:off x="4168636" y="5255032"/>
            <a:ext cx="361434" cy="116016"/>
            <a:chOff x="2351559" y="5028856"/>
            <a:chExt cx="361434" cy="116016"/>
          </a:xfrm>
        </p:grpSpPr>
        <p:sp>
          <p:nvSpPr>
            <p:cNvPr id="25" name="Rounded Rectangle 23">
              <a:extLst>
                <a:ext uri="{FF2B5EF4-FFF2-40B4-BE49-F238E27FC236}">
                  <a16:creationId xmlns:a16="http://schemas.microsoft.com/office/drawing/2014/main" id="{9BE4FE22-C359-E294-2A7A-C9CC261A6407}"/>
                </a:ext>
              </a:extLst>
            </p:cNvPr>
            <p:cNvSpPr/>
            <p:nvPr/>
          </p:nvSpPr>
          <p:spPr>
            <a:xfrm>
              <a:off x="2356021" y="5086864"/>
              <a:ext cx="356972" cy="8924"/>
            </a:xfrm>
            <a:custGeom>
              <a:avLst/>
              <a:gdLst/>
              <a:ahLst/>
              <a:cxnLst/>
              <a:rect l="0" t="0" r="0" b="0"/>
              <a:pathLst>
                <a:path w="356972" h="8924">
                  <a:moveTo>
                    <a:pt x="0" y="0"/>
                  </a:moveTo>
                  <a:lnTo>
                    <a:pt x="356972" y="0"/>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ounded Rectangle 24">
              <a:extLst>
                <a:ext uri="{FF2B5EF4-FFF2-40B4-BE49-F238E27FC236}">
                  <a16:creationId xmlns:a16="http://schemas.microsoft.com/office/drawing/2014/main" id="{04CDE63E-5716-3343-A094-982668B722F8}"/>
                </a:ext>
              </a:extLst>
            </p:cNvPr>
            <p:cNvSpPr/>
            <p:nvPr/>
          </p:nvSpPr>
          <p:spPr>
            <a:xfrm>
              <a:off x="2351559" y="5028856"/>
              <a:ext cx="58008" cy="116016"/>
            </a:xfrm>
            <a:custGeom>
              <a:avLst/>
              <a:gdLst/>
              <a:ahLst/>
              <a:cxnLst/>
              <a:rect l="0" t="0" r="0" b="0"/>
              <a:pathLst>
                <a:path w="58008" h="116016">
                  <a:moveTo>
                    <a:pt x="58008" y="0"/>
                  </a:moveTo>
                  <a:lnTo>
                    <a:pt x="0" y="58008"/>
                  </a:lnTo>
                  <a:lnTo>
                    <a:pt x="58008" y="116016"/>
                  </a:lnTo>
                </a:path>
              </a:pathLst>
            </a:custGeom>
            <a:noFill/>
            <a:ln w="13386">
              <a:solidFill>
                <a:srgbClr val="484848"/>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grpSp>
      <p:sp>
        <p:nvSpPr>
          <p:cNvPr id="27" name="TextBox 26">
            <a:extLst>
              <a:ext uri="{FF2B5EF4-FFF2-40B4-BE49-F238E27FC236}">
                <a16:creationId xmlns:a16="http://schemas.microsoft.com/office/drawing/2014/main" id="{C673A1E5-0F8F-744B-4893-954403B644D0}"/>
              </a:ext>
            </a:extLst>
          </p:cNvPr>
          <p:cNvSpPr txBox="1"/>
          <p:nvPr/>
        </p:nvSpPr>
        <p:spPr>
          <a:xfrm>
            <a:off x="4756703" y="2702676"/>
            <a:ext cx="1635063" cy="400110"/>
          </a:xfrm>
          <a:prstGeom prst="rect">
            <a:avLst/>
          </a:prstGeom>
          <a:noFill/>
          <a:ln>
            <a:noFill/>
          </a:ln>
        </p:spPr>
        <p:txBody>
          <a:bodyPr wrap="none" lIns="0" tIns="0" rIns="0" bIns="0" anchor="t">
            <a:spAutoFit/>
          </a:bodyPr>
          <a:lstStyle/>
          <a:p>
            <a:pPr algn="ctr"/>
            <a:r>
              <a:rPr sz="1300" b="0" dirty="0">
                <a:latin typeface="Times New Roman" panose="02020603050405020304" pitchFamily="18" charset="0"/>
                <a:cs typeface="Times New Roman" panose="02020603050405020304" pitchFamily="18" charset="0"/>
              </a:rPr>
              <a:t>Integrate social media
trends for richer insights</a:t>
            </a:r>
          </a:p>
        </p:txBody>
      </p:sp>
      <p:sp>
        <p:nvSpPr>
          <p:cNvPr id="28" name="TextBox 27">
            <a:extLst>
              <a:ext uri="{FF2B5EF4-FFF2-40B4-BE49-F238E27FC236}">
                <a16:creationId xmlns:a16="http://schemas.microsoft.com/office/drawing/2014/main" id="{91AF8623-D4A5-048D-3665-BF0CDB61D40E}"/>
              </a:ext>
            </a:extLst>
          </p:cNvPr>
          <p:cNvSpPr txBox="1"/>
          <p:nvPr/>
        </p:nvSpPr>
        <p:spPr>
          <a:xfrm>
            <a:off x="2174505" y="2702676"/>
            <a:ext cx="1801776" cy="600164"/>
          </a:xfrm>
          <a:prstGeom prst="rect">
            <a:avLst/>
          </a:prstGeom>
          <a:noFill/>
          <a:ln>
            <a:noFill/>
          </a:ln>
        </p:spPr>
        <p:txBody>
          <a:bodyPr wrap="none" lIns="0" tIns="0" rIns="0" bIns="0" anchor="t">
            <a:spAutoFit/>
          </a:bodyPr>
          <a:lstStyle/>
          <a:p>
            <a:pPr algn="ctr"/>
            <a:r>
              <a:rPr sz="1300" b="0" dirty="0">
                <a:latin typeface="Times New Roman" panose="02020603050405020304" pitchFamily="18" charset="0"/>
                <a:cs typeface="Times New Roman" panose="02020603050405020304" pitchFamily="18" charset="0"/>
              </a:rPr>
              <a:t>Employ XGBoost and
Neural Networks for better
accuracy</a:t>
            </a:r>
          </a:p>
        </p:txBody>
      </p:sp>
      <p:sp>
        <p:nvSpPr>
          <p:cNvPr id="29" name="TextBox 28">
            <a:extLst>
              <a:ext uri="{FF2B5EF4-FFF2-40B4-BE49-F238E27FC236}">
                <a16:creationId xmlns:a16="http://schemas.microsoft.com/office/drawing/2014/main" id="{6EDAA0F6-53BB-791C-5E6B-794862CA4E1C}"/>
              </a:ext>
            </a:extLst>
          </p:cNvPr>
          <p:cNvSpPr txBox="1"/>
          <p:nvPr/>
        </p:nvSpPr>
        <p:spPr>
          <a:xfrm>
            <a:off x="2539192" y="3992240"/>
            <a:ext cx="1072409" cy="861774"/>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Develop Real-
Time
Prediction
Systems</a:t>
            </a:r>
          </a:p>
        </p:txBody>
      </p:sp>
      <p:sp>
        <p:nvSpPr>
          <p:cNvPr id="30" name="TextBox 29">
            <a:extLst>
              <a:ext uri="{FF2B5EF4-FFF2-40B4-BE49-F238E27FC236}">
                <a16:creationId xmlns:a16="http://schemas.microsoft.com/office/drawing/2014/main" id="{DBB71128-BB09-5AA6-57D0-1DF1B3CAA204}"/>
              </a:ext>
            </a:extLst>
          </p:cNvPr>
          <p:cNvSpPr txBox="1"/>
          <p:nvPr/>
        </p:nvSpPr>
        <p:spPr>
          <a:xfrm>
            <a:off x="5091755" y="4099332"/>
            <a:ext cx="964880" cy="646331"/>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Apply Time-
Series
Forecasting</a:t>
            </a:r>
          </a:p>
        </p:txBody>
      </p:sp>
      <p:sp>
        <p:nvSpPr>
          <p:cNvPr id="31" name="TextBox 30">
            <a:extLst>
              <a:ext uri="{FF2B5EF4-FFF2-40B4-BE49-F238E27FC236}">
                <a16:creationId xmlns:a16="http://schemas.microsoft.com/office/drawing/2014/main" id="{844A39B4-5A0A-62DE-9417-EA972C0177E5}"/>
              </a:ext>
            </a:extLst>
          </p:cNvPr>
          <p:cNvSpPr txBox="1"/>
          <p:nvPr/>
        </p:nvSpPr>
        <p:spPr>
          <a:xfrm>
            <a:off x="4770293" y="5165789"/>
            <a:ext cx="1607812" cy="400110"/>
          </a:xfrm>
          <a:prstGeom prst="rect">
            <a:avLst/>
          </a:prstGeom>
          <a:noFill/>
          <a:ln>
            <a:noFill/>
          </a:ln>
        </p:spPr>
        <p:txBody>
          <a:bodyPr wrap="none" lIns="0" tIns="0" rIns="0" bIns="0" anchor="t">
            <a:spAutoFit/>
          </a:bodyPr>
          <a:lstStyle/>
          <a:p>
            <a:pPr algn="ctr"/>
            <a:r>
              <a:rPr sz="1300" b="0" dirty="0">
                <a:latin typeface="Times New Roman" panose="02020603050405020304" pitchFamily="18" charset="0"/>
                <a:cs typeface="Times New Roman" panose="02020603050405020304" pitchFamily="18" charset="0"/>
              </a:rPr>
              <a:t>Use time-series analysis
for temporal patterns</a:t>
            </a:r>
          </a:p>
        </p:txBody>
      </p:sp>
      <p:sp>
        <p:nvSpPr>
          <p:cNvPr id="32" name="TextBox 31">
            <a:extLst>
              <a:ext uri="{FF2B5EF4-FFF2-40B4-BE49-F238E27FC236}">
                <a16:creationId xmlns:a16="http://schemas.microsoft.com/office/drawing/2014/main" id="{40232B88-9625-B5D1-5436-6D5C4FA58179}"/>
              </a:ext>
            </a:extLst>
          </p:cNvPr>
          <p:cNvSpPr txBox="1"/>
          <p:nvPr/>
        </p:nvSpPr>
        <p:spPr>
          <a:xfrm>
            <a:off x="2533701" y="1850403"/>
            <a:ext cx="1083375" cy="430887"/>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Use Advanced
Models</a:t>
            </a:r>
          </a:p>
        </p:txBody>
      </p:sp>
      <p:sp>
        <p:nvSpPr>
          <p:cNvPr id="33" name="TextBox 32">
            <a:extLst>
              <a:ext uri="{FF2B5EF4-FFF2-40B4-BE49-F238E27FC236}">
                <a16:creationId xmlns:a16="http://schemas.microsoft.com/office/drawing/2014/main" id="{547248B3-8149-1485-8B0F-FCB7EAF000FF}"/>
              </a:ext>
            </a:extLst>
          </p:cNvPr>
          <p:cNvSpPr txBox="1"/>
          <p:nvPr/>
        </p:nvSpPr>
        <p:spPr>
          <a:xfrm>
            <a:off x="2364465" y="5165789"/>
            <a:ext cx="1421864" cy="400110"/>
          </a:xfrm>
          <a:prstGeom prst="rect">
            <a:avLst/>
          </a:prstGeom>
          <a:noFill/>
          <a:ln>
            <a:noFill/>
          </a:ln>
        </p:spPr>
        <p:txBody>
          <a:bodyPr wrap="none" lIns="0" tIns="0" rIns="0" bIns="0" anchor="t">
            <a:spAutoFit/>
          </a:bodyPr>
          <a:lstStyle/>
          <a:p>
            <a:pPr algn="ctr"/>
            <a:r>
              <a:rPr sz="1300" b="0" dirty="0">
                <a:latin typeface="Times New Roman" panose="02020603050405020304" pitchFamily="18" charset="0"/>
                <a:cs typeface="Times New Roman" panose="02020603050405020304" pitchFamily="18" charset="0"/>
              </a:rPr>
              <a:t>Create systems for
immediate prediction</a:t>
            </a:r>
          </a:p>
        </p:txBody>
      </p:sp>
      <p:sp>
        <p:nvSpPr>
          <p:cNvPr id="34" name="TextBox 33">
            <a:extLst>
              <a:ext uri="{FF2B5EF4-FFF2-40B4-BE49-F238E27FC236}">
                <a16:creationId xmlns:a16="http://schemas.microsoft.com/office/drawing/2014/main" id="{CB6E6185-3DFB-629E-0E2B-4663692CECC3}"/>
              </a:ext>
            </a:extLst>
          </p:cNvPr>
          <p:cNvSpPr txBox="1"/>
          <p:nvPr/>
        </p:nvSpPr>
        <p:spPr>
          <a:xfrm>
            <a:off x="-413622" y="868038"/>
            <a:ext cx="5556174" cy="369332"/>
          </a:xfrm>
          <a:prstGeom prst="rect">
            <a:avLst/>
          </a:prstGeom>
          <a:noFill/>
          <a:ln>
            <a:noFill/>
          </a:ln>
        </p:spPr>
        <p:txBody>
          <a:bodyPr wrap="square" lIns="0" tIns="0" rIns="0" bIns="0" anchor="t">
            <a:spAutoFit/>
          </a:bodyPr>
          <a:lstStyle/>
          <a:p>
            <a:pPr algn="ctr"/>
            <a:r>
              <a:rPr sz="2400" b="1" dirty="0">
                <a:latin typeface="Times New Roman" panose="02020603050405020304" pitchFamily="18" charset="0"/>
                <a:cs typeface="Times New Roman" panose="02020603050405020304" pitchFamily="18" charset="0"/>
              </a:rPr>
              <a:t>Future Improvements</a:t>
            </a:r>
            <a:r>
              <a:rPr lang="en-IN"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B61D0CCD-49A6-BA1F-D1C0-4E0AA0702344}"/>
              </a:ext>
            </a:extLst>
          </p:cNvPr>
          <p:cNvSpPr txBox="1"/>
          <p:nvPr/>
        </p:nvSpPr>
        <p:spPr>
          <a:xfrm>
            <a:off x="5078065" y="1743311"/>
            <a:ext cx="992259" cy="646331"/>
          </a:xfrm>
          <a:prstGeom prst="rect">
            <a:avLst/>
          </a:prstGeom>
          <a:noFill/>
          <a:ln>
            <a:noFill/>
          </a:ln>
        </p:spPr>
        <p:txBody>
          <a:bodyPr wrap="none" lIns="0" tIns="0" rIns="0" bIns="0" anchor="t">
            <a:spAutoFit/>
          </a:bodyPr>
          <a:lstStyle/>
          <a:p>
            <a:pPr algn="ctr"/>
            <a:r>
              <a:rPr sz="1400" b="1" dirty="0">
                <a:latin typeface="Times New Roman" panose="02020603050405020304" pitchFamily="18" charset="0"/>
                <a:cs typeface="Times New Roman" panose="02020603050405020304" pitchFamily="18" charset="0"/>
              </a:rPr>
              <a:t>Incorporate
Social Media
Data</a:t>
            </a:r>
          </a:p>
        </p:txBody>
      </p:sp>
      <p:pic>
        <p:nvPicPr>
          <p:cNvPr id="37" name="Picture 36">
            <a:extLst>
              <a:ext uri="{FF2B5EF4-FFF2-40B4-BE49-F238E27FC236}">
                <a16:creationId xmlns:a16="http://schemas.microsoft.com/office/drawing/2014/main" id="{2F074675-001B-85EC-C3CC-02027B16D95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98017" y="5165789"/>
            <a:ext cx="1148464" cy="1148464"/>
          </a:xfrm>
          <a:prstGeom prst="rect">
            <a:avLst/>
          </a:prstGeom>
        </p:spPr>
      </p:pic>
    </p:spTree>
    <p:extLst>
      <p:ext uri="{BB962C8B-B14F-4D97-AF65-F5344CB8AC3E}">
        <p14:creationId xmlns:p14="http://schemas.microsoft.com/office/powerpoint/2010/main" val="2527354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AC74F5-0C06-0677-FB0E-8FB1DD2C9629}"/>
              </a:ext>
            </a:extLst>
          </p:cNvPr>
          <p:cNvSpPr txBox="1"/>
          <p:nvPr/>
        </p:nvSpPr>
        <p:spPr>
          <a:xfrm>
            <a:off x="931653" y="1069675"/>
            <a:ext cx="7280694"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Team Members Contribution:</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project was developed by working together as a team and sharing responsibilities among everyone.</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Every team member took part in coding, designing the presentation, and writing the report, helping out at every step of the project.</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We held regular team meetings and discussions to check our progress and make sure we were all on the same page with our decisions.</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Each person looked over, confirmed and improved each other's work to make sure everything was consistent between the code, report and presentation.</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final results came from our teamwork, sharing knowledge and giving each other feedback, making sure everyone contributed equally.</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25E4643-2F62-89E8-40A5-8BF46EF452F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219158" y="5039993"/>
            <a:ext cx="1148464" cy="1222924"/>
          </a:xfrm>
          <a:prstGeom prst="rect">
            <a:avLst/>
          </a:prstGeom>
        </p:spPr>
      </p:pic>
    </p:spTree>
    <p:extLst>
      <p:ext uri="{BB962C8B-B14F-4D97-AF65-F5344CB8AC3E}">
        <p14:creationId xmlns:p14="http://schemas.microsoft.com/office/powerpoint/2010/main" val="3052288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D13A-7808-60BD-3FB9-68DCB33B36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0EA056-EEC2-A522-5517-7EEDFE333C83}"/>
              </a:ext>
            </a:extLst>
          </p:cNvPr>
          <p:cNvSpPr txBox="1"/>
          <p:nvPr/>
        </p:nvSpPr>
        <p:spPr>
          <a:xfrm>
            <a:off x="928602" y="922194"/>
            <a:ext cx="2293128" cy="369332"/>
          </a:xfrm>
          <a:prstGeom prst="rect">
            <a:avLst/>
          </a:prstGeom>
          <a:noFill/>
          <a:ln>
            <a:noFill/>
          </a:ln>
        </p:spPr>
        <p:txBody>
          <a:bodyPr wrap="none" lIns="0" tIns="0" rIns="0" bIns="0" anchor="t">
            <a:spAutoFit/>
          </a:bodyPr>
          <a:lstStyle/>
          <a:p>
            <a:pPr algn="ctr"/>
            <a:r>
              <a:rPr lang="en-IN" sz="2400" b="1" dirty="0">
                <a:latin typeface="Times New Roman" panose="02020603050405020304" pitchFamily="18" charset="0"/>
                <a:cs typeface="Times New Roman" panose="02020603050405020304" pitchFamily="18" charset="0"/>
              </a:rPr>
              <a:t>Research Papers:</a:t>
            </a:r>
          </a:p>
        </p:txBody>
      </p:sp>
      <p:pic>
        <p:nvPicPr>
          <p:cNvPr id="13" name="Picture 12">
            <a:extLst>
              <a:ext uri="{FF2B5EF4-FFF2-40B4-BE49-F238E27FC236}">
                <a16:creationId xmlns:a16="http://schemas.microsoft.com/office/drawing/2014/main" id="{E58ECD35-ABB5-518A-16E4-11290B36943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222" y1="68000" x2="34222" y2="68000"/>
                        <a14:foregroundMark x1="42667" y1="64889" x2="42667" y2="64889"/>
                        <a14:foregroundMark x1="65333" y1="66222" x2="65333" y2="66222"/>
                        <a14:foregroundMark x1="80444" y1="27111" x2="80444" y2="27111"/>
                        <a14:foregroundMark x1="48444" y1="28000" x2="48444" y2="28000"/>
                        <a14:foregroundMark x1="84444" y1="20000" x2="84444" y2="20000"/>
                      </a14:backgroundRemoval>
                    </a14:imgEffect>
                  </a14:imgLayer>
                </a14:imgProps>
              </a:ext>
            </a:extLst>
          </a:blip>
          <a:stretch>
            <a:fillRect/>
          </a:stretch>
        </p:blipFill>
        <p:spPr>
          <a:xfrm>
            <a:off x="7377931" y="5245666"/>
            <a:ext cx="1148464" cy="1148464"/>
          </a:xfrm>
          <a:prstGeom prst="rect">
            <a:avLst/>
          </a:prstGeom>
        </p:spPr>
      </p:pic>
      <p:sp>
        <p:nvSpPr>
          <p:cNvPr id="12" name="TextBox 11">
            <a:extLst>
              <a:ext uri="{FF2B5EF4-FFF2-40B4-BE49-F238E27FC236}">
                <a16:creationId xmlns:a16="http://schemas.microsoft.com/office/drawing/2014/main" id="{B4FAD9ED-1453-6AEF-0327-FC9CCB7BE73D}"/>
              </a:ext>
            </a:extLst>
          </p:cNvPr>
          <p:cNvSpPr txBox="1"/>
          <p:nvPr/>
        </p:nvSpPr>
        <p:spPr>
          <a:xfrm>
            <a:off x="928603" y="748648"/>
            <a:ext cx="7286795" cy="5709255"/>
          </a:xfrm>
          <a:prstGeom prst="rect">
            <a:avLst/>
          </a:prstGeom>
          <a:noFill/>
          <a:ln>
            <a:noFill/>
          </a:ln>
        </p:spPr>
        <p:txBody>
          <a:bodyPr wrap="square" lIns="0" tIns="0" rIns="0" bIns="0" anchor="t">
            <a:spAutoFit/>
          </a:bodyPr>
          <a:lstStyle/>
          <a:p>
            <a:pPr marL="285750" indent="-285750">
              <a:buFont typeface="Arial" panose="020B0604020202020204" pitchFamily="34" charset="0"/>
              <a:buChar char="•"/>
            </a:pPr>
            <a:endParaRPr lang="en-GB"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 K. Lee, J. Park, I. Kim, and Y. Choi, "Predicting movie success with machine learning techniques: Ways to improve accuracy," Information Systems Frontiers, vol. 20, pp. 577–588, 2018, </a:t>
            </a:r>
            <a:r>
              <a:rPr lang="en-US" sz="1400" u="sng" dirty="0">
                <a:solidFill>
                  <a:srgbClr val="0070C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[2] M. T. Lash and K. Zhao, "Early predictions of movie success: The who, what, and when of profitability," J. Manage. Inf. Syst., vol. 33, no. 3,</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pp. 874–903, 2016 </a:t>
            </a:r>
            <a:r>
              <a:rPr lang="en-US" sz="1400" u="sng"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[3] A. Bhadrashetty and S. Patil, "Movie success and rating prediction using data mining," J. Sci. Res. Technol. (JSRT), vol. 2, no. 1, pp. 1–4, Jan. 2024 </a:t>
            </a:r>
            <a:r>
              <a:rPr lang="en-US" sz="1400" u="sng"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[4] V. R. Nithin, M. Pranav, P. B. Sarath Babu, and A. Lijiya, "Predicting movie success based on IMDB data," Int. J. Bus. Intell. (IJBI), vol. 3, no. 2, pp. 34–36, 2014 </a:t>
            </a:r>
            <a:r>
              <a:rPr lang="en-US" sz="1400" u="sng" dirty="0">
                <a:solidFill>
                  <a:srgbClr val="0070C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[5] M. Mestyán, T. Yasseri, and J. Kertész, "Early prediction of movie box office success based on Wikipedia activity big data," PLOS ONE, vol. 8, no. 8, p. e71226, 2013 </a:t>
            </a:r>
            <a:r>
              <a:rPr lang="en-IN" sz="1400" u="sng" dirty="0">
                <a:solidFill>
                  <a:srgbClr val="0070C0"/>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[6] J. Liebig and A. Rao, "Predicting item popularity: Analyzing local clustering behavior of users," arXiv:1503.04404, 2015 </a:t>
            </a:r>
            <a:r>
              <a:rPr lang="en-US" sz="1400" u="sng" dirty="0">
                <a:solidFill>
                  <a:srgbClr val="0070C0"/>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[7] M. Agarwal, S. Venugopal, R. Kashyap, and R. Bharathi, "A comprehensive study on various statistical techniques for prediction of movie success," arXiv:2112.00395, Dec. 2021 </a:t>
            </a:r>
            <a:r>
              <a:rPr lang="en-GB" sz="1400" u="sng" dirty="0">
                <a:solidFill>
                  <a:srgbClr val="0070C0"/>
                </a:solidFill>
                <a:latin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[8] F. Fariha, K. I. Rushee, and M. F. S. K. Arnop, "Prediction of IMDb rating in Netflix shows using machine learning algorithms," in Proc. 3rd Int. Conf. Computing Advancements (ICCA), Dhaka, Bangladesh, Oct. 2024, pp. 754–761 </a:t>
            </a:r>
            <a:r>
              <a:rPr lang="en-GB" sz="1400" u="sng" dirty="0">
                <a:solidFill>
                  <a:srgbClr val="0070C0"/>
                </a:solidFill>
                <a:latin typeface="Times New Roman" panose="02020603050405020304" pitchFamily="18" charset="0"/>
                <a:cs typeface="Times New Roman" panose="02020603050405020304" pitchFamily="18" charset="0"/>
                <a:hlinkClick r:id="rId11">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[9] P. Dixit, S. Hussain, and G. Singh, "Predicting the IMDB rating by using EDA and machine learning algorithms," IJSRCSEIT, vol. 6, no. 4, pp. 441–446, Jul.–Aug. 2020 </a:t>
            </a:r>
            <a:r>
              <a:rPr lang="en-US" sz="1400" u="sng" dirty="0">
                <a:solidFill>
                  <a:srgbClr val="0070C0"/>
                </a:solidFill>
                <a:latin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endParaRPr lang="en-IN"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300" dirty="0">
              <a:solidFill>
                <a:srgbClr val="00B0F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13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5707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6193C1-2FC8-8017-3CEC-87C3C399B05E}"/>
              </a:ext>
            </a:extLst>
          </p:cNvPr>
          <p:cNvSpPr txBox="1"/>
          <p:nvPr/>
        </p:nvSpPr>
        <p:spPr>
          <a:xfrm>
            <a:off x="908050" y="1130300"/>
            <a:ext cx="7327900" cy="2031325"/>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[10] C. D. Butler, M. Akhter, E. Jackson, M. A. Rahman, and L. Chang, "Predicting movie success using machine learning algorithms," in Proc. 15th LACCEI Int. Multi-Conf. Eng., Educ., Technol., Boca Raton, FL, USA, Jul. 2017 </a:t>
            </a:r>
            <a:r>
              <a:rPr lang="en-US" sz="1400" u="sng"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[11] R. Sharda and D. Delen, "Predicting box-office success of motion pictures with neural networks," Expert Syst. Appl., vol. 30, no. 2, pp. 243–254, Feb. 2006 </a:t>
            </a:r>
            <a:r>
              <a:rPr lang="en-US" sz="1400" u="sng"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[12] K. R. Apala, M. Jose, S. </a:t>
            </a:r>
            <a:r>
              <a:rPr lang="en-US" sz="1400" dirty="0" err="1">
                <a:latin typeface="Times New Roman" panose="02020603050405020304" pitchFamily="18" charset="0"/>
                <a:cs typeface="Times New Roman" panose="02020603050405020304" pitchFamily="18" charset="0"/>
              </a:rPr>
              <a:t>Motnam</a:t>
            </a:r>
            <a:r>
              <a:rPr lang="en-US" sz="1400" dirty="0">
                <a:latin typeface="Times New Roman" panose="02020603050405020304" pitchFamily="18" charset="0"/>
                <a:cs typeface="Times New Roman" panose="02020603050405020304" pitchFamily="18" charset="0"/>
              </a:rPr>
              <a:t>, C.-C. Chan, K. J. Liszka, and F. de Gregorio, "Prediction of movies box office performance using social media," in Proc. 2013 IEEE/ACM Int. Conf. Advances Social Networks Anal. Mining (ASONAM), Niagara, ON, Canada, Aug. 2013, pp. 1209–1214 </a:t>
            </a:r>
            <a:r>
              <a:rPr lang="en-US" sz="1400" u="sng" dirty="0">
                <a:solidFill>
                  <a:srgbClr val="0070C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Available at</a:t>
            </a:r>
            <a:endParaRPr lang="en-IN" sz="1400" dirty="0">
              <a:solidFill>
                <a:srgbClr val="0070C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5A83B4B-72C6-24FB-940E-0A57879166EF}"/>
              </a:ext>
            </a:extLst>
          </p:cNvPr>
          <p:cNvSpPr txBox="1"/>
          <p:nvPr/>
        </p:nvSpPr>
        <p:spPr>
          <a:xfrm>
            <a:off x="1308100" y="4142888"/>
            <a:ext cx="7518400"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Thank you , Any Questions ??</a:t>
            </a:r>
          </a:p>
        </p:txBody>
      </p:sp>
    </p:spTree>
    <p:extLst>
      <p:ext uri="{BB962C8B-B14F-4D97-AF65-F5344CB8AC3E}">
        <p14:creationId xmlns:p14="http://schemas.microsoft.com/office/powerpoint/2010/main" val="14723742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2771</TotalTime>
  <Words>1632</Words>
  <Application>Microsoft Office PowerPoint</Application>
  <PresentationFormat>On-screen Show (4:3)</PresentationFormat>
  <Paragraphs>195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Garamond</vt:lpstr>
      <vt:lpstr>Times New Roman</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Prajwal Tejamurthy</dc:creator>
  <cp:keywords/>
  <dc:description>generated using python-pptx</dc:description>
  <cp:lastModifiedBy>Prajwal Tejamurthy</cp:lastModifiedBy>
  <cp:revision>98</cp:revision>
  <dcterms:created xsi:type="dcterms:W3CDTF">2013-01-27T09:14:16Z</dcterms:created>
  <dcterms:modified xsi:type="dcterms:W3CDTF">2026-04-15T22:54:18Z</dcterms:modified>
  <cp:category/>
</cp:coreProperties>
</file>